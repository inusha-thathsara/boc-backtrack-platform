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16AB49C-1440-EF6C-61D8-B2CD540C995C}">
          <p14:sldIdLst>
            <p14:sldId id="256"/>
          </p14:sldIdLst>
        </p14:section>
        <p14:section name="Problem &amp; Insight" id="{98FB0C9F-AE0C-BF16-95E1-BBCB9D283239}">
          <p14:sldIdLst>
            <p14:sldId id="257"/>
            <p14:sldId id="258"/>
          </p14:sldIdLst>
        </p14:section>
        <p14:section name="Architecture" id="{4B591A89-7B08-CBB6-D80D-5AF95A3CCF27}">
          <p14:sldIdLst>
            <p14:sldId id="259"/>
            <p14:sldId id="260"/>
          </p14:sldIdLst>
        </p14:section>
        <p14:section name="Scale, Trust &amp; Cost" id="{3E23C24C-A050-DA66-2695-56D567916D8C}">
          <p14:sldIdLst>
            <p14:sldId id="261"/>
            <p14:sldId id="262"/>
            <p14:sldId id="263"/>
            <p14:sldId id="264"/>
          </p14:sldIdLst>
        </p14:section>
        <p14:section name="Proof" id="{625C67B1-56F5-FC81-E28F-B38679285511}">
          <p14:sldIdLst>
            <p14:sldId id="265"/>
            <p14:sldId id="266"/>
            <p14:sldId id="267"/>
          </p14:sldIdLst>
        </p14:section>
        <p14:section name="Learnings &amp; Future" id="{BEAFD400-1474-2492-08FC-417A824AEE87}">
          <p14:sldIdLst>
            <p14:sldId id="268"/>
            <p14:sldId id="269"/>
            <p14:sldId id="270"/>
          </p14:sldIdLst>
        </p14:section>
        <p14:section name="Appendix" id="{20EA0C17-04B0-1FC1-4A18-45C068AD9A1B}">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96"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F1F5F9"/>
                </a:solidFill>
                <a:latin typeface="+mn-lt"/>
              </a:defRPr>
            </a:pPr>
            <a:r>
              <a:rPr sz="1200" b="0" i="0" u="none" strike="noStrike">
                <a:solidFill>
                  <a:srgbClr val="F1F5F9"/>
                </a:solidFill>
                <a:latin typeface="+mn-lt"/>
              </a:rPr>
              <a:t>Monthly estimate by component (USD)</a:t>
            </a:r>
          </a:p>
        </c:rich>
      </c:tx>
      <c:overlay val="0"/>
    </c:title>
    <c:autoTitleDeleted val="0"/>
    <c:plotArea>
      <c:layout/>
      <c:barChart>
        <c:barDir val="col"/>
        <c:grouping val="clustered"/>
        <c:varyColors val="0"/>
        <c:ser>
          <c:idx val="0"/>
          <c:order val="0"/>
          <c:tx>
            <c:strRef>
              <c:f>Sheet1!$B$1</c:f>
              <c:strCache>
                <c:ptCount val="1"/>
                <c:pt idx="0">
                  <c:v>Low estimate ($/mo)</c:v>
                </c:pt>
              </c:strCache>
            </c:strRef>
          </c:tx>
          <c:spPr>
            <a:solidFill>
              <a:srgbClr val="818CF8"/>
            </a:solidFill>
            <a:effectLst/>
          </c:spPr>
          <c:invertIfNegative val="0"/>
          <c:dLbls>
            <c:numFmt formatCode="#,##0" sourceLinked="0"/>
            <c:spPr>
              <a:noFill/>
              <a:ln>
                <a:noFill/>
              </a:ln>
              <a:effectLst/>
            </c:spPr>
            <c:txPr>
              <a:bodyPr/>
              <a:lstStyle/>
              <a:p>
                <a:pPr>
                  <a:defRPr sz="1000" b="0" i="0" u="none" strike="noStrike">
                    <a:solidFill>
                      <a:srgbClr val="F1F5F9"/>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Cloud Run</c:v>
                </c:pt>
                <c:pt idx="1">
                  <c:v>Firestore</c:v>
                </c:pt>
                <c:pt idx="2">
                  <c:v>Memorystore</c:v>
                </c:pt>
                <c:pt idx="3">
                  <c:v>Cloud Storage</c:v>
                </c:pt>
                <c:pt idx="4">
                  <c:v>Cloud CDN</c:v>
                </c:pt>
                <c:pt idx="5">
                  <c:v>Search &amp; ML</c:v>
                </c:pt>
              </c:strCache>
            </c:strRef>
          </c:cat>
          <c:val>
            <c:numRef>
              <c:f>Sheet1!$B$2:$B$7</c:f>
              <c:numCache>
                <c:formatCode>General</c:formatCode>
                <c:ptCount val="6"/>
                <c:pt idx="0">
                  <c:v>100</c:v>
                </c:pt>
                <c:pt idx="1">
                  <c:v>50</c:v>
                </c:pt>
                <c:pt idx="2">
                  <c:v>120</c:v>
                </c:pt>
                <c:pt idx="3">
                  <c:v>150</c:v>
                </c:pt>
                <c:pt idx="4">
                  <c:v>150</c:v>
                </c:pt>
                <c:pt idx="5">
                  <c:v>100</c:v>
                </c:pt>
              </c:numCache>
            </c:numRef>
          </c:val>
          <c:extLst>
            <c:ext xmlns:c16="http://schemas.microsoft.com/office/drawing/2014/chart" uri="{C3380CC4-5D6E-409C-BE32-E72D297353CC}">
              <c16:uniqueId val="{00000000-29FF-487C-B550-DA03B36B516F}"/>
            </c:ext>
          </c:extLst>
        </c:ser>
        <c:ser>
          <c:idx val="1"/>
          <c:order val="1"/>
          <c:tx>
            <c:strRef>
              <c:f>Sheet1!$C$1</c:f>
              <c:strCache>
                <c:ptCount val="1"/>
                <c:pt idx="0">
                  <c:v>High estimate ($/mo)</c:v>
                </c:pt>
              </c:strCache>
            </c:strRef>
          </c:tx>
          <c:spPr>
            <a:solidFill>
              <a:srgbClr val="22D3EE"/>
            </a:solidFill>
            <a:effectLst/>
          </c:spPr>
          <c:invertIfNegative val="0"/>
          <c:dLbls>
            <c:numFmt formatCode="#,##0" sourceLinked="0"/>
            <c:spPr>
              <a:noFill/>
              <a:ln>
                <a:noFill/>
              </a:ln>
              <a:effectLst/>
            </c:spPr>
            <c:txPr>
              <a:bodyPr/>
              <a:lstStyle/>
              <a:p>
                <a:pPr>
                  <a:defRPr sz="1000" b="0" i="0" u="none" strike="noStrike">
                    <a:solidFill>
                      <a:srgbClr val="F1F5F9"/>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Cloud Run</c:v>
                </c:pt>
                <c:pt idx="1">
                  <c:v>Firestore</c:v>
                </c:pt>
                <c:pt idx="2">
                  <c:v>Memorystore</c:v>
                </c:pt>
                <c:pt idx="3">
                  <c:v>Cloud Storage</c:v>
                </c:pt>
                <c:pt idx="4">
                  <c:v>Cloud CDN</c:v>
                </c:pt>
                <c:pt idx="5">
                  <c:v>Search &amp; ML</c:v>
                </c:pt>
              </c:strCache>
            </c:strRef>
          </c:cat>
          <c:val>
            <c:numRef>
              <c:f>Sheet1!$C$2:$C$7</c:f>
              <c:numCache>
                <c:formatCode>General</c:formatCode>
                <c:ptCount val="6"/>
                <c:pt idx="0">
                  <c:v>180</c:v>
                </c:pt>
                <c:pt idx="1">
                  <c:v>100</c:v>
                </c:pt>
                <c:pt idx="2">
                  <c:v>200</c:v>
                </c:pt>
                <c:pt idx="3">
                  <c:v>300</c:v>
                </c:pt>
                <c:pt idx="4">
                  <c:v>300</c:v>
                </c:pt>
                <c:pt idx="5">
                  <c:v>150</c:v>
                </c:pt>
              </c:numCache>
            </c:numRef>
          </c:val>
          <c:extLst>
            <c:ext xmlns:c16="http://schemas.microsoft.com/office/drawing/2014/chart" uri="{C3380CC4-5D6E-409C-BE32-E72D297353CC}">
              <c16:uniqueId val="{00000001-29FF-487C-B550-DA03B36B516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4A3B8"/>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A356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4A3B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94A3B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6173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Good [morning/afternoon]. We're Team BackTrack from the University of Moratuwa, and we chose Scenario 2: a photo and video social platform on Google Cloud.
One line summarises our whole design: when content goes viral, the architecture should absorb the traffic, not collapse under it. Everything in the next fifteen minutes is about how we get there, and how much of it we actually built.
Transition: Let's start with what really breaks a social platform.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Social platforms don't fail because they can't store a post. They struggle when millions of people suddenly consume the same content.
Five things break at once: read-heavy traffic, because viewers dwarf creators; media payloads that are huge and unpredictable; database write contention, because a viral post means thousands of likes on one Firestore document, which is limited to roughly one write per second; real-time interactions that must not fight the primary database for locks; and egress bandwidth, which becomes the biggest line on the bill.
So the real challenge is not storage. It's massive unpredictable media traffic plus read-heavy load plus viral engagement plus bandwidth cost.
Transition: Our insight is that these five problems scale differently, so they should not share a path.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Here is the insight. Media delivery is not the same workload as application requests. Feed reads are not database writes. Viral likes are not persistent storage. And real-time messaging is not something stateless containers can do alone.
So we give each its own path, built from managed and serverless GCP services. Media goes straight to Cloud Storage and is processed by events. Feed reads come from Redis. Likes are absorbed by Redis counters and batched into Firestore. And WebSockets share a Redis Pub/Sub backplane.
Transition: Here is how those four paths fit together.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This is the architecture, read as five zones.
The client sits outside our boundary. It asks the API Gateway for a signed URL, then uploads straight into the private raw Cloud Storage bucket, so no media bytes touch our API. The object-finalize event goes through Eventarc to a Cloud Run worker, which runs FFmpeg for transcoding and Cloud Vision for moderation, then stores the output in the processed bucket.
The Core Application zone is the Feed API on Cloud Run, with Redis for cache and distributed counters and Firestore as the source of truth. Real-time interactions run through a Cloud Run WebSocket gateway with a Redis Pub/Sub backplane. The Edge layer fronts everything.
Be explicit: Cloud CDN and Elasticsearch are part of the target architecture but not built in our MVP. The status slide covers that.
Transition: Now, why each of these services.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Don't read the cards; pick three.
Cloud Run, because viral traffic is unpredictable and we want horizontal scaling plus scale-to-zero so we don't pay for idle. Redis, because feed reads and real-time messaging would otherwise crush the database, and Firestore can't take viral write bursts on its own. And direct-to-Cloud-Storage uploads, because media is the heaviest payload and shouldn't flow through application servers at all.
Each service answers one specific problem from the earlier slide.
Transition: The next slide is the most interesting technically: how we survive a viral spike.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Two patterns make the design viral-proof.
First, hybrid fan-out. For a normal user, when they post we push the post ID into their followers' cached timelines. For a celebrity with millions of followers that would be a write storm, so we don't. Celebrity posts are merged at read time instead. Being honest: in our MVP this is architecture-level. The MVP ranks posts at read time with a heuristic and only boosts celebrity accounts in the score. The fan-out timelines are future work.
Second, distributed counters, which we did build. A naive design writes every like to Firestore, which caps at about one write per second per document. We do an atomic Redis INCR and flush accumulated deltas to Firestore in a batch every five seconds. The trade-off is that counts are eventually consistent for a few seconds, which is perfectly acceptable for likes.
Transition: Next, how we keep all of this trustworthy.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Security as layers, with honest status on each.
Uploads: private buckets and single-use signed URLs with a fifteen-minute lifetime, so clients never get standing write access. Data is encrypted with AES-256 at rest and TLS in transit, which are GCP platform defaults. DMs are protected by Firestore rules so only the sender and recipient can read them. The API has rate limiting, hardened headers, and containers run as non-root.
Where we're not there yet: identity. The MVP uses demo personas and a token decoder that does not verify signatures. Production would use OAuth/OIDC with real verification. Also, our design says the transcoding worker should be denied user-profile access; in the Terraform today it holds a broader Firestore role so it can update post status. We know, and we'd tighten it with a narrower custom role.
Transition: Reliability and monitoring.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Our reliability philosophy: a consumer social app can tolerate a slow feed for a moment, but not lost uploads or an unavailable feed.
If Redis fails, the Feed API falls back to Firestore: slower, still online. In our MVP, the code does fall back when Redis is absent, but the circuit-breaker pattern is not built. If processing fails, the design retries with exponential backoff through a Pub/Sub dead-letter queue, so media is never silently lost; our MVP uses a direct Eventarc push without a DLQ yet. We chose multi-AZ within a region rather than expensive multi-region.
Monitoring is metric, threshold, action: CDN hit ratio of at least eighty-five percent, P99 feed latency under two hundred milliseconds, and DLQ depth near zero. These are targets, not measurements. Today we have structured logs; dashboards and alerts are future.
Transition: And what does this cost?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The message here: we optimise not only for performance, but for the cost of performance.
The estimate at scale is roughly six hundred seventy to twelve hundred thirty dollars a month. To be clear, this is an architecture-level estimate for the full design, not what our MVP costs. The MVP is configured for the GCP always-free tier with switches for the paid pieces like Memorystore.
The levers: serverless compute that scales to zero, CDN caching so most traffic never reaches the origin, lifecycle policies that move processed media to Nearline after thirty days and Archive after one hundred eighty, and asynchronous processing with caching to cut database operations.
Transition: Now to the part that matters most: what actually runs.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Transparency slide. We separate the architecture vision from what runs today.
Green, implemented: the React web client, the Feed API on Cloud Run with a heuristic ranking formula, Redis atomic counters with five-second Firestore flush, the WebSocket gateway with a Redis Pub/Sub backplane, and ephemeral stories.
Amber, partial: the signed-URL route exists, but our demo upload dialog submits a sample URL; the Eventarc-to-worker pipeline has code and Terraform, with fallbacks; Firestore is wired in with an in-memory fallback so we can demo offline.
Blue, mocked: the HLS playback in our demo uses a public test stream, and authentication is a persona switcher.
White, future: Cloud CDN, Elasticsearch, the DLQ, hybrid fan-out timelines, alerting, and Vertex AI.
Transition: Let's see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Now the demo. [Switch to the live app. If the network misbehaves, play the recorded run.]
Step one, the feed: stories at the top, and a ranked For You timeline. Step two, the dropdown lets us act as different users; that's our demo identity, not real auth. Step three, the plus button opens Direct Cloud Storage Ingestion: choose a main post or a twenty-four-hour story, photo or video, add a caption, and publish through a signed URL. In this build the dialog pre-fills a sample media URL to simulate the direct payload, so we're showing the flow, not a real file transfer from this screen. Step four, posts carry a status chip, Ready here. Step five, the post is in the feed; the HLS badge marks video served as an adaptive stream, which in the demo is a public test stream.
Be explicit about scope: fully built, the feed and ranking and UI; partial, signed upload and worker; mocked, the HLS source and identity.
Transition: Now the real-time half.</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The real-time half. Here two users chat. The panel is labelled Redis Pub/Sub WebSocket. Each message goes to a WebSocket gateway on Cloud Run, is published to Redis, and every gateway instance subscribed to that channel delivers it, so the recipient gets it no matter which container they're connected to. That's the whole reason for the backplane: Cloud Run containers are ephemeral and stateless.
On the engagement side, a like increments a Redis counter atomically and the delta is flushed to Firestore in the next five-second batch. Back in the feed, every post carries a Ready status once processing is done.
Transition: Building this taught us a few things.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Four real challenges.
Viral likes versus the Firestore write limit: we chose Redis counters with a five-second flush, and learned that we're trading a little consistency for a lot of throughput.
Real-time on ephemeral Cloud Run: a Redis Pub/Sub backplane, plus a heartbeat because idle WebSockets get cut around sixty seconds. Lesson: stateless containers need state somewhere else.
Heavy media: signed URLs and an event-driven worker, and we learned to clean the worker's temp disk, because Cloud Run's disk is in memory.
And the meta-challenge, ambition versus time and credits. We built free-tier switches and fallbacks, and chose to label mocked parts honestly. The repository README reports a nineteen-step end-to-end test passing.
Transition: What comes next.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Where we go next. The MVP is our foundation. Phase two closes the architecture gaps we flagged: CDN, dead-letter queue, Elasticsearch, real OIDC verification, alerting, hybrid fan-out, and a proper multi-bitrate ladder. Phase three is what our proposal calls out as future: Vertex AI for personalised ranking, replacing our heuristic, and predictive prefetching so the next video starts instantly.
Transition: To close.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To close. BackTrack is not just a social-media prototype. It's an architecture built around viral scalability, decoupled media processing, low-latency delivery, security, fault tolerance and cost efficiency, and we've shown the parts that run and been straight about the parts that don't yet.
Our key idea is simple: when content goes viral, the architecture should absorb the traffic, not collapse under it. Thank you. We're happy to take questions.
Total speaking time across slides is about thirteen minutes fifteen seconds, leaving a buffer of one to two minutes.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020"/>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0B1020"/>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 Id="rIdArch" Type="http://schemas.openxmlformats.org/officeDocument/2006/relationships/image" Target="../media/arch_diagram.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 Id="rIdLink1" Type="http://schemas.openxmlformats.org/officeDocument/2006/relationships/hyperlink" Target="https://backtrack-web-894866134623.us-central1.run.app"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 Id="rIdLink1" Type="http://schemas.openxmlformats.org/officeDocument/2006/relationships/hyperlink" Target="https://backtrack-web-894866134623.us-central1.run.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35040" y="-1097280"/>
            <a:ext cx="4754880" cy="4754880"/>
          </a:xfrm>
          <a:prstGeom prst="ellipse">
            <a:avLst/>
          </a:prstGeom>
          <a:solidFill>
            <a:srgbClr val="818CF8">
              <a:alpha val="12000"/>
            </a:srgbClr>
          </a:solidFill>
          <a:ln w="12700">
            <a:solidFill>
              <a:srgbClr val="818CF8">
                <a:alpha val="0"/>
              </a:srgbClr>
            </a:solidFill>
            <a:prstDash val="solid"/>
          </a:ln>
        </p:spPr>
        <p:txBody>
          <a:bodyPr/>
          <a:lstStyle/>
          <a:p>
            <a:endParaRPr lang="en-US"/>
          </a:p>
        </p:txBody>
      </p:sp>
      <p:sp>
        <p:nvSpPr>
          <p:cNvPr id="3" name="Shape 1"/>
          <p:cNvSpPr/>
          <p:nvPr/>
        </p:nvSpPr>
        <p:spPr>
          <a:xfrm>
            <a:off x="6949440" y="2377440"/>
            <a:ext cx="3291840" cy="3291840"/>
          </a:xfrm>
          <a:prstGeom prst="ellipse">
            <a:avLst/>
          </a:prstGeom>
          <a:solidFill>
            <a:srgbClr val="22D3EE">
              <a:alpha val="10000"/>
            </a:srgbClr>
          </a:solidFill>
          <a:ln w="12700">
            <a:solidFill>
              <a:srgbClr val="22D3EE">
                <a:alpha val="0"/>
              </a:srgbClr>
            </a:solidFill>
            <a:prstDash val="solid"/>
          </a:ln>
        </p:spPr>
        <p:txBody>
          <a:bodyPr/>
          <a:lstStyle/>
          <a:p>
            <a:endParaRPr lang="en-US"/>
          </a:p>
        </p:txBody>
      </p:sp>
      <p:pic>
        <p:nvPicPr>
          <p:cNvPr id="4" name="Image 0" descr="/home/claude/assets/logo.png"/>
          <p:cNvPicPr>
            <a:picLocks noChangeAspect="1"/>
          </p:cNvPicPr>
          <p:nvPr/>
        </p:nvPicPr>
        <p:blipFill>
          <a:blip r:embed="rId3"/>
          <a:stretch>
            <a:fillRect/>
          </a:stretch>
        </p:blipFill>
        <p:spPr>
          <a:xfrm>
            <a:off x="548640" y="548640"/>
            <a:ext cx="914400" cy="914400"/>
          </a:xfrm>
          <a:prstGeom prst="rect">
            <a:avLst/>
          </a:prstGeom>
        </p:spPr>
      </p:pic>
      <p:sp>
        <p:nvSpPr>
          <p:cNvPr id="5" name="Text 2"/>
          <p:cNvSpPr txBox="1"/>
          <p:nvPr/>
        </p:nvSpPr>
        <p:spPr>
          <a:xfrm>
            <a:off x="1645920" y="777240"/>
            <a:ext cx="6400800" cy="274320"/>
          </a:xfrm>
          <a:prstGeom prst="rect">
            <a:avLst/>
          </a:prstGeom>
          <a:noFill/>
          <a:ln/>
        </p:spPr>
        <p:txBody>
          <a:bodyPr wrap="square" lIns="0" tIns="0" rIns="0" bIns="0" rtlCol="0" anchor="t"/>
          <a:lstStyle/>
          <a:p>
            <a:pPr marL="0" indent="0">
              <a:buNone/>
            </a:pPr>
            <a:r>
              <a:rPr lang="en-US" sz="1400" b="1" kern="0" spc="300" dirty="0">
                <a:solidFill>
                  <a:srgbClr val="22D3EE"/>
                </a:solidFill>
              </a:rPr>
              <a:t>BEAUTY OF CLOUD 2.0  ·  FINAL ROUND</a:t>
            </a:r>
            <a:endParaRPr lang="en-US" sz="1400" dirty="0"/>
          </a:p>
        </p:txBody>
      </p:sp>
      <p:sp>
        <p:nvSpPr>
          <p:cNvPr id="6" name="Text 3"/>
          <p:cNvSpPr txBox="1"/>
          <p:nvPr/>
        </p:nvSpPr>
        <p:spPr>
          <a:xfrm>
            <a:off x="1645920" y="1069848"/>
            <a:ext cx="6400800" cy="274320"/>
          </a:xfrm>
          <a:prstGeom prst="rect">
            <a:avLst/>
          </a:prstGeom>
          <a:noFill/>
          <a:ln/>
        </p:spPr>
        <p:txBody>
          <a:bodyPr wrap="square" lIns="0" tIns="0" rIns="0" bIns="0" rtlCol="0" anchor="t"/>
          <a:lstStyle/>
          <a:p>
            <a:pPr marL="0" indent="0">
              <a:buNone/>
            </a:pPr>
            <a:r>
              <a:rPr lang="en-US" sz="1400" dirty="0">
                <a:solidFill>
                  <a:srgbClr val="94A3B8"/>
                </a:solidFill>
              </a:rPr>
              <a:t>Scenario 2 — Photo &amp; Video Social Platform on Google Cloud</a:t>
            </a:r>
            <a:endParaRPr lang="en-US" sz="1400" dirty="0"/>
          </a:p>
        </p:txBody>
      </p:sp>
      <p:sp>
        <p:nvSpPr>
          <p:cNvPr id="7" name="Text 4"/>
          <p:cNvSpPr txBox="1"/>
          <p:nvPr/>
        </p:nvSpPr>
        <p:spPr>
          <a:xfrm>
            <a:off x="548640" y="1828800"/>
            <a:ext cx="7772400" cy="914400"/>
          </a:xfrm>
          <a:prstGeom prst="rect">
            <a:avLst/>
          </a:prstGeom>
          <a:noFill/>
          <a:ln/>
        </p:spPr>
        <p:txBody>
          <a:bodyPr wrap="square" lIns="0" tIns="0" rIns="0" bIns="0" rtlCol="0" anchor="ctr"/>
          <a:lstStyle/>
          <a:p>
            <a:pPr marL="0" indent="0">
              <a:buNone/>
            </a:pPr>
            <a:r>
              <a:rPr lang="en-US" sz="6600" b="1" dirty="0">
                <a:solidFill>
                  <a:srgbClr val="F1F5F9"/>
                </a:solidFill>
              </a:rPr>
              <a:t>BackTrack</a:t>
            </a:r>
            <a:endParaRPr lang="en-US" sz="6600" dirty="0"/>
          </a:p>
        </p:txBody>
      </p:sp>
      <p:sp>
        <p:nvSpPr>
          <p:cNvPr id="8" name="Text 5"/>
          <p:cNvSpPr txBox="1"/>
          <p:nvPr/>
        </p:nvSpPr>
        <p:spPr>
          <a:xfrm>
            <a:off x="548640" y="2788920"/>
            <a:ext cx="6583680" cy="822960"/>
          </a:xfrm>
          <a:prstGeom prst="rect">
            <a:avLst/>
          </a:prstGeom>
          <a:noFill/>
          <a:ln/>
        </p:spPr>
        <p:txBody>
          <a:bodyPr wrap="square" lIns="0" tIns="0" rIns="0" bIns="0" rtlCol="0" anchor="t"/>
          <a:lstStyle/>
          <a:p>
            <a:pPr marL="0" indent="0">
              <a:buNone/>
            </a:pPr>
            <a:r>
              <a:rPr lang="en-US" sz="2200" i="1" dirty="0">
                <a:solidFill>
                  <a:srgbClr val="F1F5F9"/>
                </a:solidFill>
              </a:rPr>
              <a:t>When content goes viral, the architecture should absorb the traffic — not collapse under it.</a:t>
            </a:r>
            <a:endParaRPr lang="en-US" sz="2200" dirty="0"/>
          </a:p>
        </p:txBody>
      </p:sp>
      <p:sp>
        <p:nvSpPr>
          <p:cNvPr id="9" name="Text 6"/>
          <p:cNvSpPr txBox="1"/>
          <p:nvPr/>
        </p:nvSpPr>
        <p:spPr>
          <a:xfrm>
            <a:off x="548640" y="3977640"/>
            <a:ext cx="6400800" cy="548640"/>
          </a:xfrm>
          <a:prstGeom prst="rect">
            <a:avLst/>
          </a:prstGeom>
          <a:noFill/>
          <a:ln/>
        </p:spPr>
        <p:txBody>
          <a:bodyPr wrap="square" lIns="0" tIns="0" rIns="0" bIns="0" rtlCol="0" anchor="t"/>
          <a:lstStyle/>
          <a:p>
            <a:pPr marL="0" indent="0">
              <a:buNone/>
            </a:pPr>
            <a:r>
              <a:rPr lang="en-US" sz="1400" b="1" dirty="0">
                <a:solidFill>
                  <a:srgbClr val="F1F5F9"/>
                </a:solidFill>
              </a:rPr>
              <a:t>Inusha Thathsara Gunasekara</a:t>
            </a:r>
            <a:r>
              <a:rPr lang="en-US" sz="1400" dirty="0">
                <a:solidFill>
                  <a:srgbClr val="94A3B8"/>
                </a:solidFill>
              </a:rPr>
              <a:t>  ·  Team Lead</a:t>
            </a:r>
            <a:endParaRPr lang="en-US" sz="1400" dirty="0"/>
          </a:p>
          <a:p>
            <a:pPr marL="0" indent="0">
              <a:buNone/>
            </a:pPr>
            <a:r>
              <a:rPr lang="en-US" sz="1400" b="1" dirty="0">
                <a:solidFill>
                  <a:srgbClr val="F1F5F9"/>
                </a:solidFill>
              </a:rPr>
              <a:t>Madhura Ravishan </a:t>
            </a:r>
            <a:r>
              <a:rPr lang="en-US" sz="1400" b="1" dirty="0" err="1">
                <a:solidFill>
                  <a:srgbClr val="F1F5F9"/>
                </a:solidFill>
              </a:rPr>
              <a:t>Abeywickrama</a:t>
            </a:r>
            <a:r>
              <a:rPr lang="en-US" sz="1400" dirty="0">
                <a:solidFill>
                  <a:srgbClr val="94A3B8"/>
                </a:solidFill>
              </a:rPr>
              <a:t>  </a:t>
            </a:r>
            <a:endParaRPr lang="en-US" sz="1400" dirty="0"/>
          </a:p>
        </p:txBody>
      </p:sp>
      <p:sp>
        <p:nvSpPr>
          <p:cNvPr id="10" name="Text 7"/>
          <p:cNvSpPr txBox="1"/>
          <p:nvPr/>
        </p:nvSpPr>
        <p:spPr>
          <a:xfrm>
            <a:off x="548640" y="4572000"/>
            <a:ext cx="6400800" cy="274320"/>
          </a:xfrm>
          <a:prstGeom prst="rect">
            <a:avLst/>
          </a:prstGeom>
          <a:noFill/>
          <a:ln/>
        </p:spPr>
        <p:txBody>
          <a:bodyPr wrap="square" lIns="0" tIns="0" rIns="0" bIns="0" rtlCol="0" anchor="t"/>
          <a:lstStyle/>
          <a:p>
            <a:pPr marL="0" indent="0">
              <a:buNone/>
            </a:pPr>
            <a:r>
              <a:rPr lang="en-US" sz="1200" dirty="0">
                <a:solidFill>
                  <a:srgbClr val="94A3B8"/>
                </a:solidFill>
              </a:rPr>
              <a:t>University of Moratuwa · Faculty of 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The problem: when one post goes viral</a:t>
            </a:r>
            <a:endParaRPr lang="en-US" sz="3000" dirty="0"/>
          </a:p>
        </p:txBody>
      </p:sp>
      <p:sp>
        <p:nvSpPr>
          <p:cNvPr id="3" name="Subtitle"/>
          <p:cNvSpPr txBox="1"/>
          <p:nvPr/>
        </p:nvSpPr>
        <p:spPr>
          <a:xfrm>
            <a:off x="457200" y="758952"/>
            <a:ext cx="8229600" cy="274320"/>
          </a:xfrm>
          <a:prstGeom prst="rect">
            <a:avLst/>
          </a:prstGeom>
          <a:noFill/>
          <a:ln/>
        </p:spPr>
        <p:txBody>
          <a:bodyPr wrap="square" lIns="0" tIns="0" rIns="0" bIns="0" rtlCol="0" anchor="ctr"/>
          <a:lstStyle/>
          <a:p>
            <a:pPr marL="0" indent="0">
              <a:buNone/>
            </a:pPr>
            <a:r>
              <a:rPr lang="en-US" sz="1400" dirty="0">
                <a:solidFill>
                  <a:srgbClr val="22D3EE"/>
                </a:solidFill>
                <a:latin typeface="Calibri" pitchFamily="34" charset="0"/>
                <a:ea typeface="Calibri" pitchFamily="34" charset="-122"/>
                <a:cs typeface="Calibri" pitchFamily="34" charset="-120"/>
              </a:rPr>
              <a:t>Storing a post is easy. Serving millions of people the same post is not.</a:t>
            </a:r>
            <a:endParaRPr lang="en-US" sz="1400" dirty="0"/>
          </a:p>
        </p:txBody>
      </p:sp>
      <p:sp>
        <p:nvSpPr>
          <p:cNvPr id="4" name="Footer"/>
          <p:cNvSpPr txBox="1"/>
          <p:nvPr/>
        </p:nvSpPr>
        <p:spPr>
          <a:xfrm>
            <a:off x="457200" y="4828032"/>
            <a:ext cx="3657600" cy="228600"/>
          </a:xfrm>
          <a:prstGeom prst="rect">
            <a:avLst/>
          </a:prstGeom>
          <a:noFill/>
          <a:ln/>
        </p:spPr>
        <p:txBody>
          <a:bodyPr wrap="square" lIns="0" tIns="0" rIns="0" bIns="0" rtlCol="0" anchor="ctr"/>
          <a:lstStyle/>
          <a:p>
            <a:pPr marL="0" indent="0">
              <a:buNone/>
            </a:pPr>
            <a:r>
              <a:rPr lang="en-US" sz="1000" dirty="0">
                <a:solidFill>
                  <a:srgbClr val="94A3B8"/>
                </a:solidFill>
              </a:rPr>
              <a:t>BackTrack · BOC 2.0 Final</a:t>
            </a:r>
            <a:endParaRPr lang="en-US" sz="1000" dirty="0"/>
          </a:p>
        </p:txBody>
      </p:sp>
      <p:sp>
        <p:nvSpPr>
          <p:cNvPr id="5" name="Shape 3"/>
          <p:cNvSpPr/>
          <p:nvPr/>
        </p:nvSpPr>
        <p:spPr>
          <a:xfrm>
            <a:off x="640080" y="2331720"/>
            <a:ext cx="1188720" cy="1188720"/>
          </a:xfrm>
          <a:prstGeom prst="ellipse">
            <a:avLst/>
          </a:prstGeom>
          <a:solidFill>
            <a:srgbClr val="F472B6"/>
          </a:solidFill>
          <a:ln w="12700">
            <a:solidFill>
              <a:srgbClr val="F472B6"/>
            </a:solidFill>
            <a:prstDash val="solid"/>
          </a:ln>
        </p:spPr>
        <p:txBody>
          <a:bodyPr/>
          <a:lstStyle/>
          <a:p>
            <a:endParaRPr lang="en-US"/>
          </a:p>
        </p:txBody>
      </p:sp>
      <p:sp>
        <p:nvSpPr>
          <p:cNvPr id="6" name="Text 4"/>
          <p:cNvSpPr txBox="1"/>
          <p:nvPr/>
        </p:nvSpPr>
        <p:spPr>
          <a:xfrm>
            <a:off x="640080" y="2331720"/>
            <a:ext cx="1188720" cy="1188720"/>
          </a:xfrm>
          <a:prstGeom prst="rect">
            <a:avLst/>
          </a:prstGeom>
          <a:noFill/>
          <a:ln/>
        </p:spPr>
        <p:txBody>
          <a:bodyPr wrap="square" lIns="0" tIns="0" rIns="0" bIns="0" rtlCol="0" anchor="ctr"/>
          <a:lstStyle/>
          <a:p>
            <a:pPr marL="0" indent="0" algn="ctr">
              <a:buNone/>
            </a:pPr>
            <a:r>
              <a:rPr lang="en-US" sz="1400" b="1" dirty="0">
                <a:solidFill>
                  <a:srgbClr val="0B1020"/>
                </a:solidFill>
              </a:rPr>
              <a:t>1 viral</a:t>
            </a:r>
            <a:endParaRPr lang="en-US" sz="1400" dirty="0"/>
          </a:p>
          <a:p>
            <a:pPr marL="0" indent="0" algn="ctr">
              <a:buNone/>
            </a:pPr>
            <a:r>
              <a:rPr lang="en-US" sz="1400" b="1" dirty="0">
                <a:solidFill>
                  <a:srgbClr val="0B1020"/>
                </a:solidFill>
              </a:rPr>
              <a:t>post</a:t>
            </a:r>
            <a:endParaRPr lang="en-US" sz="1400" dirty="0"/>
          </a:p>
        </p:txBody>
      </p:sp>
      <p:sp>
        <p:nvSpPr>
          <p:cNvPr id="7" name="Shape 5"/>
          <p:cNvSpPr/>
          <p:nvPr/>
        </p:nvSpPr>
        <p:spPr>
          <a:xfrm flipV="1">
            <a:off x="1828800" y="1554480"/>
            <a:ext cx="914400" cy="1371600"/>
          </a:xfrm>
          <a:prstGeom prst="line">
            <a:avLst/>
          </a:prstGeom>
          <a:noFill/>
          <a:ln w="15875">
            <a:solidFill>
              <a:srgbClr val="F472B6"/>
            </a:solidFill>
            <a:prstDash val="solid"/>
            <a:tailEnd type="triangle"/>
          </a:ln>
        </p:spPr>
        <p:txBody>
          <a:bodyPr/>
          <a:lstStyle/>
          <a:p>
            <a:endParaRPr lang="en-US"/>
          </a:p>
        </p:txBody>
      </p:sp>
      <p:sp>
        <p:nvSpPr>
          <p:cNvPr id="8" name="Shape 6"/>
          <p:cNvSpPr/>
          <p:nvPr/>
        </p:nvSpPr>
        <p:spPr>
          <a:xfrm>
            <a:off x="2743200" y="1371600"/>
            <a:ext cx="822960" cy="365760"/>
          </a:xfrm>
          <a:prstGeom prst="roundRect">
            <a:avLst>
              <a:gd name="adj" fmla="val 15000"/>
            </a:avLst>
          </a:prstGeom>
          <a:solidFill>
            <a:srgbClr val="1B2547"/>
          </a:solidFill>
          <a:ln w="12700">
            <a:solidFill>
              <a:srgbClr val="2A3563"/>
            </a:solidFill>
            <a:prstDash val="solid"/>
          </a:ln>
        </p:spPr>
        <p:txBody>
          <a:bodyPr/>
          <a:lstStyle/>
          <a:p>
            <a:endParaRPr lang="en-US"/>
          </a:p>
        </p:txBody>
      </p:sp>
      <p:sp>
        <p:nvSpPr>
          <p:cNvPr id="9" name="Text 7"/>
          <p:cNvSpPr txBox="1"/>
          <p:nvPr/>
        </p:nvSpPr>
        <p:spPr>
          <a:xfrm>
            <a:off x="2743200" y="1371600"/>
            <a:ext cx="822960" cy="365760"/>
          </a:xfrm>
          <a:prstGeom prst="rect">
            <a:avLst/>
          </a:prstGeom>
          <a:noFill/>
          <a:ln/>
        </p:spPr>
        <p:txBody>
          <a:bodyPr wrap="square" lIns="0" tIns="0" rIns="0" bIns="0" rtlCol="0" anchor="ctr"/>
          <a:lstStyle/>
          <a:p>
            <a:pPr marL="0" indent="0" algn="ctr">
              <a:buNone/>
            </a:pPr>
            <a:r>
              <a:rPr lang="en-US" sz="1000" dirty="0">
                <a:solidFill>
                  <a:srgbClr val="94A3B8"/>
                </a:solidFill>
              </a:rPr>
              <a:t>viewers</a:t>
            </a:r>
            <a:endParaRPr lang="en-US" sz="1000" dirty="0"/>
          </a:p>
        </p:txBody>
      </p:sp>
      <p:sp>
        <p:nvSpPr>
          <p:cNvPr id="10" name="Shape 8"/>
          <p:cNvSpPr/>
          <p:nvPr/>
        </p:nvSpPr>
        <p:spPr>
          <a:xfrm flipV="1">
            <a:off x="1828800" y="2194560"/>
            <a:ext cx="914400" cy="731520"/>
          </a:xfrm>
          <a:prstGeom prst="line">
            <a:avLst/>
          </a:prstGeom>
          <a:noFill/>
          <a:ln w="15875">
            <a:solidFill>
              <a:srgbClr val="F472B6"/>
            </a:solidFill>
            <a:prstDash val="solid"/>
            <a:tailEnd type="triangle"/>
          </a:ln>
        </p:spPr>
        <p:txBody>
          <a:bodyPr/>
          <a:lstStyle/>
          <a:p>
            <a:endParaRPr lang="en-US"/>
          </a:p>
        </p:txBody>
      </p:sp>
      <p:sp>
        <p:nvSpPr>
          <p:cNvPr id="11" name="Shape 9"/>
          <p:cNvSpPr/>
          <p:nvPr/>
        </p:nvSpPr>
        <p:spPr>
          <a:xfrm>
            <a:off x="2743200" y="2011680"/>
            <a:ext cx="822960" cy="365760"/>
          </a:xfrm>
          <a:prstGeom prst="roundRect">
            <a:avLst>
              <a:gd name="adj" fmla="val 15000"/>
            </a:avLst>
          </a:prstGeom>
          <a:solidFill>
            <a:srgbClr val="1B2547"/>
          </a:solidFill>
          <a:ln w="12700">
            <a:solidFill>
              <a:srgbClr val="2A3563"/>
            </a:solidFill>
            <a:prstDash val="solid"/>
          </a:ln>
        </p:spPr>
        <p:txBody>
          <a:bodyPr/>
          <a:lstStyle/>
          <a:p>
            <a:endParaRPr lang="en-US"/>
          </a:p>
        </p:txBody>
      </p:sp>
      <p:sp>
        <p:nvSpPr>
          <p:cNvPr id="12" name="Text 10"/>
          <p:cNvSpPr txBox="1"/>
          <p:nvPr/>
        </p:nvSpPr>
        <p:spPr>
          <a:xfrm>
            <a:off x="2743200" y="2011680"/>
            <a:ext cx="822960" cy="365760"/>
          </a:xfrm>
          <a:prstGeom prst="rect">
            <a:avLst/>
          </a:prstGeom>
          <a:noFill/>
          <a:ln/>
        </p:spPr>
        <p:txBody>
          <a:bodyPr wrap="square" lIns="0" tIns="0" rIns="0" bIns="0" rtlCol="0" anchor="ctr"/>
          <a:lstStyle/>
          <a:p>
            <a:pPr marL="0" indent="0" algn="ctr">
              <a:buNone/>
            </a:pPr>
            <a:r>
              <a:rPr lang="en-US" sz="1000" dirty="0">
                <a:solidFill>
                  <a:srgbClr val="94A3B8"/>
                </a:solidFill>
              </a:rPr>
              <a:t>viewers</a:t>
            </a:r>
            <a:endParaRPr lang="en-US" sz="1000" dirty="0"/>
          </a:p>
        </p:txBody>
      </p:sp>
      <p:sp>
        <p:nvSpPr>
          <p:cNvPr id="13" name="Shape 11"/>
          <p:cNvSpPr/>
          <p:nvPr/>
        </p:nvSpPr>
        <p:spPr>
          <a:xfrm flipV="1">
            <a:off x="1828800" y="2834640"/>
            <a:ext cx="914400" cy="91440"/>
          </a:xfrm>
          <a:prstGeom prst="line">
            <a:avLst/>
          </a:prstGeom>
          <a:noFill/>
          <a:ln w="15875">
            <a:solidFill>
              <a:srgbClr val="F472B6"/>
            </a:solidFill>
            <a:prstDash val="solid"/>
            <a:tailEnd type="triangle"/>
          </a:ln>
        </p:spPr>
        <p:txBody>
          <a:bodyPr/>
          <a:lstStyle/>
          <a:p>
            <a:endParaRPr lang="en-US"/>
          </a:p>
        </p:txBody>
      </p:sp>
      <p:sp>
        <p:nvSpPr>
          <p:cNvPr id="14" name="Shape 12"/>
          <p:cNvSpPr/>
          <p:nvPr/>
        </p:nvSpPr>
        <p:spPr>
          <a:xfrm>
            <a:off x="2743200" y="2651760"/>
            <a:ext cx="822960" cy="365760"/>
          </a:xfrm>
          <a:prstGeom prst="roundRect">
            <a:avLst>
              <a:gd name="adj" fmla="val 15000"/>
            </a:avLst>
          </a:prstGeom>
          <a:solidFill>
            <a:srgbClr val="1B2547"/>
          </a:solidFill>
          <a:ln w="12700">
            <a:solidFill>
              <a:srgbClr val="2A3563"/>
            </a:solidFill>
            <a:prstDash val="solid"/>
          </a:ln>
        </p:spPr>
        <p:txBody>
          <a:bodyPr/>
          <a:lstStyle/>
          <a:p>
            <a:endParaRPr lang="en-US"/>
          </a:p>
        </p:txBody>
      </p:sp>
      <p:sp>
        <p:nvSpPr>
          <p:cNvPr id="15" name="Text 13"/>
          <p:cNvSpPr txBox="1"/>
          <p:nvPr/>
        </p:nvSpPr>
        <p:spPr>
          <a:xfrm>
            <a:off x="2743200" y="2651760"/>
            <a:ext cx="822960" cy="365760"/>
          </a:xfrm>
          <a:prstGeom prst="rect">
            <a:avLst/>
          </a:prstGeom>
          <a:noFill/>
          <a:ln/>
        </p:spPr>
        <p:txBody>
          <a:bodyPr wrap="square" lIns="0" tIns="0" rIns="0" bIns="0" rtlCol="0" anchor="ctr"/>
          <a:lstStyle/>
          <a:p>
            <a:pPr marL="0" indent="0" algn="ctr">
              <a:buNone/>
            </a:pPr>
            <a:r>
              <a:rPr lang="en-US" sz="1000" dirty="0">
                <a:solidFill>
                  <a:srgbClr val="94A3B8"/>
                </a:solidFill>
              </a:rPr>
              <a:t>viewers</a:t>
            </a:r>
            <a:endParaRPr lang="en-US" sz="1000" dirty="0"/>
          </a:p>
        </p:txBody>
      </p:sp>
      <p:sp>
        <p:nvSpPr>
          <p:cNvPr id="16" name="Shape 14"/>
          <p:cNvSpPr/>
          <p:nvPr/>
        </p:nvSpPr>
        <p:spPr>
          <a:xfrm>
            <a:off x="1828800" y="2926080"/>
            <a:ext cx="914400" cy="548640"/>
          </a:xfrm>
          <a:prstGeom prst="line">
            <a:avLst/>
          </a:prstGeom>
          <a:noFill/>
          <a:ln w="15875">
            <a:solidFill>
              <a:srgbClr val="F472B6"/>
            </a:solidFill>
            <a:prstDash val="solid"/>
            <a:tailEnd type="triangle"/>
          </a:ln>
        </p:spPr>
        <p:txBody>
          <a:bodyPr/>
          <a:lstStyle/>
          <a:p>
            <a:endParaRPr lang="en-US"/>
          </a:p>
        </p:txBody>
      </p:sp>
      <p:sp>
        <p:nvSpPr>
          <p:cNvPr id="17" name="Shape 15"/>
          <p:cNvSpPr/>
          <p:nvPr/>
        </p:nvSpPr>
        <p:spPr>
          <a:xfrm>
            <a:off x="2743200" y="3291840"/>
            <a:ext cx="822960" cy="365760"/>
          </a:xfrm>
          <a:prstGeom prst="roundRect">
            <a:avLst>
              <a:gd name="adj" fmla="val 15000"/>
            </a:avLst>
          </a:prstGeom>
          <a:solidFill>
            <a:srgbClr val="1B2547"/>
          </a:solidFill>
          <a:ln w="12700">
            <a:solidFill>
              <a:srgbClr val="2A3563"/>
            </a:solidFill>
            <a:prstDash val="solid"/>
          </a:ln>
        </p:spPr>
        <p:txBody>
          <a:bodyPr/>
          <a:lstStyle/>
          <a:p>
            <a:endParaRPr lang="en-US"/>
          </a:p>
        </p:txBody>
      </p:sp>
      <p:sp>
        <p:nvSpPr>
          <p:cNvPr id="18" name="Text 16"/>
          <p:cNvSpPr txBox="1"/>
          <p:nvPr/>
        </p:nvSpPr>
        <p:spPr>
          <a:xfrm>
            <a:off x="2743200" y="3291840"/>
            <a:ext cx="822960" cy="365760"/>
          </a:xfrm>
          <a:prstGeom prst="rect">
            <a:avLst/>
          </a:prstGeom>
          <a:noFill/>
          <a:ln/>
        </p:spPr>
        <p:txBody>
          <a:bodyPr wrap="square" lIns="0" tIns="0" rIns="0" bIns="0" rtlCol="0" anchor="ctr"/>
          <a:lstStyle/>
          <a:p>
            <a:pPr marL="0" indent="0" algn="ctr">
              <a:buNone/>
            </a:pPr>
            <a:r>
              <a:rPr lang="en-US" sz="1000" dirty="0">
                <a:solidFill>
                  <a:srgbClr val="94A3B8"/>
                </a:solidFill>
              </a:rPr>
              <a:t>viewers</a:t>
            </a:r>
            <a:endParaRPr lang="en-US" sz="1000" dirty="0"/>
          </a:p>
        </p:txBody>
      </p:sp>
      <p:sp>
        <p:nvSpPr>
          <p:cNvPr id="19" name="Shape 17"/>
          <p:cNvSpPr/>
          <p:nvPr/>
        </p:nvSpPr>
        <p:spPr>
          <a:xfrm>
            <a:off x="1828800" y="2926080"/>
            <a:ext cx="914400" cy="1188720"/>
          </a:xfrm>
          <a:prstGeom prst="line">
            <a:avLst/>
          </a:prstGeom>
          <a:noFill/>
          <a:ln w="15875">
            <a:solidFill>
              <a:srgbClr val="F472B6"/>
            </a:solidFill>
            <a:prstDash val="solid"/>
            <a:tailEnd type="triangle"/>
          </a:ln>
        </p:spPr>
        <p:txBody>
          <a:bodyPr/>
          <a:lstStyle/>
          <a:p>
            <a:endParaRPr lang="en-US"/>
          </a:p>
        </p:txBody>
      </p:sp>
      <p:sp>
        <p:nvSpPr>
          <p:cNvPr id="20" name="Shape 18"/>
          <p:cNvSpPr/>
          <p:nvPr/>
        </p:nvSpPr>
        <p:spPr>
          <a:xfrm>
            <a:off x="2743200" y="3931920"/>
            <a:ext cx="822960" cy="365760"/>
          </a:xfrm>
          <a:prstGeom prst="roundRect">
            <a:avLst>
              <a:gd name="adj" fmla="val 15000"/>
            </a:avLst>
          </a:prstGeom>
          <a:solidFill>
            <a:srgbClr val="1B2547"/>
          </a:solidFill>
          <a:ln w="12700">
            <a:solidFill>
              <a:srgbClr val="2A3563"/>
            </a:solidFill>
            <a:prstDash val="solid"/>
          </a:ln>
        </p:spPr>
        <p:txBody>
          <a:bodyPr/>
          <a:lstStyle/>
          <a:p>
            <a:endParaRPr lang="en-US"/>
          </a:p>
        </p:txBody>
      </p:sp>
      <p:sp>
        <p:nvSpPr>
          <p:cNvPr id="21" name="Text 19"/>
          <p:cNvSpPr txBox="1"/>
          <p:nvPr/>
        </p:nvSpPr>
        <p:spPr>
          <a:xfrm>
            <a:off x="2743200" y="3931920"/>
            <a:ext cx="822960" cy="365760"/>
          </a:xfrm>
          <a:prstGeom prst="rect">
            <a:avLst/>
          </a:prstGeom>
          <a:noFill/>
          <a:ln/>
        </p:spPr>
        <p:txBody>
          <a:bodyPr wrap="square" lIns="0" tIns="0" rIns="0" bIns="0" rtlCol="0" anchor="ctr"/>
          <a:lstStyle/>
          <a:p>
            <a:pPr marL="0" indent="0" algn="ctr">
              <a:buNone/>
            </a:pPr>
            <a:r>
              <a:rPr lang="en-US" sz="1000" dirty="0">
                <a:solidFill>
                  <a:srgbClr val="94A3B8"/>
                </a:solidFill>
              </a:rPr>
              <a:t>viewers</a:t>
            </a:r>
            <a:endParaRPr lang="en-US" sz="1000" dirty="0"/>
          </a:p>
        </p:txBody>
      </p:sp>
      <p:sp>
        <p:nvSpPr>
          <p:cNvPr id="22" name="Text 20"/>
          <p:cNvSpPr txBox="1"/>
          <p:nvPr/>
        </p:nvSpPr>
        <p:spPr>
          <a:xfrm>
            <a:off x="640080" y="4343400"/>
            <a:ext cx="2743200" cy="228600"/>
          </a:xfrm>
          <a:prstGeom prst="rect">
            <a:avLst/>
          </a:prstGeom>
          <a:noFill/>
          <a:ln/>
        </p:spPr>
        <p:txBody>
          <a:bodyPr wrap="square" lIns="0" tIns="0" rIns="0" bIns="0" rtlCol="0" anchor="t"/>
          <a:lstStyle/>
          <a:p>
            <a:pPr marL="0" indent="0">
              <a:buNone/>
            </a:pPr>
            <a:r>
              <a:rPr lang="en-US" sz="1000" i="1" dirty="0">
                <a:solidFill>
                  <a:srgbClr val="94A3B8"/>
                </a:solidFill>
              </a:rPr>
              <a:t>illustrative</a:t>
            </a:r>
            <a:endParaRPr lang="en-US" sz="1000" dirty="0"/>
          </a:p>
        </p:txBody>
      </p:sp>
      <p:sp>
        <p:nvSpPr>
          <p:cNvPr id="23" name="Shape 21"/>
          <p:cNvSpPr/>
          <p:nvPr/>
        </p:nvSpPr>
        <p:spPr>
          <a:xfrm>
            <a:off x="4023360" y="1234440"/>
            <a:ext cx="4663440" cy="585216"/>
          </a:xfrm>
          <a:prstGeom prst="roundRect">
            <a:avLst>
              <a:gd name="adj" fmla="val 12500"/>
            </a:avLst>
          </a:prstGeom>
          <a:solidFill>
            <a:srgbClr val="131A33"/>
          </a:solidFill>
          <a:ln w="12700">
            <a:solidFill>
              <a:srgbClr val="2A3563"/>
            </a:solidFill>
            <a:prstDash val="solid"/>
          </a:ln>
        </p:spPr>
        <p:txBody>
          <a:bodyPr/>
          <a:lstStyle/>
          <a:p>
            <a:endParaRPr lang="en-US"/>
          </a:p>
        </p:txBody>
      </p:sp>
      <p:sp>
        <p:nvSpPr>
          <p:cNvPr id="24" name="Shape 22"/>
          <p:cNvSpPr/>
          <p:nvPr/>
        </p:nvSpPr>
        <p:spPr>
          <a:xfrm>
            <a:off x="4133088" y="1389888"/>
            <a:ext cx="274320" cy="274320"/>
          </a:xfrm>
          <a:prstGeom prst="ellipse">
            <a:avLst/>
          </a:prstGeom>
          <a:solidFill>
            <a:srgbClr val="22D3EE"/>
          </a:solidFill>
          <a:ln w="12700">
            <a:solidFill>
              <a:srgbClr val="22D3EE"/>
            </a:solidFill>
            <a:prstDash val="solid"/>
          </a:ln>
        </p:spPr>
        <p:txBody>
          <a:bodyPr/>
          <a:lstStyle/>
          <a:p>
            <a:endParaRPr lang="en-US"/>
          </a:p>
        </p:txBody>
      </p:sp>
      <p:sp>
        <p:nvSpPr>
          <p:cNvPr id="25" name="Text 23"/>
          <p:cNvSpPr txBox="1"/>
          <p:nvPr/>
        </p:nvSpPr>
        <p:spPr>
          <a:xfrm>
            <a:off x="4133088" y="1389888"/>
            <a:ext cx="274320" cy="274320"/>
          </a:xfrm>
          <a:prstGeom prst="rect">
            <a:avLst/>
          </a:prstGeom>
          <a:noFill/>
          <a:ln/>
        </p:spPr>
        <p:txBody>
          <a:bodyPr wrap="square" lIns="0" tIns="0" rIns="0" bIns="0" rtlCol="0" anchor="ctr"/>
          <a:lstStyle/>
          <a:p>
            <a:pPr marL="0" indent="0" algn="ctr">
              <a:buNone/>
            </a:pPr>
            <a:r>
              <a:rPr lang="en-US" sz="1200" b="1" dirty="0">
                <a:solidFill>
                  <a:srgbClr val="0B1020"/>
                </a:solidFill>
              </a:rPr>
              <a:t>1</a:t>
            </a:r>
            <a:endParaRPr lang="en-US" sz="1200" dirty="0"/>
          </a:p>
        </p:txBody>
      </p:sp>
      <p:sp>
        <p:nvSpPr>
          <p:cNvPr id="26" name="Text 24"/>
          <p:cNvSpPr txBox="1"/>
          <p:nvPr/>
        </p:nvSpPr>
        <p:spPr>
          <a:xfrm>
            <a:off x="4553712" y="1280160"/>
            <a:ext cx="4023360" cy="237744"/>
          </a:xfrm>
          <a:prstGeom prst="rect">
            <a:avLst/>
          </a:prstGeom>
          <a:noFill/>
          <a:ln/>
        </p:spPr>
        <p:txBody>
          <a:bodyPr wrap="square" lIns="0" tIns="0" rIns="0" bIns="0" rtlCol="0" anchor="t"/>
          <a:lstStyle/>
          <a:p>
            <a:pPr marL="0" indent="0">
              <a:buNone/>
            </a:pPr>
            <a:r>
              <a:rPr lang="en-US" sz="1400" b="1" dirty="0">
                <a:solidFill>
                  <a:srgbClr val="F1F5F9"/>
                </a:solidFill>
              </a:rPr>
              <a:t>Read-heavy traffic</a:t>
            </a:r>
            <a:endParaRPr lang="en-US" sz="1400" dirty="0"/>
          </a:p>
        </p:txBody>
      </p:sp>
      <p:sp>
        <p:nvSpPr>
          <p:cNvPr id="27" name="Text 25"/>
          <p:cNvSpPr txBox="1"/>
          <p:nvPr/>
        </p:nvSpPr>
        <p:spPr>
          <a:xfrm>
            <a:off x="4553712" y="1527048"/>
            <a:ext cx="4069080" cy="274320"/>
          </a:xfrm>
          <a:prstGeom prst="rect">
            <a:avLst/>
          </a:prstGeom>
          <a:noFill/>
          <a:ln/>
        </p:spPr>
        <p:txBody>
          <a:bodyPr wrap="square" lIns="0" tIns="0" rIns="0" bIns="0" rtlCol="0" anchor="t"/>
          <a:lstStyle/>
          <a:p>
            <a:pPr marL="0" indent="0">
              <a:buNone/>
            </a:pPr>
            <a:r>
              <a:rPr lang="en-US" sz="1100" dirty="0">
                <a:solidFill>
                  <a:srgbClr val="94A3B8"/>
                </a:solidFill>
              </a:rPr>
              <a:t>Viewers vastly outnumber creators; every view is a read.</a:t>
            </a:r>
            <a:endParaRPr lang="en-US" sz="1100" dirty="0"/>
          </a:p>
        </p:txBody>
      </p:sp>
      <p:sp>
        <p:nvSpPr>
          <p:cNvPr id="28" name="Shape 26"/>
          <p:cNvSpPr/>
          <p:nvPr/>
        </p:nvSpPr>
        <p:spPr>
          <a:xfrm>
            <a:off x="4023360" y="1911096"/>
            <a:ext cx="4663440" cy="585216"/>
          </a:xfrm>
          <a:prstGeom prst="roundRect">
            <a:avLst>
              <a:gd name="adj" fmla="val 12500"/>
            </a:avLst>
          </a:prstGeom>
          <a:solidFill>
            <a:srgbClr val="131A33"/>
          </a:solidFill>
          <a:ln w="12700">
            <a:solidFill>
              <a:srgbClr val="2A3563"/>
            </a:solidFill>
            <a:prstDash val="solid"/>
          </a:ln>
        </p:spPr>
        <p:txBody>
          <a:bodyPr/>
          <a:lstStyle/>
          <a:p>
            <a:endParaRPr lang="en-US"/>
          </a:p>
        </p:txBody>
      </p:sp>
      <p:sp>
        <p:nvSpPr>
          <p:cNvPr id="29" name="Shape 27"/>
          <p:cNvSpPr/>
          <p:nvPr/>
        </p:nvSpPr>
        <p:spPr>
          <a:xfrm>
            <a:off x="4133088" y="2066544"/>
            <a:ext cx="274320" cy="274320"/>
          </a:xfrm>
          <a:prstGeom prst="ellipse">
            <a:avLst/>
          </a:prstGeom>
          <a:solidFill>
            <a:srgbClr val="818CF8"/>
          </a:solidFill>
          <a:ln w="12700">
            <a:solidFill>
              <a:srgbClr val="818CF8"/>
            </a:solidFill>
            <a:prstDash val="solid"/>
          </a:ln>
        </p:spPr>
        <p:txBody>
          <a:bodyPr/>
          <a:lstStyle/>
          <a:p>
            <a:endParaRPr lang="en-US"/>
          </a:p>
        </p:txBody>
      </p:sp>
      <p:sp>
        <p:nvSpPr>
          <p:cNvPr id="30" name="Text 28"/>
          <p:cNvSpPr txBox="1"/>
          <p:nvPr/>
        </p:nvSpPr>
        <p:spPr>
          <a:xfrm>
            <a:off x="4133088" y="2066544"/>
            <a:ext cx="274320" cy="274320"/>
          </a:xfrm>
          <a:prstGeom prst="rect">
            <a:avLst/>
          </a:prstGeom>
          <a:noFill/>
          <a:ln/>
        </p:spPr>
        <p:txBody>
          <a:bodyPr wrap="square" lIns="0" tIns="0" rIns="0" bIns="0" rtlCol="0" anchor="ctr"/>
          <a:lstStyle/>
          <a:p>
            <a:pPr marL="0" indent="0" algn="ctr">
              <a:buNone/>
            </a:pPr>
            <a:r>
              <a:rPr lang="en-US" sz="1200" b="1" dirty="0">
                <a:solidFill>
                  <a:srgbClr val="0B1020"/>
                </a:solidFill>
              </a:rPr>
              <a:t>2</a:t>
            </a:r>
            <a:endParaRPr lang="en-US" sz="1200" dirty="0"/>
          </a:p>
        </p:txBody>
      </p:sp>
      <p:sp>
        <p:nvSpPr>
          <p:cNvPr id="31" name="Text 29"/>
          <p:cNvSpPr txBox="1"/>
          <p:nvPr/>
        </p:nvSpPr>
        <p:spPr>
          <a:xfrm>
            <a:off x="4553712" y="1956816"/>
            <a:ext cx="4023360" cy="237744"/>
          </a:xfrm>
          <a:prstGeom prst="rect">
            <a:avLst/>
          </a:prstGeom>
          <a:noFill/>
          <a:ln/>
        </p:spPr>
        <p:txBody>
          <a:bodyPr wrap="square" lIns="0" tIns="0" rIns="0" bIns="0" rtlCol="0" anchor="t"/>
          <a:lstStyle/>
          <a:p>
            <a:pPr marL="0" indent="0">
              <a:buNone/>
            </a:pPr>
            <a:r>
              <a:rPr lang="en-US" sz="1400" b="1" dirty="0">
                <a:solidFill>
                  <a:srgbClr val="F1F5F9"/>
                </a:solidFill>
              </a:rPr>
              <a:t>Massive media payloads</a:t>
            </a:r>
            <a:endParaRPr lang="en-US" sz="1400" dirty="0"/>
          </a:p>
        </p:txBody>
      </p:sp>
      <p:sp>
        <p:nvSpPr>
          <p:cNvPr id="32" name="Text 30"/>
          <p:cNvSpPr txBox="1"/>
          <p:nvPr/>
        </p:nvSpPr>
        <p:spPr>
          <a:xfrm>
            <a:off x="4553712" y="2203704"/>
            <a:ext cx="4069080" cy="274320"/>
          </a:xfrm>
          <a:prstGeom prst="rect">
            <a:avLst/>
          </a:prstGeom>
          <a:noFill/>
          <a:ln/>
        </p:spPr>
        <p:txBody>
          <a:bodyPr wrap="square" lIns="0" tIns="0" rIns="0" bIns="0" rtlCol="0" anchor="t"/>
          <a:lstStyle/>
          <a:p>
            <a:pPr marL="0" indent="0">
              <a:buNone/>
            </a:pPr>
            <a:r>
              <a:rPr lang="en-US" sz="1100" dirty="0">
                <a:solidFill>
                  <a:srgbClr val="94A3B8"/>
                </a:solidFill>
              </a:rPr>
              <a:t>Photos and video push bytes, not rows — and spikes are unpredictable.</a:t>
            </a:r>
            <a:endParaRPr lang="en-US" sz="1100" dirty="0"/>
          </a:p>
        </p:txBody>
      </p:sp>
      <p:sp>
        <p:nvSpPr>
          <p:cNvPr id="33" name="Shape 31"/>
          <p:cNvSpPr/>
          <p:nvPr/>
        </p:nvSpPr>
        <p:spPr>
          <a:xfrm>
            <a:off x="4023360" y="2587752"/>
            <a:ext cx="4663440" cy="585216"/>
          </a:xfrm>
          <a:prstGeom prst="roundRect">
            <a:avLst>
              <a:gd name="adj" fmla="val 12500"/>
            </a:avLst>
          </a:prstGeom>
          <a:solidFill>
            <a:srgbClr val="131A33"/>
          </a:solidFill>
          <a:ln w="12700">
            <a:solidFill>
              <a:srgbClr val="2A3563"/>
            </a:solidFill>
            <a:prstDash val="solid"/>
          </a:ln>
        </p:spPr>
        <p:txBody>
          <a:bodyPr/>
          <a:lstStyle/>
          <a:p>
            <a:endParaRPr lang="en-US"/>
          </a:p>
        </p:txBody>
      </p:sp>
      <p:sp>
        <p:nvSpPr>
          <p:cNvPr id="34" name="Shape 32"/>
          <p:cNvSpPr/>
          <p:nvPr/>
        </p:nvSpPr>
        <p:spPr>
          <a:xfrm>
            <a:off x="4133088" y="2743200"/>
            <a:ext cx="274320" cy="274320"/>
          </a:xfrm>
          <a:prstGeom prst="ellipse">
            <a:avLst/>
          </a:prstGeom>
          <a:solidFill>
            <a:srgbClr val="F472B6"/>
          </a:solidFill>
          <a:ln w="12700">
            <a:solidFill>
              <a:srgbClr val="F472B6"/>
            </a:solidFill>
            <a:prstDash val="solid"/>
          </a:ln>
        </p:spPr>
        <p:txBody>
          <a:bodyPr/>
          <a:lstStyle/>
          <a:p>
            <a:endParaRPr lang="en-US"/>
          </a:p>
        </p:txBody>
      </p:sp>
      <p:sp>
        <p:nvSpPr>
          <p:cNvPr id="35" name="Text 33"/>
          <p:cNvSpPr txBox="1"/>
          <p:nvPr/>
        </p:nvSpPr>
        <p:spPr>
          <a:xfrm>
            <a:off x="4133088" y="2743200"/>
            <a:ext cx="274320" cy="274320"/>
          </a:xfrm>
          <a:prstGeom prst="rect">
            <a:avLst/>
          </a:prstGeom>
          <a:noFill/>
          <a:ln/>
        </p:spPr>
        <p:txBody>
          <a:bodyPr wrap="square" lIns="0" tIns="0" rIns="0" bIns="0" rtlCol="0" anchor="ctr"/>
          <a:lstStyle/>
          <a:p>
            <a:pPr marL="0" indent="0" algn="ctr">
              <a:buNone/>
            </a:pPr>
            <a:r>
              <a:rPr lang="en-US" sz="1200" b="1" dirty="0">
                <a:solidFill>
                  <a:srgbClr val="0B1020"/>
                </a:solidFill>
              </a:rPr>
              <a:t>3</a:t>
            </a:r>
            <a:endParaRPr lang="en-US" sz="1200" dirty="0"/>
          </a:p>
        </p:txBody>
      </p:sp>
      <p:sp>
        <p:nvSpPr>
          <p:cNvPr id="36" name="Text 34"/>
          <p:cNvSpPr txBox="1"/>
          <p:nvPr/>
        </p:nvSpPr>
        <p:spPr>
          <a:xfrm>
            <a:off x="4553712" y="2633472"/>
            <a:ext cx="4023360" cy="237744"/>
          </a:xfrm>
          <a:prstGeom prst="rect">
            <a:avLst/>
          </a:prstGeom>
          <a:noFill/>
          <a:ln/>
        </p:spPr>
        <p:txBody>
          <a:bodyPr wrap="square" lIns="0" tIns="0" rIns="0" bIns="0" rtlCol="0" anchor="t"/>
          <a:lstStyle/>
          <a:p>
            <a:pPr marL="0" indent="0">
              <a:buNone/>
            </a:pPr>
            <a:r>
              <a:rPr lang="en-US" sz="1400" b="1" dirty="0">
                <a:solidFill>
                  <a:srgbClr val="F1F5F9"/>
                </a:solidFill>
              </a:rPr>
              <a:t>Database write contention</a:t>
            </a:r>
            <a:endParaRPr lang="en-US" sz="1400" dirty="0"/>
          </a:p>
        </p:txBody>
      </p:sp>
      <p:sp>
        <p:nvSpPr>
          <p:cNvPr id="37" name="Text 35"/>
          <p:cNvSpPr txBox="1"/>
          <p:nvPr/>
        </p:nvSpPr>
        <p:spPr>
          <a:xfrm>
            <a:off x="4553712" y="2880360"/>
            <a:ext cx="4069080" cy="274320"/>
          </a:xfrm>
          <a:prstGeom prst="rect">
            <a:avLst/>
          </a:prstGeom>
          <a:noFill/>
          <a:ln/>
        </p:spPr>
        <p:txBody>
          <a:bodyPr wrap="square" lIns="0" tIns="0" rIns="0" bIns="0" rtlCol="0" anchor="t"/>
          <a:lstStyle/>
          <a:p>
            <a:pPr marL="0" indent="0">
              <a:buNone/>
            </a:pPr>
            <a:r>
              <a:rPr lang="en-US" sz="1100" dirty="0">
                <a:solidFill>
                  <a:srgbClr val="94A3B8"/>
                </a:solidFill>
              </a:rPr>
              <a:t>Thousands of likes on one document hit Firestore's ~1 write/sec limit.</a:t>
            </a:r>
            <a:endParaRPr lang="en-US" sz="1100" dirty="0"/>
          </a:p>
        </p:txBody>
      </p:sp>
      <p:sp>
        <p:nvSpPr>
          <p:cNvPr id="38" name="Shape 36"/>
          <p:cNvSpPr/>
          <p:nvPr/>
        </p:nvSpPr>
        <p:spPr>
          <a:xfrm>
            <a:off x="4023360" y="3264408"/>
            <a:ext cx="4663440" cy="585216"/>
          </a:xfrm>
          <a:prstGeom prst="roundRect">
            <a:avLst>
              <a:gd name="adj" fmla="val 12500"/>
            </a:avLst>
          </a:prstGeom>
          <a:solidFill>
            <a:srgbClr val="131A33"/>
          </a:solidFill>
          <a:ln w="12700">
            <a:solidFill>
              <a:srgbClr val="2A3563"/>
            </a:solidFill>
            <a:prstDash val="solid"/>
          </a:ln>
        </p:spPr>
        <p:txBody>
          <a:bodyPr/>
          <a:lstStyle/>
          <a:p>
            <a:endParaRPr lang="en-US"/>
          </a:p>
        </p:txBody>
      </p:sp>
      <p:sp>
        <p:nvSpPr>
          <p:cNvPr id="39" name="Shape 37"/>
          <p:cNvSpPr/>
          <p:nvPr/>
        </p:nvSpPr>
        <p:spPr>
          <a:xfrm>
            <a:off x="4133088" y="3419856"/>
            <a:ext cx="274320" cy="274320"/>
          </a:xfrm>
          <a:prstGeom prst="ellipse">
            <a:avLst/>
          </a:prstGeom>
          <a:solidFill>
            <a:srgbClr val="34D399"/>
          </a:solidFill>
          <a:ln w="12700">
            <a:solidFill>
              <a:srgbClr val="34D399"/>
            </a:solidFill>
            <a:prstDash val="solid"/>
          </a:ln>
        </p:spPr>
        <p:txBody>
          <a:bodyPr/>
          <a:lstStyle/>
          <a:p>
            <a:endParaRPr lang="en-US"/>
          </a:p>
        </p:txBody>
      </p:sp>
      <p:sp>
        <p:nvSpPr>
          <p:cNvPr id="40" name="Text 38"/>
          <p:cNvSpPr txBox="1"/>
          <p:nvPr/>
        </p:nvSpPr>
        <p:spPr>
          <a:xfrm>
            <a:off x="4133088" y="3419856"/>
            <a:ext cx="274320" cy="274320"/>
          </a:xfrm>
          <a:prstGeom prst="rect">
            <a:avLst/>
          </a:prstGeom>
          <a:noFill/>
          <a:ln/>
        </p:spPr>
        <p:txBody>
          <a:bodyPr wrap="square" lIns="0" tIns="0" rIns="0" bIns="0" rtlCol="0" anchor="ctr"/>
          <a:lstStyle/>
          <a:p>
            <a:pPr marL="0" indent="0" algn="ctr">
              <a:buNone/>
            </a:pPr>
            <a:r>
              <a:rPr lang="en-US" sz="1200" b="1" dirty="0">
                <a:solidFill>
                  <a:srgbClr val="0B1020"/>
                </a:solidFill>
              </a:rPr>
              <a:t>4</a:t>
            </a:r>
            <a:endParaRPr lang="en-US" sz="1200" dirty="0"/>
          </a:p>
        </p:txBody>
      </p:sp>
      <p:sp>
        <p:nvSpPr>
          <p:cNvPr id="41" name="Text 39"/>
          <p:cNvSpPr txBox="1"/>
          <p:nvPr/>
        </p:nvSpPr>
        <p:spPr>
          <a:xfrm>
            <a:off x="4553712" y="3310128"/>
            <a:ext cx="4023360" cy="237744"/>
          </a:xfrm>
          <a:prstGeom prst="rect">
            <a:avLst/>
          </a:prstGeom>
          <a:noFill/>
          <a:ln/>
        </p:spPr>
        <p:txBody>
          <a:bodyPr wrap="square" lIns="0" tIns="0" rIns="0" bIns="0" rtlCol="0" anchor="t"/>
          <a:lstStyle/>
          <a:p>
            <a:pPr marL="0" indent="0">
              <a:buNone/>
            </a:pPr>
            <a:r>
              <a:rPr lang="en-US" sz="1400" b="1" dirty="0">
                <a:solidFill>
                  <a:srgbClr val="F1F5F9"/>
                </a:solidFill>
              </a:rPr>
              <a:t>Real-time interactions</a:t>
            </a:r>
            <a:endParaRPr lang="en-US" sz="1400" dirty="0"/>
          </a:p>
        </p:txBody>
      </p:sp>
      <p:sp>
        <p:nvSpPr>
          <p:cNvPr id="42" name="Text 40"/>
          <p:cNvSpPr txBox="1"/>
          <p:nvPr/>
        </p:nvSpPr>
        <p:spPr>
          <a:xfrm>
            <a:off x="4553712" y="3557016"/>
            <a:ext cx="4069080" cy="274320"/>
          </a:xfrm>
          <a:prstGeom prst="rect">
            <a:avLst/>
          </a:prstGeom>
          <a:noFill/>
          <a:ln/>
        </p:spPr>
        <p:txBody>
          <a:bodyPr wrap="square" lIns="0" tIns="0" rIns="0" bIns="0" rtlCol="0" anchor="t"/>
          <a:lstStyle/>
          <a:p>
            <a:pPr marL="0" indent="0">
              <a:buNone/>
            </a:pPr>
            <a:r>
              <a:rPr lang="en-US" sz="1100" dirty="0">
                <a:solidFill>
                  <a:srgbClr val="94A3B8"/>
                </a:solidFill>
              </a:rPr>
              <a:t>Comments and DMs must arrive without locking the primary DB.</a:t>
            </a:r>
            <a:endParaRPr lang="en-US" sz="1100" dirty="0"/>
          </a:p>
        </p:txBody>
      </p:sp>
      <p:sp>
        <p:nvSpPr>
          <p:cNvPr id="43" name="Shape 41"/>
          <p:cNvSpPr/>
          <p:nvPr/>
        </p:nvSpPr>
        <p:spPr>
          <a:xfrm>
            <a:off x="4023360" y="3941064"/>
            <a:ext cx="4663440" cy="585216"/>
          </a:xfrm>
          <a:prstGeom prst="roundRect">
            <a:avLst>
              <a:gd name="adj" fmla="val 12500"/>
            </a:avLst>
          </a:prstGeom>
          <a:solidFill>
            <a:srgbClr val="131A33"/>
          </a:solidFill>
          <a:ln w="12700">
            <a:solidFill>
              <a:srgbClr val="2A3563"/>
            </a:solidFill>
            <a:prstDash val="solid"/>
          </a:ln>
        </p:spPr>
        <p:txBody>
          <a:bodyPr/>
          <a:lstStyle/>
          <a:p>
            <a:endParaRPr lang="en-US"/>
          </a:p>
        </p:txBody>
      </p:sp>
      <p:sp>
        <p:nvSpPr>
          <p:cNvPr id="44" name="Shape 42"/>
          <p:cNvSpPr/>
          <p:nvPr/>
        </p:nvSpPr>
        <p:spPr>
          <a:xfrm>
            <a:off x="4133088" y="4096512"/>
            <a:ext cx="274320" cy="274320"/>
          </a:xfrm>
          <a:prstGeom prst="ellipse">
            <a:avLst/>
          </a:prstGeom>
          <a:solidFill>
            <a:srgbClr val="FBBF24"/>
          </a:solidFill>
          <a:ln w="12700">
            <a:solidFill>
              <a:srgbClr val="FBBF24"/>
            </a:solidFill>
            <a:prstDash val="solid"/>
          </a:ln>
        </p:spPr>
        <p:txBody>
          <a:bodyPr/>
          <a:lstStyle/>
          <a:p>
            <a:endParaRPr lang="en-US"/>
          </a:p>
        </p:txBody>
      </p:sp>
      <p:sp>
        <p:nvSpPr>
          <p:cNvPr id="45" name="Text 43"/>
          <p:cNvSpPr txBox="1"/>
          <p:nvPr/>
        </p:nvSpPr>
        <p:spPr>
          <a:xfrm>
            <a:off x="4133088" y="4096512"/>
            <a:ext cx="274320" cy="274320"/>
          </a:xfrm>
          <a:prstGeom prst="rect">
            <a:avLst/>
          </a:prstGeom>
          <a:noFill/>
          <a:ln/>
        </p:spPr>
        <p:txBody>
          <a:bodyPr wrap="square" lIns="0" tIns="0" rIns="0" bIns="0" rtlCol="0" anchor="ctr"/>
          <a:lstStyle/>
          <a:p>
            <a:pPr marL="0" indent="0" algn="ctr">
              <a:buNone/>
            </a:pPr>
            <a:r>
              <a:rPr lang="en-US" sz="1200" b="1" dirty="0">
                <a:solidFill>
                  <a:srgbClr val="0B1020"/>
                </a:solidFill>
              </a:rPr>
              <a:t>5</a:t>
            </a:r>
            <a:endParaRPr lang="en-US" sz="1200" dirty="0"/>
          </a:p>
        </p:txBody>
      </p:sp>
      <p:sp>
        <p:nvSpPr>
          <p:cNvPr id="46" name="Text 44"/>
          <p:cNvSpPr txBox="1"/>
          <p:nvPr/>
        </p:nvSpPr>
        <p:spPr>
          <a:xfrm>
            <a:off x="4553712" y="3986784"/>
            <a:ext cx="4023360" cy="237744"/>
          </a:xfrm>
          <a:prstGeom prst="rect">
            <a:avLst/>
          </a:prstGeom>
          <a:noFill/>
          <a:ln/>
        </p:spPr>
        <p:txBody>
          <a:bodyPr wrap="square" lIns="0" tIns="0" rIns="0" bIns="0" rtlCol="0" anchor="t"/>
          <a:lstStyle/>
          <a:p>
            <a:pPr marL="0" indent="0">
              <a:buNone/>
            </a:pPr>
            <a:r>
              <a:rPr lang="en-US" sz="1400" b="1" dirty="0">
                <a:solidFill>
                  <a:srgbClr val="F1F5F9"/>
                </a:solidFill>
              </a:rPr>
              <a:t>Spiralling egress cost</a:t>
            </a:r>
            <a:endParaRPr lang="en-US" sz="1400" dirty="0"/>
          </a:p>
        </p:txBody>
      </p:sp>
      <p:sp>
        <p:nvSpPr>
          <p:cNvPr id="47" name="Text 45"/>
          <p:cNvSpPr txBox="1"/>
          <p:nvPr/>
        </p:nvSpPr>
        <p:spPr>
          <a:xfrm>
            <a:off x="4553712" y="4233672"/>
            <a:ext cx="4069080" cy="274320"/>
          </a:xfrm>
          <a:prstGeom prst="rect">
            <a:avLst/>
          </a:prstGeom>
          <a:noFill/>
          <a:ln/>
        </p:spPr>
        <p:txBody>
          <a:bodyPr wrap="square" lIns="0" tIns="0" rIns="0" bIns="0" rtlCol="0" anchor="t"/>
          <a:lstStyle/>
          <a:p>
            <a:pPr marL="0" indent="0">
              <a:buNone/>
            </a:pPr>
            <a:r>
              <a:rPr lang="en-US" sz="1100" dirty="0">
                <a:solidFill>
                  <a:srgbClr val="94A3B8"/>
                </a:solidFill>
              </a:rPr>
              <a:t>Bandwidth, not storage, becomes the biggest bill for viral media.</a:t>
            </a:r>
            <a:endParaRPr lang="en-US" sz="1100" dirty="0"/>
          </a:p>
        </p:txBody>
      </p:sp>
      <p:sp>
        <p:nvSpPr>
          <p:cNvPr id="48"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Decouple everything that scales differently</a:t>
            </a:r>
            <a:endParaRPr lang="en-US" sz="3000" dirty="0"/>
          </a:p>
        </p:txBody>
      </p:sp>
      <p:sp>
        <p:nvSpPr>
          <p:cNvPr id="3" name="Subtitle"/>
          <p:cNvSpPr txBox="1"/>
          <p:nvPr/>
        </p:nvSpPr>
        <p:spPr>
          <a:xfrm>
            <a:off x="457200" y="758952"/>
            <a:ext cx="8229600" cy="274320"/>
          </a:xfrm>
          <a:prstGeom prst="rect">
            <a:avLst/>
          </a:prstGeom>
          <a:noFill/>
          <a:ln/>
        </p:spPr>
        <p:txBody>
          <a:bodyPr wrap="square" lIns="0" tIns="0" rIns="0" bIns="0" rtlCol="0" anchor="ctr"/>
          <a:lstStyle/>
          <a:p>
            <a:pPr marL="0" indent="0">
              <a:buNone/>
            </a:pPr>
            <a:r>
              <a:rPr lang="en-US" sz="1400" dirty="0">
                <a:solidFill>
                  <a:srgbClr val="22D3EE"/>
                </a:solidFill>
                <a:latin typeface="Calibri" pitchFamily="34" charset="0"/>
                <a:ea typeface="Calibri" pitchFamily="34" charset="-122"/>
                <a:cs typeface="Calibri" pitchFamily="34" charset="-120"/>
              </a:rPr>
              <a:t>One insight, four isolated paths</a:t>
            </a:r>
            <a:endParaRPr lang="en-US" sz="1400" dirty="0"/>
          </a:p>
        </p:txBody>
      </p:sp>
      <p:sp>
        <p:nvSpPr>
          <p:cNvPr id="4" name="Footer"/>
          <p:cNvSpPr txBox="1"/>
          <p:nvPr/>
        </p:nvSpPr>
        <p:spPr>
          <a:xfrm>
            <a:off x="457200" y="4828032"/>
            <a:ext cx="3657600" cy="228600"/>
          </a:xfrm>
          <a:prstGeom prst="rect">
            <a:avLst/>
          </a:prstGeom>
          <a:noFill/>
          <a:ln/>
        </p:spPr>
        <p:txBody>
          <a:bodyPr wrap="square" lIns="0" tIns="0" rIns="0" bIns="0" rtlCol="0" anchor="ctr"/>
          <a:lstStyle/>
          <a:p>
            <a:pPr marL="0" indent="0">
              <a:buNone/>
            </a:pPr>
            <a:r>
              <a:rPr lang="en-US" sz="1000" dirty="0">
                <a:solidFill>
                  <a:srgbClr val="94A3B8"/>
                </a:solidFill>
              </a:rPr>
              <a:t>BackTrack · BOC 2.0 Final</a:t>
            </a:r>
            <a:endParaRPr lang="en-US" sz="1000" dirty="0"/>
          </a:p>
        </p:txBody>
      </p:sp>
      <p:sp>
        <p:nvSpPr>
          <p:cNvPr id="5" name="Shape 3"/>
          <p:cNvSpPr/>
          <p:nvPr/>
        </p:nvSpPr>
        <p:spPr>
          <a:xfrm>
            <a:off x="457200" y="1325880"/>
            <a:ext cx="1901952" cy="2926080"/>
          </a:xfrm>
          <a:prstGeom prst="roundRect">
            <a:avLst>
              <a:gd name="adj" fmla="val 3846"/>
            </a:avLst>
          </a:prstGeom>
          <a:solidFill>
            <a:srgbClr val="131A33"/>
          </a:solidFill>
          <a:ln w="12700">
            <a:solidFill>
              <a:srgbClr val="22D3EE"/>
            </a:solidFill>
            <a:prstDash val="solid"/>
          </a:ln>
        </p:spPr>
        <p:txBody>
          <a:bodyPr/>
          <a:lstStyle/>
          <a:p>
            <a:endParaRPr lang="en-US"/>
          </a:p>
        </p:txBody>
      </p:sp>
      <p:sp>
        <p:nvSpPr>
          <p:cNvPr id="6" name="Shape 4"/>
          <p:cNvSpPr/>
          <p:nvPr/>
        </p:nvSpPr>
        <p:spPr>
          <a:xfrm>
            <a:off x="594360" y="1463040"/>
            <a:ext cx="365760" cy="365760"/>
          </a:xfrm>
          <a:prstGeom prst="ellipse">
            <a:avLst/>
          </a:prstGeom>
          <a:solidFill>
            <a:srgbClr val="22D3EE"/>
          </a:solidFill>
          <a:ln w="12700">
            <a:solidFill>
              <a:srgbClr val="22D3EE"/>
            </a:solidFill>
            <a:prstDash val="solid"/>
          </a:ln>
        </p:spPr>
        <p:txBody>
          <a:bodyPr/>
          <a:lstStyle/>
          <a:p>
            <a:endParaRPr lang="en-US"/>
          </a:p>
        </p:txBody>
      </p:sp>
      <p:sp>
        <p:nvSpPr>
          <p:cNvPr id="7" name="Text 5"/>
          <p:cNvSpPr txBox="1"/>
          <p:nvPr/>
        </p:nvSpPr>
        <p:spPr>
          <a:xfrm>
            <a:off x="594360" y="1463040"/>
            <a:ext cx="365760" cy="365760"/>
          </a:xfrm>
          <a:prstGeom prst="rect">
            <a:avLst/>
          </a:prstGeom>
          <a:noFill/>
          <a:ln/>
        </p:spPr>
        <p:txBody>
          <a:bodyPr wrap="square" lIns="0" tIns="0" rIns="0" bIns="0" rtlCol="0" anchor="ctr"/>
          <a:lstStyle/>
          <a:p>
            <a:pPr marL="0" indent="0" algn="ctr">
              <a:buNone/>
            </a:pPr>
            <a:r>
              <a:rPr lang="en-US" sz="1400" b="1" dirty="0">
                <a:solidFill>
                  <a:srgbClr val="0B1020"/>
                </a:solidFill>
              </a:rPr>
              <a:t>1</a:t>
            </a:r>
            <a:endParaRPr lang="en-US" sz="1400" dirty="0"/>
          </a:p>
        </p:txBody>
      </p:sp>
      <p:sp>
        <p:nvSpPr>
          <p:cNvPr id="8" name="Text 6"/>
          <p:cNvSpPr txBox="1"/>
          <p:nvPr/>
        </p:nvSpPr>
        <p:spPr>
          <a:xfrm>
            <a:off x="594360" y="1965960"/>
            <a:ext cx="1645920" cy="320040"/>
          </a:xfrm>
          <a:prstGeom prst="rect">
            <a:avLst/>
          </a:prstGeom>
          <a:noFill/>
          <a:ln/>
        </p:spPr>
        <p:txBody>
          <a:bodyPr wrap="square" lIns="0" tIns="0" rIns="0" bIns="0" rtlCol="0" anchor="t"/>
          <a:lstStyle/>
          <a:p>
            <a:pPr marL="0" indent="0">
              <a:buNone/>
            </a:pPr>
            <a:r>
              <a:rPr lang="en-US" sz="1700" b="1" dirty="0">
                <a:solidFill>
                  <a:srgbClr val="F1F5F9"/>
                </a:solidFill>
              </a:rPr>
              <a:t>Media delivery</a:t>
            </a:r>
            <a:endParaRPr lang="en-US" sz="1700" dirty="0"/>
          </a:p>
        </p:txBody>
      </p:sp>
      <p:sp>
        <p:nvSpPr>
          <p:cNvPr id="9" name="Text 7"/>
          <p:cNvSpPr txBox="1"/>
          <p:nvPr/>
        </p:nvSpPr>
        <p:spPr>
          <a:xfrm>
            <a:off x="594360" y="2286000"/>
            <a:ext cx="1645920" cy="274320"/>
          </a:xfrm>
          <a:prstGeom prst="rect">
            <a:avLst/>
          </a:prstGeom>
          <a:noFill/>
          <a:ln/>
        </p:spPr>
        <p:txBody>
          <a:bodyPr wrap="square" lIns="0" tIns="0" rIns="0" bIns="0" rtlCol="0" anchor="t"/>
          <a:lstStyle/>
          <a:p>
            <a:pPr marL="0" indent="0">
              <a:buNone/>
            </a:pPr>
            <a:r>
              <a:rPr lang="en-US" sz="1300" b="1" dirty="0">
                <a:solidFill>
                  <a:srgbClr val="22D3EE"/>
                </a:solidFill>
              </a:rPr>
              <a:t>≠ app requests</a:t>
            </a:r>
            <a:endParaRPr lang="en-US" sz="1300" dirty="0"/>
          </a:p>
        </p:txBody>
      </p:sp>
      <p:sp>
        <p:nvSpPr>
          <p:cNvPr id="10" name="Text 8"/>
          <p:cNvSpPr txBox="1"/>
          <p:nvPr/>
        </p:nvSpPr>
        <p:spPr>
          <a:xfrm>
            <a:off x="594360" y="2743200"/>
            <a:ext cx="1645920" cy="1645920"/>
          </a:xfrm>
          <a:prstGeom prst="rect">
            <a:avLst/>
          </a:prstGeom>
          <a:noFill/>
          <a:ln/>
        </p:spPr>
        <p:txBody>
          <a:bodyPr wrap="square" lIns="0" tIns="0" rIns="0" bIns="0" rtlCol="0" anchor="t"/>
          <a:lstStyle/>
          <a:p>
            <a:pPr marL="0" indent="0">
              <a:buNone/>
            </a:pPr>
            <a:r>
              <a:rPr lang="en-US" sz="1200" dirty="0">
                <a:solidFill>
                  <a:srgbClr val="94A3B8"/>
                </a:solidFill>
              </a:rPr>
              <a:t>Signed URL → Cloud Storage → Eventarc → Cloud Run worker → CDN</a:t>
            </a:r>
            <a:endParaRPr lang="en-US" sz="1200" dirty="0"/>
          </a:p>
        </p:txBody>
      </p:sp>
      <p:sp>
        <p:nvSpPr>
          <p:cNvPr id="11" name="Shape 9"/>
          <p:cNvSpPr/>
          <p:nvPr/>
        </p:nvSpPr>
        <p:spPr>
          <a:xfrm>
            <a:off x="2542032" y="1325880"/>
            <a:ext cx="1901952" cy="2926080"/>
          </a:xfrm>
          <a:prstGeom prst="roundRect">
            <a:avLst>
              <a:gd name="adj" fmla="val 3846"/>
            </a:avLst>
          </a:prstGeom>
          <a:solidFill>
            <a:srgbClr val="131A33"/>
          </a:solidFill>
          <a:ln w="12700">
            <a:solidFill>
              <a:srgbClr val="818CF8"/>
            </a:solidFill>
            <a:prstDash val="solid"/>
          </a:ln>
        </p:spPr>
        <p:txBody>
          <a:bodyPr/>
          <a:lstStyle/>
          <a:p>
            <a:endParaRPr lang="en-US"/>
          </a:p>
        </p:txBody>
      </p:sp>
      <p:sp>
        <p:nvSpPr>
          <p:cNvPr id="12" name="Shape 10"/>
          <p:cNvSpPr/>
          <p:nvPr/>
        </p:nvSpPr>
        <p:spPr>
          <a:xfrm>
            <a:off x="2679192" y="1463040"/>
            <a:ext cx="365760" cy="365760"/>
          </a:xfrm>
          <a:prstGeom prst="ellipse">
            <a:avLst/>
          </a:prstGeom>
          <a:solidFill>
            <a:srgbClr val="818CF8"/>
          </a:solidFill>
          <a:ln w="12700">
            <a:solidFill>
              <a:srgbClr val="818CF8"/>
            </a:solidFill>
            <a:prstDash val="solid"/>
          </a:ln>
        </p:spPr>
        <p:txBody>
          <a:bodyPr/>
          <a:lstStyle/>
          <a:p>
            <a:endParaRPr lang="en-US"/>
          </a:p>
        </p:txBody>
      </p:sp>
      <p:sp>
        <p:nvSpPr>
          <p:cNvPr id="13" name="Text 11"/>
          <p:cNvSpPr txBox="1"/>
          <p:nvPr/>
        </p:nvSpPr>
        <p:spPr>
          <a:xfrm>
            <a:off x="2679192" y="1463040"/>
            <a:ext cx="365760" cy="365760"/>
          </a:xfrm>
          <a:prstGeom prst="rect">
            <a:avLst/>
          </a:prstGeom>
          <a:noFill/>
          <a:ln/>
        </p:spPr>
        <p:txBody>
          <a:bodyPr wrap="square" lIns="0" tIns="0" rIns="0" bIns="0" rtlCol="0" anchor="ctr"/>
          <a:lstStyle/>
          <a:p>
            <a:pPr marL="0" indent="0" algn="ctr">
              <a:buNone/>
            </a:pPr>
            <a:r>
              <a:rPr lang="en-US" sz="1400" b="1" dirty="0">
                <a:solidFill>
                  <a:srgbClr val="0B1020"/>
                </a:solidFill>
              </a:rPr>
              <a:t>2</a:t>
            </a:r>
            <a:endParaRPr lang="en-US" sz="1400" dirty="0"/>
          </a:p>
        </p:txBody>
      </p:sp>
      <p:sp>
        <p:nvSpPr>
          <p:cNvPr id="14" name="Text 12"/>
          <p:cNvSpPr txBox="1"/>
          <p:nvPr/>
        </p:nvSpPr>
        <p:spPr>
          <a:xfrm>
            <a:off x="2679192" y="1965960"/>
            <a:ext cx="1645920" cy="320040"/>
          </a:xfrm>
          <a:prstGeom prst="rect">
            <a:avLst/>
          </a:prstGeom>
          <a:noFill/>
          <a:ln/>
        </p:spPr>
        <p:txBody>
          <a:bodyPr wrap="square" lIns="0" tIns="0" rIns="0" bIns="0" rtlCol="0" anchor="t"/>
          <a:lstStyle/>
          <a:p>
            <a:pPr marL="0" indent="0">
              <a:buNone/>
            </a:pPr>
            <a:r>
              <a:rPr lang="en-US" sz="1700" b="1" dirty="0">
                <a:solidFill>
                  <a:srgbClr val="F1F5F9"/>
                </a:solidFill>
              </a:rPr>
              <a:t>Feed reads</a:t>
            </a:r>
            <a:endParaRPr lang="en-US" sz="1700" dirty="0"/>
          </a:p>
        </p:txBody>
      </p:sp>
      <p:sp>
        <p:nvSpPr>
          <p:cNvPr id="15" name="Text 13"/>
          <p:cNvSpPr txBox="1"/>
          <p:nvPr/>
        </p:nvSpPr>
        <p:spPr>
          <a:xfrm>
            <a:off x="2679192" y="2286000"/>
            <a:ext cx="1645920" cy="274320"/>
          </a:xfrm>
          <a:prstGeom prst="rect">
            <a:avLst/>
          </a:prstGeom>
          <a:noFill/>
          <a:ln/>
        </p:spPr>
        <p:txBody>
          <a:bodyPr wrap="square" lIns="0" tIns="0" rIns="0" bIns="0" rtlCol="0" anchor="t"/>
          <a:lstStyle/>
          <a:p>
            <a:pPr marL="0" indent="0">
              <a:buNone/>
            </a:pPr>
            <a:r>
              <a:rPr lang="en-US" sz="1300" b="1" dirty="0">
                <a:solidFill>
                  <a:srgbClr val="818CF8"/>
                </a:solidFill>
              </a:rPr>
              <a:t>≠ database writes</a:t>
            </a:r>
            <a:endParaRPr lang="en-US" sz="1300" dirty="0"/>
          </a:p>
        </p:txBody>
      </p:sp>
      <p:sp>
        <p:nvSpPr>
          <p:cNvPr id="16" name="Text 14"/>
          <p:cNvSpPr txBox="1"/>
          <p:nvPr/>
        </p:nvSpPr>
        <p:spPr>
          <a:xfrm>
            <a:off x="2679192" y="2743200"/>
            <a:ext cx="1645920" cy="1645920"/>
          </a:xfrm>
          <a:prstGeom prst="rect">
            <a:avLst/>
          </a:prstGeom>
          <a:noFill/>
          <a:ln/>
        </p:spPr>
        <p:txBody>
          <a:bodyPr wrap="square" lIns="0" tIns="0" rIns="0" bIns="0" rtlCol="0" anchor="t"/>
          <a:lstStyle/>
          <a:p>
            <a:pPr marL="0" indent="0">
              <a:buNone/>
            </a:pPr>
            <a:r>
              <a:rPr lang="en-US" sz="1200" dirty="0">
                <a:solidFill>
                  <a:srgbClr val="94A3B8"/>
                </a:solidFill>
              </a:rPr>
              <a:t>Redis-cached timelines + hybrid fan-out; Firestore stays the source of truth</a:t>
            </a:r>
            <a:endParaRPr lang="en-US" sz="1200" dirty="0"/>
          </a:p>
        </p:txBody>
      </p:sp>
      <p:sp>
        <p:nvSpPr>
          <p:cNvPr id="17" name="Shape 15"/>
          <p:cNvSpPr/>
          <p:nvPr/>
        </p:nvSpPr>
        <p:spPr>
          <a:xfrm>
            <a:off x="4626864" y="1325880"/>
            <a:ext cx="1901952" cy="2926080"/>
          </a:xfrm>
          <a:prstGeom prst="roundRect">
            <a:avLst>
              <a:gd name="adj" fmla="val 3846"/>
            </a:avLst>
          </a:prstGeom>
          <a:solidFill>
            <a:srgbClr val="131A33"/>
          </a:solidFill>
          <a:ln w="12700">
            <a:solidFill>
              <a:srgbClr val="F472B6"/>
            </a:solidFill>
            <a:prstDash val="solid"/>
          </a:ln>
        </p:spPr>
        <p:txBody>
          <a:bodyPr/>
          <a:lstStyle/>
          <a:p>
            <a:endParaRPr lang="en-US"/>
          </a:p>
        </p:txBody>
      </p:sp>
      <p:sp>
        <p:nvSpPr>
          <p:cNvPr id="18" name="Shape 16"/>
          <p:cNvSpPr/>
          <p:nvPr/>
        </p:nvSpPr>
        <p:spPr>
          <a:xfrm>
            <a:off x="4764024" y="1463040"/>
            <a:ext cx="365760" cy="365760"/>
          </a:xfrm>
          <a:prstGeom prst="ellipse">
            <a:avLst/>
          </a:prstGeom>
          <a:solidFill>
            <a:srgbClr val="F472B6"/>
          </a:solidFill>
          <a:ln w="12700">
            <a:solidFill>
              <a:srgbClr val="F472B6"/>
            </a:solidFill>
            <a:prstDash val="solid"/>
          </a:ln>
        </p:spPr>
        <p:txBody>
          <a:bodyPr/>
          <a:lstStyle/>
          <a:p>
            <a:endParaRPr lang="en-US"/>
          </a:p>
        </p:txBody>
      </p:sp>
      <p:sp>
        <p:nvSpPr>
          <p:cNvPr id="19" name="Text 17"/>
          <p:cNvSpPr txBox="1"/>
          <p:nvPr/>
        </p:nvSpPr>
        <p:spPr>
          <a:xfrm>
            <a:off x="4764024" y="1463040"/>
            <a:ext cx="365760" cy="365760"/>
          </a:xfrm>
          <a:prstGeom prst="rect">
            <a:avLst/>
          </a:prstGeom>
          <a:noFill/>
          <a:ln/>
        </p:spPr>
        <p:txBody>
          <a:bodyPr wrap="square" lIns="0" tIns="0" rIns="0" bIns="0" rtlCol="0" anchor="ctr"/>
          <a:lstStyle/>
          <a:p>
            <a:pPr marL="0" indent="0" algn="ctr">
              <a:buNone/>
            </a:pPr>
            <a:r>
              <a:rPr lang="en-US" sz="1400" b="1" dirty="0">
                <a:solidFill>
                  <a:srgbClr val="0B1020"/>
                </a:solidFill>
              </a:rPr>
              <a:t>3</a:t>
            </a:r>
            <a:endParaRPr lang="en-US" sz="1400" dirty="0"/>
          </a:p>
        </p:txBody>
      </p:sp>
      <p:sp>
        <p:nvSpPr>
          <p:cNvPr id="20" name="Text 18"/>
          <p:cNvSpPr txBox="1"/>
          <p:nvPr/>
        </p:nvSpPr>
        <p:spPr>
          <a:xfrm>
            <a:off x="4764024" y="1965960"/>
            <a:ext cx="1645920" cy="320040"/>
          </a:xfrm>
          <a:prstGeom prst="rect">
            <a:avLst/>
          </a:prstGeom>
          <a:noFill/>
          <a:ln/>
        </p:spPr>
        <p:txBody>
          <a:bodyPr wrap="square" lIns="0" tIns="0" rIns="0" bIns="0" rtlCol="0" anchor="t"/>
          <a:lstStyle/>
          <a:p>
            <a:pPr marL="0" indent="0">
              <a:buNone/>
            </a:pPr>
            <a:r>
              <a:rPr lang="en-US" sz="1700" b="1" dirty="0">
                <a:solidFill>
                  <a:srgbClr val="F1F5F9"/>
                </a:solidFill>
              </a:rPr>
              <a:t>Viral likes</a:t>
            </a:r>
            <a:endParaRPr lang="en-US" sz="1700" dirty="0"/>
          </a:p>
        </p:txBody>
      </p:sp>
      <p:sp>
        <p:nvSpPr>
          <p:cNvPr id="21" name="Text 19"/>
          <p:cNvSpPr txBox="1"/>
          <p:nvPr/>
        </p:nvSpPr>
        <p:spPr>
          <a:xfrm>
            <a:off x="4764024" y="2286000"/>
            <a:ext cx="1645920" cy="274320"/>
          </a:xfrm>
          <a:prstGeom prst="rect">
            <a:avLst/>
          </a:prstGeom>
          <a:noFill/>
          <a:ln/>
        </p:spPr>
        <p:txBody>
          <a:bodyPr wrap="square" lIns="0" tIns="0" rIns="0" bIns="0" rtlCol="0" anchor="t"/>
          <a:lstStyle/>
          <a:p>
            <a:pPr marL="0" indent="0">
              <a:buNone/>
            </a:pPr>
            <a:r>
              <a:rPr lang="en-US" sz="1300" b="1" dirty="0">
                <a:solidFill>
                  <a:srgbClr val="F472B6"/>
                </a:solidFill>
              </a:rPr>
              <a:t>≠ persistent storage</a:t>
            </a:r>
            <a:endParaRPr lang="en-US" sz="1300" dirty="0"/>
          </a:p>
        </p:txBody>
      </p:sp>
      <p:sp>
        <p:nvSpPr>
          <p:cNvPr id="22" name="Text 20"/>
          <p:cNvSpPr txBox="1"/>
          <p:nvPr/>
        </p:nvSpPr>
        <p:spPr>
          <a:xfrm>
            <a:off x="4764024" y="2743200"/>
            <a:ext cx="1645920" cy="1645920"/>
          </a:xfrm>
          <a:prstGeom prst="rect">
            <a:avLst/>
          </a:prstGeom>
          <a:noFill/>
          <a:ln/>
        </p:spPr>
        <p:txBody>
          <a:bodyPr wrap="square" lIns="0" tIns="0" rIns="0" bIns="0" rtlCol="0" anchor="t"/>
          <a:lstStyle/>
          <a:p>
            <a:pPr marL="0" indent="0">
              <a:buNone/>
            </a:pPr>
            <a:r>
              <a:rPr lang="en-US" sz="1200" dirty="0">
                <a:solidFill>
                  <a:srgbClr val="94A3B8"/>
                </a:solidFill>
              </a:rPr>
              <a:t>Redis INCR absorbs bursts; micro-batch flush to Firestore every 5 s</a:t>
            </a:r>
            <a:endParaRPr lang="en-US" sz="1200" dirty="0"/>
          </a:p>
        </p:txBody>
      </p:sp>
      <p:sp>
        <p:nvSpPr>
          <p:cNvPr id="23" name="Shape 21"/>
          <p:cNvSpPr/>
          <p:nvPr/>
        </p:nvSpPr>
        <p:spPr>
          <a:xfrm>
            <a:off x="6711696" y="1325880"/>
            <a:ext cx="1901952" cy="2926080"/>
          </a:xfrm>
          <a:prstGeom prst="roundRect">
            <a:avLst>
              <a:gd name="adj" fmla="val 3846"/>
            </a:avLst>
          </a:prstGeom>
          <a:solidFill>
            <a:srgbClr val="131A33"/>
          </a:solidFill>
          <a:ln w="12700">
            <a:solidFill>
              <a:srgbClr val="34D399"/>
            </a:solidFill>
            <a:prstDash val="solid"/>
          </a:ln>
        </p:spPr>
        <p:txBody>
          <a:bodyPr/>
          <a:lstStyle/>
          <a:p>
            <a:endParaRPr lang="en-US"/>
          </a:p>
        </p:txBody>
      </p:sp>
      <p:sp>
        <p:nvSpPr>
          <p:cNvPr id="24" name="Shape 22"/>
          <p:cNvSpPr/>
          <p:nvPr/>
        </p:nvSpPr>
        <p:spPr>
          <a:xfrm>
            <a:off x="6848856" y="1463040"/>
            <a:ext cx="365760" cy="365760"/>
          </a:xfrm>
          <a:prstGeom prst="ellipse">
            <a:avLst/>
          </a:prstGeom>
          <a:solidFill>
            <a:srgbClr val="34D399"/>
          </a:solidFill>
          <a:ln w="12700">
            <a:solidFill>
              <a:srgbClr val="34D399"/>
            </a:solidFill>
            <a:prstDash val="solid"/>
          </a:ln>
        </p:spPr>
        <p:txBody>
          <a:bodyPr/>
          <a:lstStyle/>
          <a:p>
            <a:endParaRPr lang="en-US"/>
          </a:p>
        </p:txBody>
      </p:sp>
      <p:sp>
        <p:nvSpPr>
          <p:cNvPr id="25" name="Text 23"/>
          <p:cNvSpPr txBox="1"/>
          <p:nvPr/>
        </p:nvSpPr>
        <p:spPr>
          <a:xfrm>
            <a:off x="6848856" y="1463040"/>
            <a:ext cx="365760" cy="365760"/>
          </a:xfrm>
          <a:prstGeom prst="rect">
            <a:avLst/>
          </a:prstGeom>
          <a:noFill/>
          <a:ln/>
        </p:spPr>
        <p:txBody>
          <a:bodyPr wrap="square" lIns="0" tIns="0" rIns="0" bIns="0" rtlCol="0" anchor="ctr"/>
          <a:lstStyle/>
          <a:p>
            <a:pPr marL="0" indent="0" algn="ctr">
              <a:buNone/>
            </a:pPr>
            <a:r>
              <a:rPr lang="en-US" sz="1400" b="1" dirty="0">
                <a:solidFill>
                  <a:srgbClr val="0B1020"/>
                </a:solidFill>
              </a:rPr>
              <a:t>4</a:t>
            </a:r>
            <a:endParaRPr lang="en-US" sz="1400" dirty="0"/>
          </a:p>
        </p:txBody>
      </p:sp>
      <p:sp>
        <p:nvSpPr>
          <p:cNvPr id="26" name="Text 24"/>
          <p:cNvSpPr txBox="1"/>
          <p:nvPr/>
        </p:nvSpPr>
        <p:spPr>
          <a:xfrm>
            <a:off x="6848856" y="1965960"/>
            <a:ext cx="1645920" cy="320040"/>
          </a:xfrm>
          <a:prstGeom prst="rect">
            <a:avLst/>
          </a:prstGeom>
          <a:noFill/>
          <a:ln/>
        </p:spPr>
        <p:txBody>
          <a:bodyPr wrap="square" lIns="0" tIns="0" rIns="0" bIns="0" rtlCol="0" anchor="t"/>
          <a:lstStyle/>
          <a:p>
            <a:pPr marL="0" indent="0">
              <a:buNone/>
            </a:pPr>
            <a:r>
              <a:rPr lang="en-US" sz="1700" b="1" dirty="0">
                <a:solidFill>
                  <a:srgbClr val="F1F5F9"/>
                </a:solidFill>
              </a:rPr>
              <a:t>Real-time</a:t>
            </a:r>
            <a:endParaRPr lang="en-US" sz="1700" dirty="0"/>
          </a:p>
        </p:txBody>
      </p:sp>
      <p:sp>
        <p:nvSpPr>
          <p:cNvPr id="27" name="Text 25"/>
          <p:cNvSpPr txBox="1"/>
          <p:nvPr/>
        </p:nvSpPr>
        <p:spPr>
          <a:xfrm>
            <a:off x="6848856" y="2286000"/>
            <a:ext cx="1645920" cy="274320"/>
          </a:xfrm>
          <a:prstGeom prst="rect">
            <a:avLst/>
          </a:prstGeom>
          <a:noFill/>
          <a:ln/>
        </p:spPr>
        <p:txBody>
          <a:bodyPr wrap="square" lIns="0" tIns="0" rIns="0" bIns="0" rtlCol="0" anchor="t"/>
          <a:lstStyle/>
          <a:p>
            <a:pPr marL="0" indent="0">
              <a:buNone/>
            </a:pPr>
            <a:r>
              <a:rPr lang="en-US" sz="1300" b="1" dirty="0">
                <a:solidFill>
                  <a:srgbClr val="34D399"/>
                </a:solidFill>
              </a:rPr>
              <a:t>≠ stateless containers</a:t>
            </a:r>
            <a:endParaRPr lang="en-US" sz="1300" dirty="0"/>
          </a:p>
        </p:txBody>
      </p:sp>
      <p:sp>
        <p:nvSpPr>
          <p:cNvPr id="28" name="Text 26"/>
          <p:cNvSpPr txBox="1"/>
          <p:nvPr/>
        </p:nvSpPr>
        <p:spPr>
          <a:xfrm>
            <a:off x="6848856" y="2743200"/>
            <a:ext cx="1645920" cy="1645920"/>
          </a:xfrm>
          <a:prstGeom prst="rect">
            <a:avLst/>
          </a:prstGeom>
          <a:noFill/>
          <a:ln/>
        </p:spPr>
        <p:txBody>
          <a:bodyPr wrap="square" lIns="0" tIns="0" rIns="0" bIns="0" rtlCol="0" anchor="t"/>
          <a:lstStyle/>
          <a:p>
            <a:pPr marL="0" indent="0">
              <a:buNone/>
            </a:pPr>
            <a:r>
              <a:rPr lang="en-US" sz="1200" dirty="0">
                <a:solidFill>
                  <a:srgbClr val="94A3B8"/>
                </a:solidFill>
              </a:rPr>
              <a:t>Redis Pub/Sub backplane connects every Cloud Run WebSocket instance</a:t>
            </a:r>
            <a:endParaRPr lang="en-US" sz="1200" dirty="0"/>
          </a:p>
        </p:txBody>
      </p:sp>
      <p:sp>
        <p:nvSpPr>
          <p:cNvPr id="29" name="Text 27"/>
          <p:cNvSpPr txBox="1"/>
          <p:nvPr/>
        </p:nvSpPr>
        <p:spPr>
          <a:xfrm>
            <a:off x="457200" y="4572000"/>
            <a:ext cx="8229600" cy="228600"/>
          </a:xfrm>
          <a:prstGeom prst="rect">
            <a:avLst/>
          </a:prstGeom>
          <a:noFill/>
          <a:ln/>
        </p:spPr>
        <p:txBody>
          <a:bodyPr wrap="square" lIns="0" tIns="0" rIns="0" bIns="0" rtlCol="0" anchor="t"/>
          <a:lstStyle/>
          <a:p>
            <a:pPr marL="0" indent="0">
              <a:buNone/>
            </a:pPr>
            <a:r>
              <a:rPr lang="en-US" sz="1200" b="1" dirty="0">
                <a:solidFill>
                  <a:srgbClr val="22D3EE"/>
                </a:solidFill>
              </a:rPr>
              <a:t>Highly decoupled · event-driven · cloud-native on Google Cloud</a:t>
            </a:r>
            <a:endParaRPr lang="en-US" sz="1200" dirty="0"/>
          </a:p>
        </p:txBody>
      </p:sp>
      <p:sp>
        <p:nvSpPr>
          <p:cNvPr id="30"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Cloud architecture</a:t>
            </a:r>
            <a:endParaRPr lang="en-US" sz="3000" dirty="0"/>
          </a:p>
        </p:txBody>
      </p:sp>
      <p:sp>
        <p:nvSpPr>
          <p:cNvPr id="3" name="Footer"/>
          <p:cNvSpPr txBox="1"/>
          <p:nvPr/>
        </p:nvSpPr>
        <p:spPr>
          <a:xfrm>
            <a:off x="457200" y="4828032"/>
            <a:ext cx="3657600" cy="228600"/>
          </a:xfrm>
          <a:prstGeom prst="rect">
            <a:avLst/>
          </a:prstGeom>
          <a:noFill/>
          <a:ln/>
        </p:spPr>
        <p:txBody>
          <a:bodyPr wrap="square" lIns="0" tIns="0" rIns="0" bIns="0" rtlCol="0" anchor="ctr"/>
          <a:lstStyle/>
          <a:p>
            <a:pPr marL="0" indent="0">
              <a:buNone/>
            </a:pPr>
            <a:r>
              <a:rPr lang="en-US" sz="1000" dirty="0">
                <a:solidFill>
                  <a:srgbClr val="94A3B8"/>
                </a:solidFill>
              </a:rPr>
              <a:t>BackTrack · BOC 2.0 Final</a:t>
            </a:r>
            <a:endParaRPr lang="en-US" sz="1000" dirty="0"/>
          </a:p>
        </p:txBody>
      </p:sp>
      <p:pic>
        <p:nvPicPr>
          <p:cNvPr id="950" name="Architecture Diagram" descr="BackTrack cloud architecture: edge layer, Cloud Run feed API, Redis, Firestore, WebSocket gateway, and Eventarc media pipeline"/>
          <p:cNvPicPr>
            <a:picLocks noChangeAspect="1"/>
          </p:cNvPicPr>
          <p:nvPr/>
        </p:nvPicPr>
        <p:blipFill>
          <a:blip r:embed="rIdArch"/>
          <a:stretch>
            <a:fillRect/>
          </a:stretch>
        </p:blipFill>
        <p:spPr>
          <a:xfrm>
            <a:off x="1089000" y="800000"/>
            <a:ext cx="6966000" cy="3980000"/>
          </a:xfrm>
          <a:prstGeom prst="rect">
            <a:avLst/>
          </a:prstGeom>
        </p:spPr>
      </p:pic>
      <p:sp>
        <p:nvSpPr>
          <p:cNvPr id="951" name="Arch Caption"/>
          <p:cNvSpPr txBox="1"/>
          <p:nvPr/>
        </p:nvSpPr>
        <p:spPr>
          <a:xfrm>
            <a:off x="4114800" y="4828032"/>
            <a:ext cx="4572000" cy="228600"/>
          </a:xfrm>
          <a:prstGeom prst="rect">
            <a:avLst/>
          </a:prstGeom>
          <a:noFill/>
        </p:spPr>
        <p:txBody>
          <a:bodyPr wrap="square" lIns="0" tIns="0" rIns="0" bIns="0" rtlCol="0" anchor="ctr"/>
          <a:lstStyle/>
          <a:p>
            <a:pPr algn="r"/>
            <a:r>
              <a:rPr lang="en-US" sz="1000" i="1" dirty="0">
                <a:solidFill>
                  <a:srgbClr val="F59E0B"/>
                </a:solidFill>
              </a:rPr>
              <a:t>Target architecture. CDN and Elasticsearch are not in the MVP.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Why these GCP services?</a:t>
            </a:r>
            <a:endParaRPr lang="en-US" sz="3000" dirty="0"/>
          </a:p>
        </p:txBody>
      </p:sp>
      <p:sp>
        <p:nvSpPr>
          <p:cNvPr id="3" name="Subtitle"/>
          <p:cNvSpPr txBox="1"/>
          <p:nvPr/>
        </p:nvSpPr>
        <p:spPr>
          <a:xfrm>
            <a:off x="457200" y="758952"/>
            <a:ext cx="8229600" cy="274320"/>
          </a:xfrm>
          <a:prstGeom prst="rect">
            <a:avLst/>
          </a:prstGeom>
          <a:noFill/>
          <a:ln/>
        </p:spPr>
        <p:txBody>
          <a:bodyPr wrap="square" lIns="0" tIns="0" rIns="0" bIns="0" rtlCol="0" anchor="ctr"/>
          <a:lstStyle/>
          <a:p>
            <a:pPr marL="0" indent="0">
              <a:buNone/>
            </a:pPr>
            <a:r>
              <a:rPr lang="en-US" sz="1400" dirty="0">
                <a:solidFill>
                  <a:srgbClr val="22D3EE"/>
                </a:solidFill>
                <a:latin typeface="Calibri" pitchFamily="34" charset="0"/>
                <a:ea typeface="Calibri" pitchFamily="34" charset="-122"/>
                <a:cs typeface="Calibri" pitchFamily="34" charset="-120"/>
              </a:rPr>
              <a:t>Service → problem → reason</a:t>
            </a:r>
            <a:endParaRPr lang="en-US" sz="1400" dirty="0"/>
          </a:p>
        </p:txBody>
      </p:sp>
      <p:sp>
        <p:nvSpPr>
          <p:cNvPr id="4" name="Footer"/>
          <p:cNvSpPr txBox="1"/>
          <p:nvPr/>
        </p:nvSpPr>
        <p:spPr>
          <a:xfrm>
            <a:off x="457200" y="4828032"/>
            <a:ext cx="3657600" cy="228600"/>
          </a:xfrm>
          <a:prstGeom prst="rect">
            <a:avLst/>
          </a:prstGeom>
          <a:noFill/>
          <a:ln/>
        </p:spPr>
        <p:txBody>
          <a:bodyPr wrap="square" lIns="0" tIns="0" rIns="0" bIns="0" rtlCol="0" anchor="ctr"/>
          <a:lstStyle/>
          <a:p>
            <a:pPr marL="0" indent="0">
              <a:buNone/>
            </a:pPr>
            <a:r>
              <a:rPr lang="en-US" sz="1000" dirty="0">
                <a:solidFill>
                  <a:srgbClr val="94A3B8"/>
                </a:solidFill>
              </a:rPr>
              <a:t>BackTrack · BOC 2.0 Final</a:t>
            </a:r>
            <a:endParaRPr lang="en-US" sz="1000" dirty="0"/>
          </a:p>
        </p:txBody>
      </p:sp>
      <p:sp>
        <p:nvSpPr>
          <p:cNvPr id="5" name="Shape 3"/>
          <p:cNvSpPr/>
          <p:nvPr/>
        </p:nvSpPr>
        <p:spPr>
          <a:xfrm>
            <a:off x="457200" y="1234440"/>
            <a:ext cx="1901952" cy="1600200"/>
          </a:xfrm>
          <a:prstGeom prst="roundRect">
            <a:avLst>
              <a:gd name="adj" fmla="val 4571"/>
            </a:avLst>
          </a:prstGeom>
          <a:solidFill>
            <a:srgbClr val="131A33"/>
          </a:solidFill>
          <a:ln w="12700">
            <a:solidFill>
              <a:srgbClr val="22D3EE"/>
            </a:solidFill>
            <a:prstDash val="solid"/>
          </a:ln>
        </p:spPr>
        <p:txBody>
          <a:bodyPr/>
          <a:lstStyle/>
          <a:p>
            <a:endParaRPr lang="en-US"/>
          </a:p>
        </p:txBody>
      </p:sp>
      <p:sp>
        <p:nvSpPr>
          <p:cNvPr id="6" name="Text 4"/>
          <p:cNvSpPr txBox="1"/>
          <p:nvPr/>
        </p:nvSpPr>
        <p:spPr>
          <a:xfrm>
            <a:off x="566928" y="1325880"/>
            <a:ext cx="1691640" cy="274320"/>
          </a:xfrm>
          <a:prstGeom prst="rect">
            <a:avLst/>
          </a:prstGeom>
          <a:noFill/>
          <a:ln/>
        </p:spPr>
        <p:txBody>
          <a:bodyPr wrap="square" lIns="0" tIns="0" rIns="0" bIns="0" rtlCol="0" anchor="t"/>
          <a:lstStyle/>
          <a:p>
            <a:pPr marL="0" indent="0">
              <a:buNone/>
            </a:pPr>
            <a:r>
              <a:rPr lang="en-US" sz="1400" b="1" dirty="0">
                <a:solidFill>
                  <a:srgbClr val="22D3EE"/>
                </a:solidFill>
              </a:rPr>
              <a:t>Cloud Storage</a:t>
            </a:r>
            <a:endParaRPr lang="en-US" sz="1400" dirty="0"/>
          </a:p>
        </p:txBody>
      </p:sp>
      <p:sp>
        <p:nvSpPr>
          <p:cNvPr id="7" name="Text 5"/>
          <p:cNvSpPr txBox="1"/>
          <p:nvPr/>
        </p:nvSpPr>
        <p:spPr>
          <a:xfrm>
            <a:off x="566928" y="1645920"/>
            <a:ext cx="1691640" cy="566928"/>
          </a:xfrm>
          <a:prstGeom prst="rect">
            <a:avLst/>
          </a:prstGeom>
          <a:noFill/>
          <a:ln/>
        </p:spPr>
        <p:txBody>
          <a:bodyPr wrap="square" lIns="0" tIns="0" rIns="0" bIns="0" rtlCol="0" anchor="t"/>
          <a:lstStyle/>
          <a:p>
            <a:pPr marL="0" indent="0">
              <a:buNone/>
            </a:pPr>
            <a:r>
              <a:rPr lang="en-US" sz="1100" b="1" dirty="0">
                <a:solidFill>
                  <a:srgbClr val="94A3B8"/>
                </a:solidFill>
              </a:rPr>
              <a:t>Problem  </a:t>
            </a:r>
            <a:r>
              <a:rPr lang="en-US" sz="1100" dirty="0">
                <a:solidFill>
                  <a:srgbClr val="F1F5F9"/>
                </a:solidFill>
              </a:rPr>
              <a:t>Uploads must not consume API compute</a:t>
            </a:r>
            <a:endParaRPr lang="en-US" sz="1100" dirty="0"/>
          </a:p>
        </p:txBody>
      </p:sp>
      <p:sp>
        <p:nvSpPr>
          <p:cNvPr id="8" name="Text 6"/>
          <p:cNvSpPr txBox="1"/>
          <p:nvPr/>
        </p:nvSpPr>
        <p:spPr>
          <a:xfrm>
            <a:off x="566928" y="2221992"/>
            <a:ext cx="1691640" cy="566928"/>
          </a:xfrm>
          <a:prstGeom prst="rect">
            <a:avLst/>
          </a:prstGeom>
          <a:noFill/>
          <a:ln/>
        </p:spPr>
        <p:txBody>
          <a:bodyPr wrap="square" lIns="0" tIns="0" rIns="0" bIns="0" rtlCol="0" anchor="t"/>
          <a:lstStyle/>
          <a:p>
            <a:pPr marL="0" indent="0">
              <a:buNone/>
            </a:pPr>
            <a:r>
              <a:rPr lang="en-US" sz="1100" b="1" dirty="0">
                <a:solidFill>
                  <a:srgbClr val="94A3B8"/>
                </a:solidFill>
              </a:rPr>
              <a:t>Why  </a:t>
            </a:r>
            <a:r>
              <a:rPr lang="en-US" sz="1100" dirty="0">
                <a:solidFill>
                  <a:srgbClr val="F1F5F9"/>
                </a:solidFill>
              </a:rPr>
              <a:t>Direct signed-URL upload keeps payloads off servers</a:t>
            </a:r>
            <a:endParaRPr lang="en-US" sz="1100" dirty="0"/>
          </a:p>
        </p:txBody>
      </p:sp>
      <p:sp>
        <p:nvSpPr>
          <p:cNvPr id="9" name="Shape 7"/>
          <p:cNvSpPr/>
          <p:nvPr/>
        </p:nvSpPr>
        <p:spPr>
          <a:xfrm>
            <a:off x="2542032" y="1234440"/>
            <a:ext cx="1901952" cy="1600200"/>
          </a:xfrm>
          <a:prstGeom prst="roundRect">
            <a:avLst>
              <a:gd name="adj" fmla="val 4571"/>
            </a:avLst>
          </a:prstGeom>
          <a:solidFill>
            <a:srgbClr val="131A33"/>
          </a:solidFill>
          <a:ln w="12700">
            <a:solidFill>
              <a:srgbClr val="FBBF24"/>
            </a:solidFill>
            <a:prstDash val="solid"/>
          </a:ln>
        </p:spPr>
        <p:txBody>
          <a:bodyPr/>
          <a:lstStyle/>
          <a:p>
            <a:endParaRPr lang="en-US"/>
          </a:p>
        </p:txBody>
      </p:sp>
      <p:sp>
        <p:nvSpPr>
          <p:cNvPr id="10" name="Text 8"/>
          <p:cNvSpPr txBox="1"/>
          <p:nvPr/>
        </p:nvSpPr>
        <p:spPr>
          <a:xfrm>
            <a:off x="2651760" y="1325880"/>
            <a:ext cx="1691640" cy="274320"/>
          </a:xfrm>
          <a:prstGeom prst="rect">
            <a:avLst/>
          </a:prstGeom>
          <a:noFill/>
          <a:ln/>
        </p:spPr>
        <p:txBody>
          <a:bodyPr wrap="square" lIns="0" tIns="0" rIns="0" bIns="0" rtlCol="0" anchor="t"/>
          <a:lstStyle/>
          <a:p>
            <a:pPr marL="0" indent="0">
              <a:buNone/>
            </a:pPr>
            <a:r>
              <a:rPr lang="en-US" sz="1400" b="1" dirty="0">
                <a:solidFill>
                  <a:srgbClr val="FBBF24"/>
                </a:solidFill>
              </a:rPr>
              <a:t>Cloud CDN</a:t>
            </a:r>
            <a:endParaRPr lang="en-US" sz="1400" dirty="0"/>
          </a:p>
        </p:txBody>
      </p:sp>
      <p:sp>
        <p:nvSpPr>
          <p:cNvPr id="11" name="Text 9"/>
          <p:cNvSpPr txBox="1"/>
          <p:nvPr/>
        </p:nvSpPr>
        <p:spPr>
          <a:xfrm>
            <a:off x="2651760" y="1645920"/>
            <a:ext cx="1691640" cy="566928"/>
          </a:xfrm>
          <a:prstGeom prst="rect">
            <a:avLst/>
          </a:prstGeom>
          <a:noFill/>
          <a:ln/>
        </p:spPr>
        <p:txBody>
          <a:bodyPr wrap="square" lIns="0" tIns="0" rIns="0" bIns="0" rtlCol="0" anchor="t"/>
          <a:lstStyle/>
          <a:p>
            <a:pPr marL="0" indent="0">
              <a:buNone/>
            </a:pPr>
            <a:r>
              <a:rPr lang="en-US" sz="1100" b="1" dirty="0">
                <a:solidFill>
                  <a:srgbClr val="94A3B8"/>
                </a:solidFill>
              </a:rPr>
              <a:t>Problem  </a:t>
            </a:r>
            <a:r>
              <a:rPr lang="en-US" sz="1100" dirty="0">
                <a:solidFill>
                  <a:srgbClr val="F1F5F9"/>
                </a:solidFill>
              </a:rPr>
              <a:t>Repeat global reads create origin load + egress</a:t>
            </a:r>
            <a:endParaRPr lang="en-US" sz="1100" dirty="0"/>
          </a:p>
        </p:txBody>
      </p:sp>
      <p:sp>
        <p:nvSpPr>
          <p:cNvPr id="12" name="Text 10"/>
          <p:cNvSpPr txBox="1"/>
          <p:nvPr/>
        </p:nvSpPr>
        <p:spPr>
          <a:xfrm>
            <a:off x="2651760" y="2221992"/>
            <a:ext cx="1691640" cy="566928"/>
          </a:xfrm>
          <a:prstGeom prst="rect">
            <a:avLst/>
          </a:prstGeom>
          <a:noFill/>
          <a:ln/>
        </p:spPr>
        <p:txBody>
          <a:bodyPr wrap="square" lIns="0" tIns="0" rIns="0" bIns="0" rtlCol="0" anchor="t"/>
          <a:lstStyle/>
          <a:p>
            <a:pPr marL="0" indent="0">
              <a:buNone/>
            </a:pPr>
            <a:r>
              <a:rPr lang="en-US" sz="1100" b="1" dirty="0">
                <a:solidFill>
                  <a:srgbClr val="94A3B8"/>
                </a:solidFill>
              </a:rPr>
              <a:t>Why  </a:t>
            </a:r>
            <a:r>
              <a:rPr lang="en-US" sz="1100" dirty="0">
                <a:solidFill>
                  <a:srgbClr val="F1F5F9"/>
                </a:solidFill>
              </a:rPr>
              <a:t>Edge caching serves hot media near users</a:t>
            </a:r>
            <a:endParaRPr lang="en-US" sz="1100" dirty="0"/>
          </a:p>
        </p:txBody>
      </p:sp>
      <p:sp>
        <p:nvSpPr>
          <p:cNvPr id="13" name="Shape 11"/>
          <p:cNvSpPr/>
          <p:nvPr/>
        </p:nvSpPr>
        <p:spPr>
          <a:xfrm>
            <a:off x="4626864" y="1234440"/>
            <a:ext cx="1901952" cy="1600200"/>
          </a:xfrm>
          <a:prstGeom prst="roundRect">
            <a:avLst>
              <a:gd name="adj" fmla="val 4571"/>
            </a:avLst>
          </a:prstGeom>
          <a:solidFill>
            <a:srgbClr val="131A33"/>
          </a:solidFill>
          <a:ln w="12700">
            <a:solidFill>
              <a:srgbClr val="818CF8"/>
            </a:solidFill>
            <a:prstDash val="solid"/>
          </a:ln>
        </p:spPr>
        <p:txBody>
          <a:bodyPr/>
          <a:lstStyle/>
          <a:p>
            <a:endParaRPr lang="en-US"/>
          </a:p>
        </p:txBody>
      </p:sp>
      <p:sp>
        <p:nvSpPr>
          <p:cNvPr id="14" name="Text 12"/>
          <p:cNvSpPr txBox="1"/>
          <p:nvPr/>
        </p:nvSpPr>
        <p:spPr>
          <a:xfrm>
            <a:off x="4736592" y="1325880"/>
            <a:ext cx="1691640" cy="274320"/>
          </a:xfrm>
          <a:prstGeom prst="rect">
            <a:avLst/>
          </a:prstGeom>
          <a:noFill/>
          <a:ln/>
        </p:spPr>
        <p:txBody>
          <a:bodyPr wrap="square" lIns="0" tIns="0" rIns="0" bIns="0" rtlCol="0" anchor="t"/>
          <a:lstStyle/>
          <a:p>
            <a:pPr marL="0" indent="0">
              <a:buNone/>
            </a:pPr>
            <a:r>
              <a:rPr lang="en-US" sz="1400" b="1" dirty="0">
                <a:solidFill>
                  <a:srgbClr val="818CF8"/>
                </a:solidFill>
              </a:rPr>
              <a:t>Cloud Run</a:t>
            </a:r>
            <a:endParaRPr lang="en-US" sz="1400" dirty="0"/>
          </a:p>
        </p:txBody>
      </p:sp>
      <p:sp>
        <p:nvSpPr>
          <p:cNvPr id="15" name="Text 13"/>
          <p:cNvSpPr txBox="1"/>
          <p:nvPr/>
        </p:nvSpPr>
        <p:spPr>
          <a:xfrm>
            <a:off x="4736592" y="1645920"/>
            <a:ext cx="1691640" cy="566928"/>
          </a:xfrm>
          <a:prstGeom prst="rect">
            <a:avLst/>
          </a:prstGeom>
          <a:noFill/>
          <a:ln/>
        </p:spPr>
        <p:txBody>
          <a:bodyPr wrap="square" lIns="0" tIns="0" rIns="0" bIns="0" rtlCol="0" anchor="t"/>
          <a:lstStyle/>
          <a:p>
            <a:pPr marL="0" indent="0">
              <a:buNone/>
            </a:pPr>
            <a:r>
              <a:rPr lang="en-US" sz="1100" b="1" dirty="0">
                <a:solidFill>
                  <a:srgbClr val="94A3B8"/>
                </a:solidFill>
              </a:rPr>
              <a:t>Problem  </a:t>
            </a:r>
            <a:r>
              <a:rPr lang="en-US" sz="1100" dirty="0">
                <a:solidFill>
                  <a:srgbClr val="F1F5F9"/>
                </a:solidFill>
              </a:rPr>
              <a:t>Traffic is unpredictable and can go viral</a:t>
            </a:r>
            <a:endParaRPr lang="en-US" sz="1100" dirty="0"/>
          </a:p>
        </p:txBody>
      </p:sp>
      <p:sp>
        <p:nvSpPr>
          <p:cNvPr id="16" name="Text 14"/>
          <p:cNvSpPr txBox="1"/>
          <p:nvPr/>
        </p:nvSpPr>
        <p:spPr>
          <a:xfrm>
            <a:off x="4736592" y="2221992"/>
            <a:ext cx="1691640" cy="566928"/>
          </a:xfrm>
          <a:prstGeom prst="rect">
            <a:avLst/>
          </a:prstGeom>
          <a:noFill/>
          <a:ln/>
        </p:spPr>
        <p:txBody>
          <a:bodyPr wrap="square" lIns="0" tIns="0" rIns="0" bIns="0" rtlCol="0" anchor="t"/>
          <a:lstStyle/>
          <a:p>
            <a:pPr marL="0" indent="0">
              <a:buNone/>
            </a:pPr>
            <a:r>
              <a:rPr lang="en-US" sz="1100" b="1" dirty="0">
                <a:solidFill>
                  <a:srgbClr val="94A3B8"/>
                </a:solidFill>
              </a:rPr>
              <a:t>Why  </a:t>
            </a:r>
            <a:r>
              <a:rPr lang="en-US" sz="1100" dirty="0">
                <a:solidFill>
                  <a:srgbClr val="F1F5F9"/>
                </a:solidFill>
              </a:rPr>
              <a:t>Serverless containers: auto-scale, scale to zero</a:t>
            </a:r>
            <a:endParaRPr lang="en-US" sz="1100" dirty="0"/>
          </a:p>
        </p:txBody>
      </p:sp>
      <p:sp>
        <p:nvSpPr>
          <p:cNvPr id="17" name="Shape 15"/>
          <p:cNvSpPr/>
          <p:nvPr/>
        </p:nvSpPr>
        <p:spPr>
          <a:xfrm>
            <a:off x="6711696" y="1234440"/>
            <a:ext cx="1901952" cy="1600200"/>
          </a:xfrm>
          <a:prstGeom prst="roundRect">
            <a:avLst>
              <a:gd name="adj" fmla="val 4571"/>
            </a:avLst>
          </a:prstGeom>
          <a:solidFill>
            <a:srgbClr val="131A33"/>
          </a:solidFill>
          <a:ln w="12700">
            <a:solidFill>
              <a:srgbClr val="22D3EE"/>
            </a:solidFill>
            <a:prstDash val="solid"/>
          </a:ln>
        </p:spPr>
        <p:txBody>
          <a:bodyPr/>
          <a:lstStyle/>
          <a:p>
            <a:endParaRPr lang="en-US"/>
          </a:p>
        </p:txBody>
      </p:sp>
      <p:sp>
        <p:nvSpPr>
          <p:cNvPr id="18" name="Text 16"/>
          <p:cNvSpPr txBox="1"/>
          <p:nvPr/>
        </p:nvSpPr>
        <p:spPr>
          <a:xfrm>
            <a:off x="6821424" y="1325880"/>
            <a:ext cx="1691640" cy="274320"/>
          </a:xfrm>
          <a:prstGeom prst="rect">
            <a:avLst/>
          </a:prstGeom>
          <a:noFill/>
          <a:ln/>
        </p:spPr>
        <p:txBody>
          <a:bodyPr wrap="square" lIns="0" tIns="0" rIns="0" bIns="0" rtlCol="0" anchor="t"/>
          <a:lstStyle/>
          <a:p>
            <a:pPr marL="0" indent="0">
              <a:buNone/>
            </a:pPr>
            <a:r>
              <a:rPr lang="en-US" sz="1400" b="1" dirty="0">
                <a:solidFill>
                  <a:srgbClr val="22D3EE"/>
                </a:solidFill>
              </a:rPr>
              <a:t>Eventarc / Pub/Sub</a:t>
            </a:r>
            <a:endParaRPr lang="en-US" sz="1400" dirty="0"/>
          </a:p>
        </p:txBody>
      </p:sp>
      <p:sp>
        <p:nvSpPr>
          <p:cNvPr id="19" name="Text 17"/>
          <p:cNvSpPr txBox="1"/>
          <p:nvPr/>
        </p:nvSpPr>
        <p:spPr>
          <a:xfrm>
            <a:off x="6821424" y="1645920"/>
            <a:ext cx="1691640" cy="566928"/>
          </a:xfrm>
          <a:prstGeom prst="rect">
            <a:avLst/>
          </a:prstGeom>
          <a:noFill/>
          <a:ln/>
        </p:spPr>
        <p:txBody>
          <a:bodyPr wrap="square" lIns="0" tIns="0" rIns="0" bIns="0" rtlCol="0" anchor="t"/>
          <a:lstStyle/>
          <a:p>
            <a:pPr marL="0" indent="0">
              <a:buNone/>
            </a:pPr>
            <a:r>
              <a:rPr lang="en-US" sz="1100" b="1" dirty="0">
                <a:solidFill>
                  <a:srgbClr val="94A3B8"/>
                </a:solidFill>
              </a:rPr>
              <a:t>Problem  </a:t>
            </a:r>
            <a:r>
              <a:rPr lang="en-US" sz="1100" dirty="0">
                <a:solidFill>
                  <a:srgbClr val="F1F5F9"/>
                </a:solidFill>
              </a:rPr>
              <a:t>Processing must not block user requests</a:t>
            </a:r>
            <a:endParaRPr lang="en-US" sz="1100" dirty="0"/>
          </a:p>
        </p:txBody>
      </p:sp>
      <p:sp>
        <p:nvSpPr>
          <p:cNvPr id="20" name="Text 18"/>
          <p:cNvSpPr txBox="1"/>
          <p:nvPr/>
        </p:nvSpPr>
        <p:spPr>
          <a:xfrm>
            <a:off x="6821424" y="2221992"/>
            <a:ext cx="1691640" cy="566928"/>
          </a:xfrm>
          <a:prstGeom prst="rect">
            <a:avLst/>
          </a:prstGeom>
          <a:noFill/>
          <a:ln/>
        </p:spPr>
        <p:txBody>
          <a:bodyPr wrap="square" lIns="0" tIns="0" rIns="0" bIns="0" rtlCol="0" anchor="t"/>
          <a:lstStyle/>
          <a:p>
            <a:pPr marL="0" indent="0">
              <a:buNone/>
            </a:pPr>
            <a:r>
              <a:rPr lang="en-US" sz="1100" b="1" dirty="0">
                <a:solidFill>
                  <a:srgbClr val="94A3B8"/>
                </a:solidFill>
              </a:rPr>
              <a:t>Why  </a:t>
            </a:r>
            <a:r>
              <a:rPr lang="en-US" sz="1100" dirty="0">
                <a:solidFill>
                  <a:srgbClr val="F1F5F9"/>
                </a:solidFill>
              </a:rPr>
              <a:t>Async events give decoupling and retries</a:t>
            </a:r>
            <a:endParaRPr lang="en-US" sz="1100" dirty="0"/>
          </a:p>
        </p:txBody>
      </p:sp>
      <p:sp>
        <p:nvSpPr>
          <p:cNvPr id="21" name="Shape 19"/>
          <p:cNvSpPr/>
          <p:nvPr/>
        </p:nvSpPr>
        <p:spPr>
          <a:xfrm>
            <a:off x="457200" y="2971800"/>
            <a:ext cx="1901952" cy="1600200"/>
          </a:xfrm>
          <a:prstGeom prst="roundRect">
            <a:avLst>
              <a:gd name="adj" fmla="val 4571"/>
            </a:avLst>
          </a:prstGeom>
          <a:solidFill>
            <a:srgbClr val="131A33"/>
          </a:solidFill>
          <a:ln w="12700">
            <a:solidFill>
              <a:srgbClr val="F472B6"/>
            </a:solidFill>
            <a:prstDash val="solid"/>
          </a:ln>
        </p:spPr>
        <p:txBody>
          <a:bodyPr/>
          <a:lstStyle/>
          <a:p>
            <a:endParaRPr lang="en-US"/>
          </a:p>
        </p:txBody>
      </p:sp>
      <p:sp>
        <p:nvSpPr>
          <p:cNvPr id="22" name="Text 20"/>
          <p:cNvSpPr txBox="1"/>
          <p:nvPr/>
        </p:nvSpPr>
        <p:spPr>
          <a:xfrm>
            <a:off x="566928" y="3063240"/>
            <a:ext cx="1691640" cy="274320"/>
          </a:xfrm>
          <a:prstGeom prst="rect">
            <a:avLst/>
          </a:prstGeom>
          <a:noFill/>
          <a:ln/>
        </p:spPr>
        <p:txBody>
          <a:bodyPr wrap="square" lIns="0" tIns="0" rIns="0" bIns="0" rtlCol="0" anchor="t"/>
          <a:lstStyle/>
          <a:p>
            <a:pPr marL="0" indent="0">
              <a:buNone/>
            </a:pPr>
            <a:r>
              <a:rPr lang="en-US" sz="1400" b="1" dirty="0">
                <a:solidFill>
                  <a:srgbClr val="F472B6"/>
                </a:solidFill>
              </a:rPr>
              <a:t>Memorystore Redis</a:t>
            </a:r>
            <a:endParaRPr lang="en-US" sz="1400" dirty="0"/>
          </a:p>
        </p:txBody>
      </p:sp>
      <p:sp>
        <p:nvSpPr>
          <p:cNvPr id="23" name="Text 21"/>
          <p:cNvSpPr txBox="1"/>
          <p:nvPr/>
        </p:nvSpPr>
        <p:spPr>
          <a:xfrm>
            <a:off x="566928" y="3383280"/>
            <a:ext cx="1691640" cy="566928"/>
          </a:xfrm>
          <a:prstGeom prst="rect">
            <a:avLst/>
          </a:prstGeom>
          <a:noFill/>
          <a:ln/>
        </p:spPr>
        <p:txBody>
          <a:bodyPr wrap="square" lIns="0" tIns="0" rIns="0" bIns="0" rtlCol="0" anchor="t"/>
          <a:lstStyle/>
          <a:p>
            <a:pPr marL="0" indent="0">
              <a:buNone/>
            </a:pPr>
            <a:r>
              <a:rPr lang="en-US" sz="1100" b="1" dirty="0">
                <a:solidFill>
                  <a:srgbClr val="94A3B8"/>
                </a:solidFill>
              </a:rPr>
              <a:t>Problem  </a:t>
            </a:r>
            <a:r>
              <a:rPr lang="en-US" sz="1100" dirty="0">
                <a:solidFill>
                  <a:srgbClr val="F1F5F9"/>
                </a:solidFill>
              </a:rPr>
              <a:t>Feeds and real-time hammer the DB</a:t>
            </a:r>
            <a:endParaRPr lang="en-US" sz="1100" dirty="0"/>
          </a:p>
        </p:txBody>
      </p:sp>
      <p:sp>
        <p:nvSpPr>
          <p:cNvPr id="24" name="Text 22"/>
          <p:cNvSpPr txBox="1"/>
          <p:nvPr/>
        </p:nvSpPr>
        <p:spPr>
          <a:xfrm>
            <a:off x="566928" y="3959352"/>
            <a:ext cx="1691640" cy="566928"/>
          </a:xfrm>
          <a:prstGeom prst="rect">
            <a:avLst/>
          </a:prstGeom>
          <a:noFill/>
          <a:ln/>
        </p:spPr>
        <p:txBody>
          <a:bodyPr wrap="square" lIns="0" tIns="0" rIns="0" bIns="0" rtlCol="0" anchor="t"/>
          <a:lstStyle/>
          <a:p>
            <a:pPr marL="0" indent="0">
              <a:buNone/>
            </a:pPr>
            <a:r>
              <a:rPr lang="en-US" sz="1100" b="1" dirty="0">
                <a:solidFill>
                  <a:srgbClr val="94A3B8"/>
                </a:solidFill>
              </a:rPr>
              <a:t>Why  </a:t>
            </a:r>
            <a:r>
              <a:rPr lang="en-US" sz="1100" dirty="0">
                <a:solidFill>
                  <a:srgbClr val="F1F5F9"/>
                </a:solidFill>
              </a:rPr>
              <a:t>In-memory cache, counters and Pub/Sub backplane</a:t>
            </a:r>
            <a:endParaRPr lang="en-US" sz="1100" dirty="0"/>
          </a:p>
        </p:txBody>
      </p:sp>
      <p:sp>
        <p:nvSpPr>
          <p:cNvPr id="25" name="Shape 23"/>
          <p:cNvSpPr/>
          <p:nvPr/>
        </p:nvSpPr>
        <p:spPr>
          <a:xfrm>
            <a:off x="2542032" y="2971800"/>
            <a:ext cx="1901952" cy="1600200"/>
          </a:xfrm>
          <a:prstGeom prst="roundRect">
            <a:avLst>
              <a:gd name="adj" fmla="val 4571"/>
            </a:avLst>
          </a:prstGeom>
          <a:solidFill>
            <a:srgbClr val="131A33"/>
          </a:solidFill>
          <a:ln w="12700">
            <a:solidFill>
              <a:srgbClr val="818CF8"/>
            </a:solidFill>
            <a:prstDash val="solid"/>
          </a:ln>
        </p:spPr>
        <p:txBody>
          <a:bodyPr/>
          <a:lstStyle/>
          <a:p>
            <a:endParaRPr lang="en-US"/>
          </a:p>
        </p:txBody>
      </p:sp>
      <p:sp>
        <p:nvSpPr>
          <p:cNvPr id="26" name="Text 24"/>
          <p:cNvSpPr txBox="1"/>
          <p:nvPr/>
        </p:nvSpPr>
        <p:spPr>
          <a:xfrm>
            <a:off x="2651760" y="3063240"/>
            <a:ext cx="1691640" cy="274320"/>
          </a:xfrm>
          <a:prstGeom prst="rect">
            <a:avLst/>
          </a:prstGeom>
          <a:noFill/>
          <a:ln/>
        </p:spPr>
        <p:txBody>
          <a:bodyPr wrap="square" lIns="0" tIns="0" rIns="0" bIns="0" rtlCol="0" anchor="t"/>
          <a:lstStyle/>
          <a:p>
            <a:pPr marL="0" indent="0">
              <a:buNone/>
            </a:pPr>
            <a:r>
              <a:rPr lang="en-US" sz="1400" b="1" dirty="0">
                <a:solidFill>
                  <a:srgbClr val="818CF8"/>
                </a:solidFill>
              </a:rPr>
              <a:t>Firestore</a:t>
            </a:r>
            <a:endParaRPr lang="en-US" sz="1400" dirty="0"/>
          </a:p>
        </p:txBody>
      </p:sp>
      <p:sp>
        <p:nvSpPr>
          <p:cNvPr id="27" name="Text 25"/>
          <p:cNvSpPr txBox="1"/>
          <p:nvPr/>
        </p:nvSpPr>
        <p:spPr>
          <a:xfrm>
            <a:off x="2651760" y="3383280"/>
            <a:ext cx="1691640" cy="566928"/>
          </a:xfrm>
          <a:prstGeom prst="rect">
            <a:avLst/>
          </a:prstGeom>
          <a:noFill/>
          <a:ln/>
        </p:spPr>
        <p:txBody>
          <a:bodyPr wrap="square" lIns="0" tIns="0" rIns="0" bIns="0" rtlCol="0" anchor="t"/>
          <a:lstStyle/>
          <a:p>
            <a:pPr marL="0" indent="0">
              <a:buNone/>
            </a:pPr>
            <a:r>
              <a:rPr lang="en-US" sz="1100" b="1" dirty="0">
                <a:solidFill>
                  <a:srgbClr val="94A3B8"/>
                </a:solidFill>
              </a:rPr>
              <a:t>Problem  </a:t>
            </a:r>
            <a:r>
              <a:rPr lang="en-US" sz="1100" dirty="0">
                <a:solidFill>
                  <a:srgbClr val="F1F5F9"/>
                </a:solidFill>
              </a:rPr>
              <a:t>Need durable app data without servers to run</a:t>
            </a:r>
            <a:endParaRPr lang="en-US" sz="1100" dirty="0"/>
          </a:p>
        </p:txBody>
      </p:sp>
      <p:sp>
        <p:nvSpPr>
          <p:cNvPr id="28" name="Text 26"/>
          <p:cNvSpPr txBox="1"/>
          <p:nvPr/>
        </p:nvSpPr>
        <p:spPr>
          <a:xfrm>
            <a:off x="2651760" y="3959352"/>
            <a:ext cx="1691640" cy="566928"/>
          </a:xfrm>
          <a:prstGeom prst="rect">
            <a:avLst/>
          </a:prstGeom>
          <a:noFill/>
          <a:ln/>
        </p:spPr>
        <p:txBody>
          <a:bodyPr wrap="square" lIns="0" tIns="0" rIns="0" bIns="0" rtlCol="0" anchor="t"/>
          <a:lstStyle/>
          <a:p>
            <a:pPr marL="0" indent="0">
              <a:buNone/>
            </a:pPr>
            <a:r>
              <a:rPr lang="en-US" sz="1100" b="1" dirty="0">
                <a:solidFill>
                  <a:srgbClr val="94A3B8"/>
                </a:solidFill>
              </a:rPr>
              <a:t>Why  </a:t>
            </a:r>
            <a:r>
              <a:rPr lang="en-US" sz="1100" dirty="0">
                <a:solidFill>
                  <a:srgbClr val="F1F5F9"/>
                </a:solidFill>
              </a:rPr>
              <a:t>Managed NoSQL that scales with the platform</a:t>
            </a:r>
            <a:endParaRPr lang="en-US" sz="1100" dirty="0"/>
          </a:p>
        </p:txBody>
      </p:sp>
      <p:sp>
        <p:nvSpPr>
          <p:cNvPr id="29" name="Shape 27"/>
          <p:cNvSpPr/>
          <p:nvPr/>
        </p:nvSpPr>
        <p:spPr>
          <a:xfrm>
            <a:off x="4626864" y="2971800"/>
            <a:ext cx="1901952" cy="1600200"/>
          </a:xfrm>
          <a:prstGeom prst="roundRect">
            <a:avLst>
              <a:gd name="adj" fmla="val 4571"/>
            </a:avLst>
          </a:prstGeom>
          <a:solidFill>
            <a:srgbClr val="131A33"/>
          </a:solidFill>
          <a:ln w="12700">
            <a:solidFill>
              <a:srgbClr val="34D399"/>
            </a:solidFill>
            <a:prstDash val="solid"/>
          </a:ln>
        </p:spPr>
        <p:txBody>
          <a:bodyPr/>
          <a:lstStyle/>
          <a:p>
            <a:endParaRPr lang="en-US"/>
          </a:p>
        </p:txBody>
      </p:sp>
      <p:sp>
        <p:nvSpPr>
          <p:cNvPr id="30" name="Text 28"/>
          <p:cNvSpPr txBox="1"/>
          <p:nvPr/>
        </p:nvSpPr>
        <p:spPr>
          <a:xfrm>
            <a:off x="4736592" y="3063240"/>
            <a:ext cx="1691640" cy="274320"/>
          </a:xfrm>
          <a:prstGeom prst="rect">
            <a:avLst/>
          </a:prstGeom>
          <a:noFill/>
          <a:ln/>
        </p:spPr>
        <p:txBody>
          <a:bodyPr wrap="square" lIns="0" tIns="0" rIns="0" bIns="0" rtlCol="0" anchor="t"/>
          <a:lstStyle/>
          <a:p>
            <a:pPr marL="0" indent="0">
              <a:buNone/>
            </a:pPr>
            <a:r>
              <a:rPr lang="en-US" sz="1400" b="1" dirty="0">
                <a:solidFill>
                  <a:srgbClr val="34D399"/>
                </a:solidFill>
              </a:rPr>
              <a:t>Cloud Vision</a:t>
            </a:r>
            <a:endParaRPr lang="en-US" sz="1400" dirty="0"/>
          </a:p>
        </p:txBody>
      </p:sp>
      <p:sp>
        <p:nvSpPr>
          <p:cNvPr id="31" name="Text 29"/>
          <p:cNvSpPr txBox="1"/>
          <p:nvPr/>
        </p:nvSpPr>
        <p:spPr>
          <a:xfrm>
            <a:off x="4736592" y="3383280"/>
            <a:ext cx="1691640" cy="566928"/>
          </a:xfrm>
          <a:prstGeom prst="rect">
            <a:avLst/>
          </a:prstGeom>
          <a:noFill/>
          <a:ln/>
        </p:spPr>
        <p:txBody>
          <a:bodyPr wrap="square" lIns="0" tIns="0" rIns="0" bIns="0" rtlCol="0" anchor="t"/>
          <a:lstStyle/>
          <a:p>
            <a:pPr marL="0" indent="0">
              <a:buNone/>
            </a:pPr>
            <a:r>
              <a:rPr lang="en-US" sz="1100" b="1" dirty="0">
                <a:solidFill>
                  <a:srgbClr val="94A3B8"/>
                </a:solidFill>
              </a:rPr>
              <a:t>Problem  </a:t>
            </a:r>
            <a:r>
              <a:rPr lang="en-US" sz="1100" dirty="0">
                <a:solidFill>
                  <a:srgbClr val="F1F5F9"/>
                </a:solidFill>
              </a:rPr>
              <a:t>Manual moderation does not scale</a:t>
            </a:r>
            <a:endParaRPr lang="en-US" sz="1100" dirty="0"/>
          </a:p>
        </p:txBody>
      </p:sp>
      <p:sp>
        <p:nvSpPr>
          <p:cNvPr id="32" name="Text 30"/>
          <p:cNvSpPr txBox="1"/>
          <p:nvPr/>
        </p:nvSpPr>
        <p:spPr>
          <a:xfrm>
            <a:off x="4736592" y="3959352"/>
            <a:ext cx="1691640" cy="566928"/>
          </a:xfrm>
          <a:prstGeom prst="rect">
            <a:avLst/>
          </a:prstGeom>
          <a:noFill/>
          <a:ln/>
        </p:spPr>
        <p:txBody>
          <a:bodyPr wrap="square" lIns="0" tIns="0" rIns="0" bIns="0" rtlCol="0" anchor="t"/>
          <a:lstStyle/>
          <a:p>
            <a:pPr marL="0" indent="0">
              <a:buNone/>
            </a:pPr>
            <a:r>
              <a:rPr lang="en-US" sz="1100" b="1" dirty="0">
                <a:solidFill>
                  <a:srgbClr val="94A3B8"/>
                </a:solidFill>
              </a:rPr>
              <a:t>Why  </a:t>
            </a:r>
            <a:r>
              <a:rPr lang="en-US" sz="1100" dirty="0">
                <a:solidFill>
                  <a:srgbClr val="F1F5F9"/>
                </a:solidFill>
              </a:rPr>
              <a:t>Automated SafeSearch on every upload</a:t>
            </a:r>
            <a:endParaRPr lang="en-US" sz="1100" dirty="0"/>
          </a:p>
        </p:txBody>
      </p:sp>
      <p:sp>
        <p:nvSpPr>
          <p:cNvPr id="33" name="Shape 31"/>
          <p:cNvSpPr/>
          <p:nvPr/>
        </p:nvSpPr>
        <p:spPr>
          <a:xfrm>
            <a:off x="6711696" y="2971800"/>
            <a:ext cx="1901952" cy="1600200"/>
          </a:xfrm>
          <a:prstGeom prst="roundRect">
            <a:avLst>
              <a:gd name="adj" fmla="val 4571"/>
            </a:avLst>
          </a:prstGeom>
          <a:solidFill>
            <a:srgbClr val="131A33"/>
          </a:solidFill>
          <a:ln w="12700">
            <a:solidFill>
              <a:srgbClr val="FBBF24"/>
            </a:solidFill>
            <a:prstDash val="solid"/>
          </a:ln>
        </p:spPr>
        <p:txBody>
          <a:bodyPr/>
          <a:lstStyle/>
          <a:p>
            <a:endParaRPr lang="en-US"/>
          </a:p>
        </p:txBody>
      </p:sp>
      <p:sp>
        <p:nvSpPr>
          <p:cNvPr id="34" name="Text 32"/>
          <p:cNvSpPr txBox="1"/>
          <p:nvPr/>
        </p:nvSpPr>
        <p:spPr>
          <a:xfrm>
            <a:off x="6821424" y="3063240"/>
            <a:ext cx="1691640" cy="274320"/>
          </a:xfrm>
          <a:prstGeom prst="rect">
            <a:avLst/>
          </a:prstGeom>
          <a:noFill/>
          <a:ln/>
        </p:spPr>
        <p:txBody>
          <a:bodyPr wrap="square" lIns="0" tIns="0" rIns="0" bIns="0" rtlCol="0" anchor="t"/>
          <a:lstStyle/>
          <a:p>
            <a:pPr marL="0" indent="0">
              <a:buNone/>
            </a:pPr>
            <a:r>
              <a:rPr lang="en-US" sz="1400" b="1" dirty="0">
                <a:solidFill>
                  <a:srgbClr val="FBBF24"/>
                </a:solidFill>
              </a:rPr>
              <a:t>Elasticsearch</a:t>
            </a:r>
            <a:endParaRPr lang="en-US" sz="1400" dirty="0"/>
          </a:p>
        </p:txBody>
      </p:sp>
      <p:sp>
        <p:nvSpPr>
          <p:cNvPr id="35" name="Text 33"/>
          <p:cNvSpPr txBox="1"/>
          <p:nvPr/>
        </p:nvSpPr>
        <p:spPr>
          <a:xfrm>
            <a:off x="6821424" y="3383280"/>
            <a:ext cx="1691640" cy="566928"/>
          </a:xfrm>
          <a:prstGeom prst="rect">
            <a:avLst/>
          </a:prstGeom>
          <a:noFill/>
          <a:ln/>
        </p:spPr>
        <p:txBody>
          <a:bodyPr wrap="square" lIns="0" tIns="0" rIns="0" bIns="0" rtlCol="0" anchor="t"/>
          <a:lstStyle/>
          <a:p>
            <a:pPr marL="0" indent="0">
              <a:buNone/>
            </a:pPr>
            <a:r>
              <a:rPr lang="en-US" sz="1100" b="1" dirty="0">
                <a:solidFill>
                  <a:srgbClr val="94A3B8"/>
                </a:solidFill>
              </a:rPr>
              <a:t>Problem  </a:t>
            </a:r>
            <a:r>
              <a:rPr lang="en-US" sz="1100" dirty="0">
                <a:solidFill>
                  <a:srgbClr val="F1F5F9"/>
                </a:solidFill>
              </a:rPr>
              <a:t>Firestore can't do fuzzy full-text search</a:t>
            </a:r>
            <a:endParaRPr lang="en-US" sz="1100" dirty="0"/>
          </a:p>
        </p:txBody>
      </p:sp>
      <p:sp>
        <p:nvSpPr>
          <p:cNvPr id="36" name="Text 34"/>
          <p:cNvSpPr txBox="1"/>
          <p:nvPr/>
        </p:nvSpPr>
        <p:spPr>
          <a:xfrm>
            <a:off x="6821424" y="3959352"/>
            <a:ext cx="1691640" cy="566928"/>
          </a:xfrm>
          <a:prstGeom prst="rect">
            <a:avLst/>
          </a:prstGeom>
          <a:noFill/>
          <a:ln/>
        </p:spPr>
        <p:txBody>
          <a:bodyPr wrap="square" lIns="0" tIns="0" rIns="0" bIns="0" rtlCol="0" anchor="t"/>
          <a:lstStyle/>
          <a:p>
            <a:pPr marL="0" indent="0">
              <a:buNone/>
            </a:pPr>
            <a:r>
              <a:rPr lang="en-US" sz="1100" b="1" dirty="0">
                <a:solidFill>
                  <a:srgbClr val="94A3B8"/>
                </a:solidFill>
              </a:rPr>
              <a:t>Why  </a:t>
            </a:r>
            <a:r>
              <a:rPr lang="en-US" sz="1100" dirty="0">
                <a:solidFill>
                  <a:srgbClr val="F1F5F9"/>
                </a:solidFill>
              </a:rPr>
              <a:t>Dedicated index for hashtag / user discovery</a:t>
            </a:r>
            <a:endParaRPr lang="en-US" sz="1100" dirty="0"/>
          </a:p>
        </p:txBody>
      </p:sp>
      <p:sp>
        <p:nvSpPr>
          <p:cNvPr id="37"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Designed for viral scale</a:t>
            </a:r>
            <a:endParaRPr lang="en-US" sz="3000" dirty="0"/>
          </a:p>
        </p:txBody>
      </p:sp>
      <p:sp>
        <p:nvSpPr>
          <p:cNvPr id="3" name="Subtitle"/>
          <p:cNvSpPr txBox="1"/>
          <p:nvPr/>
        </p:nvSpPr>
        <p:spPr>
          <a:xfrm>
            <a:off x="457200" y="758952"/>
            <a:ext cx="8229600" cy="274320"/>
          </a:xfrm>
          <a:prstGeom prst="rect">
            <a:avLst/>
          </a:prstGeom>
          <a:noFill/>
          <a:ln/>
        </p:spPr>
        <p:txBody>
          <a:bodyPr wrap="square" lIns="0" tIns="0" rIns="0" bIns="0" rtlCol="0" anchor="ctr"/>
          <a:lstStyle/>
          <a:p>
            <a:pPr marL="0" indent="0">
              <a:buNone/>
            </a:pPr>
            <a:r>
              <a:rPr lang="en-US" sz="1400" dirty="0">
                <a:solidFill>
                  <a:srgbClr val="22D3EE"/>
                </a:solidFill>
                <a:latin typeface="Calibri" pitchFamily="34" charset="0"/>
                <a:ea typeface="Calibri" pitchFamily="34" charset="-122"/>
                <a:cs typeface="Calibri" pitchFamily="34" charset="-120"/>
              </a:rPr>
              <a:t>Two patterns keep reads and writes from colliding</a:t>
            </a:r>
            <a:endParaRPr lang="en-US" sz="1400" dirty="0"/>
          </a:p>
        </p:txBody>
      </p:sp>
      <p:sp>
        <p:nvSpPr>
          <p:cNvPr id="4" name="Footer"/>
          <p:cNvSpPr txBox="1"/>
          <p:nvPr/>
        </p:nvSpPr>
        <p:spPr>
          <a:xfrm>
            <a:off x="457200" y="4828032"/>
            <a:ext cx="3657600" cy="228600"/>
          </a:xfrm>
          <a:prstGeom prst="rect">
            <a:avLst/>
          </a:prstGeom>
          <a:noFill/>
          <a:ln/>
        </p:spPr>
        <p:txBody>
          <a:bodyPr wrap="square" lIns="0" tIns="0" rIns="0" bIns="0" rtlCol="0" anchor="ctr"/>
          <a:lstStyle/>
          <a:p>
            <a:pPr marL="0" indent="0">
              <a:buNone/>
            </a:pPr>
            <a:r>
              <a:rPr lang="en-US" sz="1000" dirty="0">
                <a:solidFill>
                  <a:srgbClr val="94A3B8"/>
                </a:solidFill>
              </a:rPr>
              <a:t>BackTrack · BOC 2.0 Final</a:t>
            </a:r>
            <a:endParaRPr lang="en-US" sz="1000" dirty="0"/>
          </a:p>
        </p:txBody>
      </p:sp>
      <p:sp>
        <p:nvSpPr>
          <p:cNvPr id="5" name="Shape 3"/>
          <p:cNvSpPr/>
          <p:nvPr/>
        </p:nvSpPr>
        <p:spPr>
          <a:xfrm>
            <a:off x="457200" y="1188720"/>
            <a:ext cx="4069080" cy="3429000"/>
          </a:xfrm>
          <a:prstGeom prst="roundRect">
            <a:avLst>
              <a:gd name="adj" fmla="val 2133"/>
            </a:avLst>
          </a:prstGeom>
          <a:solidFill>
            <a:srgbClr val="131A33"/>
          </a:solidFill>
          <a:ln w="12700">
            <a:solidFill>
              <a:srgbClr val="2A3563"/>
            </a:solidFill>
            <a:prstDash val="solid"/>
          </a:ln>
        </p:spPr>
        <p:txBody>
          <a:bodyPr/>
          <a:lstStyle/>
          <a:p>
            <a:endParaRPr lang="en-US"/>
          </a:p>
        </p:txBody>
      </p:sp>
      <p:sp>
        <p:nvSpPr>
          <p:cNvPr id="6" name="Text 4"/>
          <p:cNvSpPr txBox="1"/>
          <p:nvPr/>
        </p:nvSpPr>
        <p:spPr>
          <a:xfrm>
            <a:off x="594360" y="1261872"/>
            <a:ext cx="2743200" cy="274320"/>
          </a:xfrm>
          <a:prstGeom prst="rect">
            <a:avLst/>
          </a:prstGeom>
          <a:noFill/>
          <a:ln/>
        </p:spPr>
        <p:txBody>
          <a:bodyPr wrap="square" lIns="0" tIns="0" rIns="0" bIns="0" rtlCol="0" anchor="t"/>
          <a:lstStyle/>
          <a:p>
            <a:pPr marL="0" indent="0">
              <a:buNone/>
            </a:pPr>
            <a:r>
              <a:rPr lang="en-US" sz="1500" b="1" dirty="0">
                <a:solidFill>
                  <a:srgbClr val="F1F5F9"/>
                </a:solidFill>
              </a:rPr>
              <a:t>Hybrid feed fan-out</a:t>
            </a:r>
            <a:endParaRPr lang="en-US" sz="1500" dirty="0"/>
          </a:p>
        </p:txBody>
      </p:sp>
      <p:sp>
        <p:nvSpPr>
          <p:cNvPr id="7" name="Shape 5"/>
          <p:cNvSpPr/>
          <p:nvPr/>
        </p:nvSpPr>
        <p:spPr>
          <a:xfrm>
            <a:off x="3429000" y="1280160"/>
            <a:ext cx="960120" cy="201168"/>
          </a:xfrm>
          <a:prstGeom prst="roundRect">
            <a:avLst>
              <a:gd name="adj" fmla="val 50000"/>
            </a:avLst>
          </a:prstGeom>
          <a:solidFill>
            <a:srgbClr val="CBD5E1"/>
          </a:solidFill>
          <a:ln w="6350">
            <a:solidFill>
              <a:srgbClr val="CBD5E1"/>
            </a:solidFill>
            <a:prstDash val="solid"/>
          </a:ln>
        </p:spPr>
        <p:txBody>
          <a:bodyPr/>
          <a:lstStyle/>
          <a:p>
            <a:endParaRPr lang="en-US"/>
          </a:p>
        </p:txBody>
      </p:sp>
      <p:sp>
        <p:nvSpPr>
          <p:cNvPr id="8" name="Text 6"/>
          <p:cNvSpPr txBox="1"/>
          <p:nvPr/>
        </p:nvSpPr>
        <p:spPr>
          <a:xfrm>
            <a:off x="3429000" y="1280160"/>
            <a:ext cx="960120" cy="201168"/>
          </a:xfrm>
          <a:prstGeom prst="rect">
            <a:avLst/>
          </a:prstGeom>
          <a:noFill/>
          <a:ln/>
        </p:spPr>
        <p:txBody>
          <a:bodyPr wrap="square" lIns="0" tIns="0" rIns="0" bIns="0" rtlCol="0" anchor="ctr"/>
          <a:lstStyle/>
          <a:p>
            <a:pPr marL="0" indent="0" algn="ctr">
              <a:buNone/>
            </a:pPr>
            <a:r>
              <a:rPr lang="en-US" sz="1000" b="1" dirty="0">
                <a:solidFill>
                  <a:srgbClr val="0B1020"/>
                </a:solidFill>
              </a:rPr>
              <a:t>FUTURE</a:t>
            </a:r>
            <a:endParaRPr lang="en-US" sz="1000" dirty="0"/>
          </a:p>
        </p:txBody>
      </p:sp>
      <p:sp>
        <p:nvSpPr>
          <p:cNvPr id="9" name="Shape 7"/>
          <p:cNvSpPr/>
          <p:nvPr/>
        </p:nvSpPr>
        <p:spPr>
          <a:xfrm>
            <a:off x="640080" y="1737360"/>
            <a:ext cx="1143000" cy="548640"/>
          </a:xfrm>
          <a:prstGeom prst="roundRect">
            <a:avLst>
              <a:gd name="adj" fmla="val 13333"/>
            </a:avLst>
          </a:prstGeom>
          <a:solidFill>
            <a:srgbClr val="1B2547"/>
          </a:solidFill>
          <a:ln w="15875">
            <a:solidFill>
              <a:srgbClr val="818CF8"/>
            </a:solidFill>
            <a:prstDash val="solid"/>
          </a:ln>
        </p:spPr>
        <p:txBody>
          <a:bodyPr/>
          <a:lstStyle/>
          <a:p>
            <a:endParaRPr lang="en-US"/>
          </a:p>
        </p:txBody>
      </p:sp>
      <p:sp>
        <p:nvSpPr>
          <p:cNvPr id="10" name="Text 8"/>
          <p:cNvSpPr txBox="1"/>
          <p:nvPr/>
        </p:nvSpPr>
        <p:spPr>
          <a:xfrm>
            <a:off x="685800" y="1773936"/>
            <a:ext cx="1051560" cy="512064"/>
          </a:xfrm>
          <a:prstGeom prst="rect">
            <a:avLst/>
          </a:prstGeom>
          <a:noFill/>
          <a:ln/>
        </p:spPr>
        <p:txBody>
          <a:bodyPr wrap="square" lIns="0" tIns="0" rIns="0" bIns="0" rtlCol="0" anchor="ctr"/>
          <a:lstStyle/>
          <a:p>
            <a:pPr marL="0" indent="0" algn="ctr">
              <a:buNone/>
            </a:pPr>
            <a:r>
              <a:rPr lang="en-US" sz="1000" b="1" dirty="0">
                <a:solidFill>
                  <a:srgbClr val="F1F5F9"/>
                </a:solidFill>
              </a:rPr>
              <a:t>Normal user posts</a:t>
            </a:r>
            <a:endParaRPr lang="en-US" sz="1000" dirty="0"/>
          </a:p>
        </p:txBody>
      </p:sp>
      <p:sp>
        <p:nvSpPr>
          <p:cNvPr id="11" name="Shape 9"/>
          <p:cNvSpPr/>
          <p:nvPr/>
        </p:nvSpPr>
        <p:spPr>
          <a:xfrm>
            <a:off x="1783080" y="2011680"/>
            <a:ext cx="457200" cy="0"/>
          </a:xfrm>
          <a:prstGeom prst="line">
            <a:avLst/>
          </a:prstGeom>
          <a:noFill/>
          <a:ln w="19050">
            <a:solidFill>
              <a:srgbClr val="818CF8"/>
            </a:solidFill>
            <a:prstDash val="solid"/>
            <a:tailEnd type="triangle"/>
          </a:ln>
        </p:spPr>
        <p:txBody>
          <a:bodyPr/>
          <a:lstStyle/>
          <a:p>
            <a:endParaRPr lang="en-US"/>
          </a:p>
        </p:txBody>
      </p:sp>
      <p:sp>
        <p:nvSpPr>
          <p:cNvPr id="12" name="Shape 10"/>
          <p:cNvSpPr/>
          <p:nvPr/>
        </p:nvSpPr>
        <p:spPr>
          <a:xfrm>
            <a:off x="2240280" y="1737360"/>
            <a:ext cx="2103120" cy="548640"/>
          </a:xfrm>
          <a:prstGeom prst="roundRect">
            <a:avLst>
              <a:gd name="adj" fmla="val 13333"/>
            </a:avLst>
          </a:prstGeom>
          <a:solidFill>
            <a:srgbClr val="1B2547"/>
          </a:solidFill>
          <a:ln w="15875">
            <a:solidFill>
              <a:srgbClr val="818CF8"/>
            </a:solidFill>
            <a:prstDash val="solid"/>
          </a:ln>
        </p:spPr>
        <p:txBody>
          <a:bodyPr/>
          <a:lstStyle/>
          <a:p>
            <a:endParaRPr lang="en-US"/>
          </a:p>
        </p:txBody>
      </p:sp>
      <p:sp>
        <p:nvSpPr>
          <p:cNvPr id="13" name="Text 11"/>
          <p:cNvSpPr txBox="1"/>
          <p:nvPr/>
        </p:nvSpPr>
        <p:spPr>
          <a:xfrm>
            <a:off x="2286000" y="1773936"/>
            <a:ext cx="2011680" cy="512064"/>
          </a:xfrm>
          <a:prstGeom prst="rect">
            <a:avLst/>
          </a:prstGeom>
          <a:noFill/>
          <a:ln/>
        </p:spPr>
        <p:txBody>
          <a:bodyPr wrap="square" lIns="0" tIns="0" rIns="0" bIns="0" rtlCol="0" anchor="ctr"/>
          <a:lstStyle/>
          <a:p>
            <a:pPr marL="0" indent="0" algn="ctr">
              <a:buNone/>
            </a:pPr>
            <a:r>
              <a:rPr lang="en-US" sz="1000" b="1" dirty="0">
                <a:solidFill>
                  <a:srgbClr val="F1F5F9"/>
                </a:solidFill>
              </a:rPr>
              <a:t>Push post ID into follower Redis timelines</a:t>
            </a:r>
            <a:endParaRPr lang="en-US" sz="1000" dirty="0"/>
          </a:p>
        </p:txBody>
      </p:sp>
      <p:sp>
        <p:nvSpPr>
          <p:cNvPr id="14" name="Text 12"/>
          <p:cNvSpPr txBox="1"/>
          <p:nvPr/>
        </p:nvSpPr>
        <p:spPr>
          <a:xfrm>
            <a:off x="640080" y="2331720"/>
            <a:ext cx="3657600" cy="201168"/>
          </a:xfrm>
          <a:prstGeom prst="rect">
            <a:avLst/>
          </a:prstGeom>
          <a:noFill/>
          <a:ln/>
        </p:spPr>
        <p:txBody>
          <a:bodyPr wrap="square" lIns="0" tIns="0" rIns="0" bIns="0" rtlCol="0" anchor="t"/>
          <a:lstStyle/>
          <a:p>
            <a:pPr marL="0" indent="0">
              <a:buNone/>
            </a:pPr>
            <a:r>
              <a:rPr lang="en-US" sz="1000" dirty="0">
                <a:solidFill>
                  <a:srgbClr val="94A3B8"/>
                </a:solidFill>
              </a:rPr>
              <a:t>write once per follower — fine at normal scale</a:t>
            </a:r>
            <a:endParaRPr lang="en-US" sz="1000" dirty="0"/>
          </a:p>
        </p:txBody>
      </p:sp>
      <p:sp>
        <p:nvSpPr>
          <p:cNvPr id="15" name="Shape 13"/>
          <p:cNvSpPr/>
          <p:nvPr/>
        </p:nvSpPr>
        <p:spPr>
          <a:xfrm>
            <a:off x="640080" y="2743200"/>
            <a:ext cx="1143000" cy="548640"/>
          </a:xfrm>
          <a:prstGeom prst="roundRect">
            <a:avLst>
              <a:gd name="adj" fmla="val 13333"/>
            </a:avLst>
          </a:prstGeom>
          <a:solidFill>
            <a:srgbClr val="1B2547"/>
          </a:solidFill>
          <a:ln w="15875">
            <a:solidFill>
              <a:srgbClr val="F472B6"/>
            </a:solidFill>
            <a:prstDash val="solid"/>
          </a:ln>
        </p:spPr>
        <p:txBody>
          <a:bodyPr/>
          <a:lstStyle/>
          <a:p>
            <a:endParaRPr lang="en-US"/>
          </a:p>
        </p:txBody>
      </p:sp>
      <p:sp>
        <p:nvSpPr>
          <p:cNvPr id="16" name="Text 14"/>
          <p:cNvSpPr txBox="1"/>
          <p:nvPr/>
        </p:nvSpPr>
        <p:spPr>
          <a:xfrm>
            <a:off x="685800" y="2779776"/>
            <a:ext cx="1051560" cy="512064"/>
          </a:xfrm>
          <a:prstGeom prst="rect">
            <a:avLst/>
          </a:prstGeom>
          <a:noFill/>
          <a:ln/>
        </p:spPr>
        <p:txBody>
          <a:bodyPr wrap="square" lIns="0" tIns="0" rIns="0" bIns="0" rtlCol="0" anchor="ctr"/>
          <a:lstStyle/>
          <a:p>
            <a:pPr marL="0" indent="0" algn="ctr">
              <a:buNone/>
            </a:pPr>
            <a:r>
              <a:rPr lang="en-US" sz="1000" b="1" dirty="0">
                <a:solidFill>
                  <a:srgbClr val="F1F5F9"/>
                </a:solidFill>
              </a:rPr>
              <a:t>Celebrity posts</a:t>
            </a:r>
            <a:endParaRPr lang="en-US" sz="1000" dirty="0"/>
          </a:p>
        </p:txBody>
      </p:sp>
      <p:sp>
        <p:nvSpPr>
          <p:cNvPr id="17" name="Shape 15"/>
          <p:cNvSpPr/>
          <p:nvPr/>
        </p:nvSpPr>
        <p:spPr>
          <a:xfrm>
            <a:off x="1783080" y="3017520"/>
            <a:ext cx="457200" cy="0"/>
          </a:xfrm>
          <a:prstGeom prst="line">
            <a:avLst/>
          </a:prstGeom>
          <a:noFill/>
          <a:ln w="19050">
            <a:solidFill>
              <a:srgbClr val="F472B6"/>
            </a:solidFill>
            <a:prstDash val="dash"/>
          </a:ln>
        </p:spPr>
        <p:txBody>
          <a:bodyPr/>
          <a:lstStyle/>
          <a:p>
            <a:endParaRPr lang="en-US"/>
          </a:p>
        </p:txBody>
      </p:sp>
      <p:sp>
        <p:nvSpPr>
          <p:cNvPr id="18" name="Text 16"/>
          <p:cNvSpPr txBox="1"/>
          <p:nvPr/>
        </p:nvSpPr>
        <p:spPr>
          <a:xfrm>
            <a:off x="1828800" y="2788920"/>
            <a:ext cx="365760" cy="457200"/>
          </a:xfrm>
          <a:prstGeom prst="rect">
            <a:avLst/>
          </a:prstGeom>
          <a:noFill/>
          <a:ln/>
        </p:spPr>
        <p:txBody>
          <a:bodyPr wrap="square" lIns="0" tIns="0" rIns="0" bIns="0" rtlCol="0" anchor="ctr"/>
          <a:lstStyle/>
          <a:p>
            <a:pPr marL="0" indent="0" algn="ctr">
              <a:buNone/>
            </a:pPr>
            <a:r>
              <a:rPr lang="en-US" sz="2000" b="1" dirty="0">
                <a:solidFill>
                  <a:srgbClr val="F472B6"/>
                </a:solidFill>
              </a:rPr>
              <a:t>✕</a:t>
            </a:r>
            <a:endParaRPr lang="en-US" sz="2000" dirty="0"/>
          </a:p>
        </p:txBody>
      </p:sp>
      <p:sp>
        <p:nvSpPr>
          <p:cNvPr id="19" name="Shape 17"/>
          <p:cNvSpPr/>
          <p:nvPr/>
        </p:nvSpPr>
        <p:spPr>
          <a:xfrm>
            <a:off x="2240280" y="2743200"/>
            <a:ext cx="2103120" cy="548640"/>
          </a:xfrm>
          <a:prstGeom prst="roundRect">
            <a:avLst>
              <a:gd name="adj" fmla="val 13333"/>
            </a:avLst>
          </a:prstGeom>
          <a:solidFill>
            <a:srgbClr val="1B2547"/>
          </a:solidFill>
          <a:ln w="15875">
            <a:solidFill>
              <a:srgbClr val="F472B6"/>
            </a:solidFill>
            <a:prstDash val="dash"/>
          </a:ln>
        </p:spPr>
        <p:txBody>
          <a:bodyPr/>
          <a:lstStyle/>
          <a:p>
            <a:endParaRPr lang="en-US"/>
          </a:p>
        </p:txBody>
      </p:sp>
      <p:sp>
        <p:nvSpPr>
          <p:cNvPr id="20" name="Text 18"/>
          <p:cNvSpPr txBox="1"/>
          <p:nvPr/>
        </p:nvSpPr>
        <p:spPr>
          <a:xfrm>
            <a:off x="2286000" y="2779776"/>
            <a:ext cx="2011680" cy="512064"/>
          </a:xfrm>
          <a:prstGeom prst="rect">
            <a:avLst/>
          </a:prstGeom>
          <a:noFill/>
          <a:ln/>
        </p:spPr>
        <p:txBody>
          <a:bodyPr wrap="square" lIns="0" tIns="0" rIns="0" bIns="0" rtlCol="0" anchor="ctr"/>
          <a:lstStyle/>
          <a:p>
            <a:pPr marL="0" indent="0" algn="ctr">
              <a:buNone/>
            </a:pPr>
            <a:r>
              <a:rPr lang="en-US" sz="1000" b="1" dirty="0">
                <a:solidFill>
                  <a:srgbClr val="F1F5F9"/>
                </a:solidFill>
              </a:rPr>
              <a:t>No fan-out to millions of lists</a:t>
            </a:r>
            <a:endParaRPr lang="en-US" sz="1000" dirty="0"/>
          </a:p>
        </p:txBody>
      </p:sp>
      <p:sp>
        <p:nvSpPr>
          <p:cNvPr id="21" name="Shape 19"/>
          <p:cNvSpPr/>
          <p:nvPr/>
        </p:nvSpPr>
        <p:spPr>
          <a:xfrm>
            <a:off x="3291840" y="3291840"/>
            <a:ext cx="0" cy="320040"/>
          </a:xfrm>
          <a:prstGeom prst="line">
            <a:avLst/>
          </a:prstGeom>
          <a:noFill/>
          <a:ln w="19050">
            <a:solidFill>
              <a:srgbClr val="F472B6"/>
            </a:solidFill>
            <a:prstDash val="solid"/>
            <a:tailEnd type="triangle"/>
          </a:ln>
        </p:spPr>
        <p:txBody>
          <a:bodyPr/>
          <a:lstStyle/>
          <a:p>
            <a:endParaRPr lang="en-US"/>
          </a:p>
        </p:txBody>
      </p:sp>
      <p:sp>
        <p:nvSpPr>
          <p:cNvPr id="22" name="Shape 20"/>
          <p:cNvSpPr/>
          <p:nvPr/>
        </p:nvSpPr>
        <p:spPr>
          <a:xfrm>
            <a:off x="640080" y="3611880"/>
            <a:ext cx="3703320" cy="548640"/>
          </a:xfrm>
          <a:prstGeom prst="roundRect">
            <a:avLst>
              <a:gd name="adj" fmla="val 13333"/>
            </a:avLst>
          </a:prstGeom>
          <a:solidFill>
            <a:srgbClr val="1B2547"/>
          </a:solidFill>
          <a:ln w="15875">
            <a:solidFill>
              <a:srgbClr val="22D3EE"/>
            </a:solidFill>
            <a:prstDash val="solid"/>
          </a:ln>
        </p:spPr>
        <p:txBody>
          <a:bodyPr/>
          <a:lstStyle/>
          <a:p>
            <a:endParaRPr lang="en-US"/>
          </a:p>
        </p:txBody>
      </p:sp>
      <p:sp>
        <p:nvSpPr>
          <p:cNvPr id="23" name="Text 21"/>
          <p:cNvSpPr txBox="1"/>
          <p:nvPr/>
        </p:nvSpPr>
        <p:spPr>
          <a:xfrm>
            <a:off x="685800" y="3648456"/>
            <a:ext cx="3611880" cy="512064"/>
          </a:xfrm>
          <a:prstGeom prst="rect">
            <a:avLst/>
          </a:prstGeom>
          <a:noFill/>
          <a:ln/>
        </p:spPr>
        <p:txBody>
          <a:bodyPr wrap="square" lIns="0" tIns="0" rIns="0" bIns="0" rtlCol="0" anchor="ctr"/>
          <a:lstStyle/>
          <a:p>
            <a:pPr marL="0" indent="0" algn="ctr">
              <a:buNone/>
            </a:pPr>
            <a:r>
              <a:rPr lang="en-US" sz="1000" b="1" dirty="0">
                <a:solidFill>
                  <a:srgbClr val="F1F5F9"/>
                </a:solidFill>
              </a:rPr>
              <a:t>At read time: merge celebrity posts into the cached timeline</a:t>
            </a:r>
            <a:endParaRPr lang="en-US" sz="1000" dirty="0"/>
          </a:p>
        </p:txBody>
      </p:sp>
      <p:sp>
        <p:nvSpPr>
          <p:cNvPr id="24" name="Text 22"/>
          <p:cNvSpPr txBox="1"/>
          <p:nvPr/>
        </p:nvSpPr>
        <p:spPr>
          <a:xfrm>
            <a:off x="640080" y="4206240"/>
            <a:ext cx="3749040" cy="365760"/>
          </a:xfrm>
          <a:prstGeom prst="rect">
            <a:avLst/>
          </a:prstGeom>
          <a:noFill/>
          <a:ln/>
        </p:spPr>
        <p:txBody>
          <a:bodyPr wrap="square" lIns="0" tIns="0" rIns="0" bIns="0" rtlCol="0" anchor="t"/>
          <a:lstStyle/>
          <a:p>
            <a:pPr marL="0" indent="0">
              <a:buNone/>
            </a:pPr>
            <a:r>
              <a:rPr lang="en-US" sz="1000" dirty="0">
                <a:solidFill>
                  <a:srgbClr val="FBBF24"/>
                </a:solidFill>
              </a:rPr>
              <a:t>MVP today: read-time heuristic ranking over all posts; celebrity flag only boosts score.</a:t>
            </a:r>
            <a:endParaRPr lang="en-US" sz="1000" dirty="0"/>
          </a:p>
        </p:txBody>
      </p:sp>
      <p:sp>
        <p:nvSpPr>
          <p:cNvPr id="25" name="Shape 23"/>
          <p:cNvSpPr/>
          <p:nvPr/>
        </p:nvSpPr>
        <p:spPr>
          <a:xfrm>
            <a:off x="4663440" y="1188720"/>
            <a:ext cx="4023360" cy="3429000"/>
          </a:xfrm>
          <a:prstGeom prst="roundRect">
            <a:avLst>
              <a:gd name="adj" fmla="val 2133"/>
            </a:avLst>
          </a:prstGeom>
          <a:solidFill>
            <a:srgbClr val="131A33"/>
          </a:solidFill>
          <a:ln w="12700">
            <a:solidFill>
              <a:srgbClr val="2A3563"/>
            </a:solidFill>
            <a:prstDash val="solid"/>
          </a:ln>
        </p:spPr>
        <p:txBody>
          <a:bodyPr/>
          <a:lstStyle/>
          <a:p>
            <a:endParaRPr lang="en-US"/>
          </a:p>
        </p:txBody>
      </p:sp>
      <p:sp>
        <p:nvSpPr>
          <p:cNvPr id="26" name="Text 24"/>
          <p:cNvSpPr txBox="1"/>
          <p:nvPr/>
        </p:nvSpPr>
        <p:spPr>
          <a:xfrm>
            <a:off x="4800600" y="1261872"/>
            <a:ext cx="2377440" cy="274320"/>
          </a:xfrm>
          <a:prstGeom prst="rect">
            <a:avLst/>
          </a:prstGeom>
          <a:noFill/>
          <a:ln/>
        </p:spPr>
        <p:txBody>
          <a:bodyPr wrap="square" lIns="0" tIns="0" rIns="0" bIns="0" rtlCol="0" anchor="t"/>
          <a:lstStyle/>
          <a:p>
            <a:pPr marL="0" indent="0">
              <a:buNone/>
            </a:pPr>
            <a:r>
              <a:rPr lang="en-US" sz="1500" b="1" dirty="0">
                <a:solidFill>
                  <a:srgbClr val="F1F5F9"/>
                </a:solidFill>
              </a:rPr>
              <a:t>Distributed counters</a:t>
            </a:r>
            <a:endParaRPr lang="en-US" sz="1500" dirty="0"/>
          </a:p>
        </p:txBody>
      </p:sp>
      <p:sp>
        <p:nvSpPr>
          <p:cNvPr id="27" name="Shape 25"/>
          <p:cNvSpPr/>
          <p:nvPr/>
        </p:nvSpPr>
        <p:spPr>
          <a:xfrm>
            <a:off x="7589520" y="1280160"/>
            <a:ext cx="1005840" cy="201168"/>
          </a:xfrm>
          <a:prstGeom prst="roundRect">
            <a:avLst>
              <a:gd name="adj" fmla="val 50000"/>
            </a:avLst>
          </a:prstGeom>
          <a:solidFill>
            <a:srgbClr val="34D399"/>
          </a:solidFill>
          <a:ln w="6350">
            <a:solidFill>
              <a:srgbClr val="34D399"/>
            </a:solidFill>
            <a:prstDash val="solid"/>
          </a:ln>
        </p:spPr>
        <p:txBody>
          <a:bodyPr/>
          <a:lstStyle/>
          <a:p>
            <a:endParaRPr lang="en-US"/>
          </a:p>
        </p:txBody>
      </p:sp>
      <p:sp>
        <p:nvSpPr>
          <p:cNvPr id="28" name="Text 26"/>
          <p:cNvSpPr txBox="1"/>
          <p:nvPr/>
        </p:nvSpPr>
        <p:spPr>
          <a:xfrm>
            <a:off x="7589520" y="1280160"/>
            <a:ext cx="1005840" cy="201168"/>
          </a:xfrm>
          <a:prstGeom prst="rect">
            <a:avLst/>
          </a:prstGeom>
          <a:noFill/>
          <a:ln/>
        </p:spPr>
        <p:txBody>
          <a:bodyPr wrap="square" lIns="0" tIns="0" rIns="0" bIns="0" rtlCol="0" anchor="ctr"/>
          <a:lstStyle/>
          <a:p>
            <a:pPr marL="0" indent="0" algn="ctr">
              <a:buNone/>
            </a:pPr>
            <a:r>
              <a:rPr lang="en-US" sz="1000" b="1" dirty="0">
                <a:solidFill>
                  <a:srgbClr val="0B1020"/>
                </a:solidFill>
              </a:rPr>
              <a:t>IMPLEMENTED</a:t>
            </a:r>
            <a:endParaRPr lang="en-US" sz="1000" dirty="0"/>
          </a:p>
        </p:txBody>
      </p:sp>
      <p:sp>
        <p:nvSpPr>
          <p:cNvPr id="29" name="Text 27"/>
          <p:cNvSpPr txBox="1"/>
          <p:nvPr/>
        </p:nvSpPr>
        <p:spPr>
          <a:xfrm>
            <a:off x="4800600" y="1691640"/>
            <a:ext cx="1828800" cy="228600"/>
          </a:xfrm>
          <a:prstGeom prst="rect">
            <a:avLst/>
          </a:prstGeom>
          <a:noFill/>
          <a:ln/>
        </p:spPr>
        <p:txBody>
          <a:bodyPr wrap="square" lIns="0" tIns="0" rIns="0" bIns="0" rtlCol="0" anchor="t"/>
          <a:lstStyle/>
          <a:p>
            <a:pPr marL="0" indent="0">
              <a:buNone/>
            </a:pPr>
            <a:r>
              <a:rPr lang="en-US" sz="1200" b="1" dirty="0">
                <a:solidFill>
                  <a:srgbClr val="F472B6"/>
                </a:solidFill>
              </a:rPr>
              <a:t>Naive</a:t>
            </a:r>
            <a:endParaRPr lang="en-US" sz="1200" dirty="0"/>
          </a:p>
        </p:txBody>
      </p:sp>
      <p:sp>
        <p:nvSpPr>
          <p:cNvPr id="30" name="Shape 28"/>
          <p:cNvSpPr/>
          <p:nvPr/>
        </p:nvSpPr>
        <p:spPr>
          <a:xfrm>
            <a:off x="4800600" y="1965960"/>
            <a:ext cx="182880" cy="182880"/>
          </a:xfrm>
          <a:prstGeom prst="roundRect">
            <a:avLst>
              <a:gd name="adj" fmla="val 20000"/>
            </a:avLst>
          </a:prstGeom>
          <a:solidFill>
            <a:srgbClr val="F472B6"/>
          </a:solidFill>
          <a:ln w="12700">
            <a:solidFill>
              <a:srgbClr val="F472B6"/>
            </a:solidFill>
            <a:prstDash val="solid"/>
          </a:ln>
        </p:spPr>
        <p:txBody>
          <a:bodyPr/>
          <a:lstStyle/>
          <a:p>
            <a:endParaRPr lang="en-US"/>
          </a:p>
        </p:txBody>
      </p:sp>
      <p:sp>
        <p:nvSpPr>
          <p:cNvPr id="31" name="Shape 29"/>
          <p:cNvSpPr/>
          <p:nvPr/>
        </p:nvSpPr>
        <p:spPr>
          <a:xfrm>
            <a:off x="4892040" y="2148840"/>
            <a:ext cx="0" cy="228600"/>
          </a:xfrm>
          <a:prstGeom prst="line">
            <a:avLst/>
          </a:prstGeom>
          <a:noFill/>
          <a:ln w="12700">
            <a:solidFill>
              <a:srgbClr val="F472B6"/>
            </a:solidFill>
            <a:prstDash val="solid"/>
            <a:tailEnd type="triangle"/>
          </a:ln>
        </p:spPr>
        <p:txBody>
          <a:bodyPr/>
          <a:lstStyle/>
          <a:p>
            <a:endParaRPr lang="en-US"/>
          </a:p>
        </p:txBody>
      </p:sp>
      <p:sp>
        <p:nvSpPr>
          <p:cNvPr id="32" name="Shape 30"/>
          <p:cNvSpPr/>
          <p:nvPr/>
        </p:nvSpPr>
        <p:spPr>
          <a:xfrm>
            <a:off x="5056632" y="1965960"/>
            <a:ext cx="182880" cy="182880"/>
          </a:xfrm>
          <a:prstGeom prst="roundRect">
            <a:avLst>
              <a:gd name="adj" fmla="val 20000"/>
            </a:avLst>
          </a:prstGeom>
          <a:solidFill>
            <a:srgbClr val="F472B6"/>
          </a:solidFill>
          <a:ln w="12700">
            <a:solidFill>
              <a:srgbClr val="F472B6"/>
            </a:solidFill>
            <a:prstDash val="solid"/>
          </a:ln>
        </p:spPr>
        <p:txBody>
          <a:bodyPr/>
          <a:lstStyle/>
          <a:p>
            <a:endParaRPr lang="en-US"/>
          </a:p>
        </p:txBody>
      </p:sp>
      <p:sp>
        <p:nvSpPr>
          <p:cNvPr id="33" name="Shape 31"/>
          <p:cNvSpPr/>
          <p:nvPr/>
        </p:nvSpPr>
        <p:spPr>
          <a:xfrm>
            <a:off x="5148072" y="2148840"/>
            <a:ext cx="0" cy="228600"/>
          </a:xfrm>
          <a:prstGeom prst="line">
            <a:avLst/>
          </a:prstGeom>
          <a:noFill/>
          <a:ln w="12700">
            <a:solidFill>
              <a:srgbClr val="F472B6"/>
            </a:solidFill>
            <a:prstDash val="solid"/>
            <a:tailEnd type="triangle"/>
          </a:ln>
        </p:spPr>
        <p:txBody>
          <a:bodyPr/>
          <a:lstStyle/>
          <a:p>
            <a:endParaRPr lang="en-US"/>
          </a:p>
        </p:txBody>
      </p:sp>
      <p:sp>
        <p:nvSpPr>
          <p:cNvPr id="34" name="Shape 32"/>
          <p:cNvSpPr/>
          <p:nvPr/>
        </p:nvSpPr>
        <p:spPr>
          <a:xfrm>
            <a:off x="5312664" y="1965960"/>
            <a:ext cx="182880" cy="182880"/>
          </a:xfrm>
          <a:prstGeom prst="roundRect">
            <a:avLst>
              <a:gd name="adj" fmla="val 20000"/>
            </a:avLst>
          </a:prstGeom>
          <a:solidFill>
            <a:srgbClr val="F472B6"/>
          </a:solidFill>
          <a:ln w="12700">
            <a:solidFill>
              <a:srgbClr val="F472B6"/>
            </a:solidFill>
            <a:prstDash val="solid"/>
          </a:ln>
        </p:spPr>
        <p:txBody>
          <a:bodyPr/>
          <a:lstStyle/>
          <a:p>
            <a:endParaRPr lang="en-US"/>
          </a:p>
        </p:txBody>
      </p:sp>
      <p:sp>
        <p:nvSpPr>
          <p:cNvPr id="35" name="Shape 33"/>
          <p:cNvSpPr/>
          <p:nvPr/>
        </p:nvSpPr>
        <p:spPr>
          <a:xfrm>
            <a:off x="5404104" y="2148840"/>
            <a:ext cx="0" cy="228600"/>
          </a:xfrm>
          <a:prstGeom prst="line">
            <a:avLst/>
          </a:prstGeom>
          <a:noFill/>
          <a:ln w="12700">
            <a:solidFill>
              <a:srgbClr val="F472B6"/>
            </a:solidFill>
            <a:prstDash val="solid"/>
            <a:tailEnd type="triangle"/>
          </a:ln>
        </p:spPr>
        <p:txBody>
          <a:bodyPr/>
          <a:lstStyle/>
          <a:p>
            <a:endParaRPr lang="en-US"/>
          </a:p>
        </p:txBody>
      </p:sp>
      <p:sp>
        <p:nvSpPr>
          <p:cNvPr id="36" name="Shape 34"/>
          <p:cNvSpPr/>
          <p:nvPr/>
        </p:nvSpPr>
        <p:spPr>
          <a:xfrm>
            <a:off x="5568696" y="1965960"/>
            <a:ext cx="182880" cy="182880"/>
          </a:xfrm>
          <a:prstGeom prst="roundRect">
            <a:avLst>
              <a:gd name="adj" fmla="val 20000"/>
            </a:avLst>
          </a:prstGeom>
          <a:solidFill>
            <a:srgbClr val="F472B6"/>
          </a:solidFill>
          <a:ln w="12700">
            <a:solidFill>
              <a:srgbClr val="F472B6"/>
            </a:solidFill>
            <a:prstDash val="solid"/>
          </a:ln>
        </p:spPr>
        <p:txBody>
          <a:bodyPr/>
          <a:lstStyle/>
          <a:p>
            <a:endParaRPr lang="en-US"/>
          </a:p>
        </p:txBody>
      </p:sp>
      <p:sp>
        <p:nvSpPr>
          <p:cNvPr id="37" name="Shape 35"/>
          <p:cNvSpPr/>
          <p:nvPr/>
        </p:nvSpPr>
        <p:spPr>
          <a:xfrm>
            <a:off x="5660136" y="2148840"/>
            <a:ext cx="0" cy="228600"/>
          </a:xfrm>
          <a:prstGeom prst="line">
            <a:avLst/>
          </a:prstGeom>
          <a:noFill/>
          <a:ln w="12700">
            <a:solidFill>
              <a:srgbClr val="F472B6"/>
            </a:solidFill>
            <a:prstDash val="solid"/>
            <a:tailEnd type="triangle"/>
          </a:ln>
        </p:spPr>
        <p:txBody>
          <a:bodyPr/>
          <a:lstStyle/>
          <a:p>
            <a:endParaRPr lang="en-US"/>
          </a:p>
        </p:txBody>
      </p:sp>
      <p:sp>
        <p:nvSpPr>
          <p:cNvPr id="38" name="Shape 36"/>
          <p:cNvSpPr/>
          <p:nvPr/>
        </p:nvSpPr>
        <p:spPr>
          <a:xfrm>
            <a:off x="5824728" y="1965960"/>
            <a:ext cx="182880" cy="182880"/>
          </a:xfrm>
          <a:prstGeom prst="roundRect">
            <a:avLst>
              <a:gd name="adj" fmla="val 20000"/>
            </a:avLst>
          </a:prstGeom>
          <a:solidFill>
            <a:srgbClr val="F472B6"/>
          </a:solidFill>
          <a:ln w="12700">
            <a:solidFill>
              <a:srgbClr val="F472B6"/>
            </a:solidFill>
            <a:prstDash val="solid"/>
          </a:ln>
        </p:spPr>
        <p:txBody>
          <a:bodyPr/>
          <a:lstStyle/>
          <a:p>
            <a:endParaRPr lang="en-US"/>
          </a:p>
        </p:txBody>
      </p:sp>
      <p:sp>
        <p:nvSpPr>
          <p:cNvPr id="39" name="Shape 37"/>
          <p:cNvSpPr/>
          <p:nvPr/>
        </p:nvSpPr>
        <p:spPr>
          <a:xfrm>
            <a:off x="5916168" y="2148840"/>
            <a:ext cx="0" cy="228600"/>
          </a:xfrm>
          <a:prstGeom prst="line">
            <a:avLst/>
          </a:prstGeom>
          <a:noFill/>
          <a:ln w="12700">
            <a:solidFill>
              <a:srgbClr val="F472B6"/>
            </a:solidFill>
            <a:prstDash val="solid"/>
            <a:tailEnd type="triangle"/>
          </a:ln>
        </p:spPr>
        <p:txBody>
          <a:bodyPr/>
          <a:lstStyle/>
          <a:p>
            <a:endParaRPr lang="en-US"/>
          </a:p>
        </p:txBody>
      </p:sp>
      <p:sp>
        <p:nvSpPr>
          <p:cNvPr id="40" name="Shape 38"/>
          <p:cNvSpPr/>
          <p:nvPr/>
        </p:nvSpPr>
        <p:spPr>
          <a:xfrm>
            <a:off x="4800600" y="2377440"/>
            <a:ext cx="3749040" cy="347472"/>
          </a:xfrm>
          <a:prstGeom prst="roundRect">
            <a:avLst>
              <a:gd name="adj" fmla="val 21053"/>
            </a:avLst>
          </a:prstGeom>
          <a:solidFill>
            <a:srgbClr val="1B2547"/>
          </a:solidFill>
          <a:ln w="15875">
            <a:solidFill>
              <a:srgbClr val="F472B6"/>
            </a:solidFill>
            <a:prstDash val="solid"/>
          </a:ln>
        </p:spPr>
        <p:txBody>
          <a:bodyPr/>
          <a:lstStyle/>
          <a:p>
            <a:endParaRPr lang="en-US"/>
          </a:p>
        </p:txBody>
      </p:sp>
      <p:sp>
        <p:nvSpPr>
          <p:cNvPr id="41" name="Text 39"/>
          <p:cNvSpPr txBox="1"/>
          <p:nvPr/>
        </p:nvSpPr>
        <p:spPr>
          <a:xfrm>
            <a:off x="4846320" y="2414016"/>
            <a:ext cx="3657600" cy="310896"/>
          </a:xfrm>
          <a:prstGeom prst="rect">
            <a:avLst/>
          </a:prstGeom>
          <a:noFill/>
          <a:ln/>
        </p:spPr>
        <p:txBody>
          <a:bodyPr wrap="square" lIns="0" tIns="0" rIns="0" bIns="0" rtlCol="0" anchor="ctr"/>
          <a:lstStyle/>
          <a:p>
            <a:pPr marL="0" indent="0" algn="ctr">
              <a:buNone/>
            </a:pPr>
            <a:r>
              <a:rPr lang="en-US" sz="1000" b="1" dirty="0">
                <a:solidFill>
                  <a:srgbClr val="F1F5F9"/>
                </a:solidFill>
              </a:rPr>
              <a:t>1 like = 1 Firestore write → ~1 write/s ceiling → throttling</a:t>
            </a:r>
            <a:endParaRPr lang="en-US" sz="1000" dirty="0"/>
          </a:p>
        </p:txBody>
      </p:sp>
      <p:sp>
        <p:nvSpPr>
          <p:cNvPr id="42" name="Text 40"/>
          <p:cNvSpPr txBox="1"/>
          <p:nvPr/>
        </p:nvSpPr>
        <p:spPr>
          <a:xfrm>
            <a:off x="4800600" y="2852928"/>
            <a:ext cx="1828800" cy="228600"/>
          </a:xfrm>
          <a:prstGeom prst="rect">
            <a:avLst/>
          </a:prstGeom>
          <a:noFill/>
          <a:ln/>
        </p:spPr>
        <p:txBody>
          <a:bodyPr wrap="square" lIns="0" tIns="0" rIns="0" bIns="0" rtlCol="0" anchor="t"/>
          <a:lstStyle/>
          <a:p>
            <a:pPr marL="0" indent="0">
              <a:buNone/>
            </a:pPr>
            <a:r>
              <a:rPr lang="en-US" sz="1200" b="1" dirty="0">
                <a:solidFill>
                  <a:srgbClr val="34D399"/>
                </a:solidFill>
              </a:rPr>
              <a:t>BackTrack</a:t>
            </a:r>
            <a:endParaRPr lang="en-US" sz="1200" dirty="0"/>
          </a:p>
        </p:txBody>
      </p:sp>
      <p:sp>
        <p:nvSpPr>
          <p:cNvPr id="43" name="Shape 41"/>
          <p:cNvSpPr/>
          <p:nvPr/>
        </p:nvSpPr>
        <p:spPr>
          <a:xfrm>
            <a:off x="4800600" y="3127248"/>
            <a:ext cx="1005840" cy="457200"/>
          </a:xfrm>
          <a:prstGeom prst="roundRect">
            <a:avLst>
              <a:gd name="adj" fmla="val 16000"/>
            </a:avLst>
          </a:prstGeom>
          <a:solidFill>
            <a:srgbClr val="1B2547"/>
          </a:solidFill>
          <a:ln w="15875">
            <a:solidFill>
              <a:srgbClr val="818CF8"/>
            </a:solidFill>
            <a:prstDash val="solid"/>
          </a:ln>
        </p:spPr>
        <p:txBody>
          <a:bodyPr/>
          <a:lstStyle/>
          <a:p>
            <a:endParaRPr lang="en-US"/>
          </a:p>
        </p:txBody>
      </p:sp>
      <p:sp>
        <p:nvSpPr>
          <p:cNvPr id="44" name="Text 42"/>
          <p:cNvSpPr txBox="1"/>
          <p:nvPr/>
        </p:nvSpPr>
        <p:spPr>
          <a:xfrm>
            <a:off x="4846320" y="3163824"/>
            <a:ext cx="914400" cy="420624"/>
          </a:xfrm>
          <a:prstGeom prst="rect">
            <a:avLst/>
          </a:prstGeom>
          <a:noFill/>
          <a:ln/>
        </p:spPr>
        <p:txBody>
          <a:bodyPr wrap="square" lIns="0" tIns="0" rIns="0" bIns="0" rtlCol="0" anchor="ctr"/>
          <a:lstStyle/>
          <a:p>
            <a:pPr marL="0" indent="0" algn="ctr">
              <a:buNone/>
            </a:pPr>
            <a:r>
              <a:rPr lang="en-US" sz="1000" b="1" dirty="0">
                <a:solidFill>
                  <a:srgbClr val="F1F5F9"/>
                </a:solidFill>
              </a:rPr>
              <a:t>1000s of likes</a:t>
            </a:r>
            <a:endParaRPr lang="en-US" sz="1000" dirty="0"/>
          </a:p>
        </p:txBody>
      </p:sp>
      <p:sp>
        <p:nvSpPr>
          <p:cNvPr id="45" name="Shape 43"/>
          <p:cNvSpPr/>
          <p:nvPr/>
        </p:nvSpPr>
        <p:spPr>
          <a:xfrm>
            <a:off x="5806440" y="3355848"/>
            <a:ext cx="274320" cy="0"/>
          </a:xfrm>
          <a:prstGeom prst="line">
            <a:avLst/>
          </a:prstGeom>
          <a:noFill/>
          <a:ln w="19050">
            <a:solidFill>
              <a:srgbClr val="818CF8"/>
            </a:solidFill>
            <a:prstDash val="solid"/>
            <a:tailEnd type="triangle"/>
          </a:ln>
        </p:spPr>
        <p:txBody>
          <a:bodyPr/>
          <a:lstStyle/>
          <a:p>
            <a:endParaRPr lang="en-US"/>
          </a:p>
        </p:txBody>
      </p:sp>
      <p:sp>
        <p:nvSpPr>
          <p:cNvPr id="46" name="Shape 44"/>
          <p:cNvSpPr/>
          <p:nvPr/>
        </p:nvSpPr>
        <p:spPr>
          <a:xfrm>
            <a:off x="6080760" y="3127248"/>
            <a:ext cx="1143000" cy="457200"/>
          </a:xfrm>
          <a:prstGeom prst="roundRect">
            <a:avLst>
              <a:gd name="adj" fmla="val 16000"/>
            </a:avLst>
          </a:prstGeom>
          <a:solidFill>
            <a:srgbClr val="1B2547"/>
          </a:solidFill>
          <a:ln w="15875">
            <a:solidFill>
              <a:srgbClr val="34D399"/>
            </a:solidFill>
            <a:prstDash val="solid"/>
          </a:ln>
        </p:spPr>
        <p:txBody>
          <a:bodyPr/>
          <a:lstStyle/>
          <a:p>
            <a:endParaRPr lang="en-US"/>
          </a:p>
        </p:txBody>
      </p:sp>
      <p:sp>
        <p:nvSpPr>
          <p:cNvPr id="47" name="Text 45"/>
          <p:cNvSpPr txBox="1"/>
          <p:nvPr/>
        </p:nvSpPr>
        <p:spPr>
          <a:xfrm>
            <a:off x="6126480" y="3163824"/>
            <a:ext cx="1051560" cy="420624"/>
          </a:xfrm>
          <a:prstGeom prst="rect">
            <a:avLst/>
          </a:prstGeom>
          <a:noFill/>
          <a:ln/>
        </p:spPr>
        <p:txBody>
          <a:bodyPr wrap="square" lIns="0" tIns="0" rIns="0" bIns="0" rtlCol="0" anchor="ctr"/>
          <a:lstStyle/>
          <a:p>
            <a:pPr marL="0" indent="0" algn="ctr">
              <a:buNone/>
            </a:pPr>
            <a:r>
              <a:rPr lang="en-US" sz="1000" b="1" dirty="0">
                <a:solidFill>
                  <a:srgbClr val="F1F5F9"/>
                </a:solidFill>
              </a:rPr>
              <a:t>Redis INCR (atomic)</a:t>
            </a:r>
            <a:endParaRPr lang="en-US" sz="1000" dirty="0"/>
          </a:p>
        </p:txBody>
      </p:sp>
      <p:sp>
        <p:nvSpPr>
          <p:cNvPr id="48" name="Shape 46"/>
          <p:cNvSpPr/>
          <p:nvPr/>
        </p:nvSpPr>
        <p:spPr>
          <a:xfrm>
            <a:off x="7223760" y="3355848"/>
            <a:ext cx="274320" cy="0"/>
          </a:xfrm>
          <a:prstGeom prst="line">
            <a:avLst/>
          </a:prstGeom>
          <a:noFill/>
          <a:ln w="19050">
            <a:solidFill>
              <a:srgbClr val="818CF8"/>
            </a:solidFill>
            <a:prstDash val="solid"/>
            <a:tailEnd type="triangle"/>
          </a:ln>
        </p:spPr>
        <p:txBody>
          <a:bodyPr/>
          <a:lstStyle/>
          <a:p>
            <a:endParaRPr lang="en-US"/>
          </a:p>
        </p:txBody>
      </p:sp>
      <p:sp>
        <p:nvSpPr>
          <p:cNvPr id="49" name="Shape 47"/>
          <p:cNvSpPr/>
          <p:nvPr/>
        </p:nvSpPr>
        <p:spPr>
          <a:xfrm>
            <a:off x="7498080" y="3127248"/>
            <a:ext cx="1051560" cy="457200"/>
          </a:xfrm>
          <a:prstGeom prst="roundRect">
            <a:avLst>
              <a:gd name="adj" fmla="val 16000"/>
            </a:avLst>
          </a:prstGeom>
          <a:solidFill>
            <a:srgbClr val="1B2547"/>
          </a:solidFill>
          <a:ln w="15875">
            <a:solidFill>
              <a:srgbClr val="818CF8"/>
            </a:solidFill>
            <a:prstDash val="solid"/>
          </a:ln>
        </p:spPr>
        <p:txBody>
          <a:bodyPr/>
          <a:lstStyle/>
          <a:p>
            <a:endParaRPr lang="en-US"/>
          </a:p>
        </p:txBody>
      </p:sp>
      <p:sp>
        <p:nvSpPr>
          <p:cNvPr id="50" name="Text 48"/>
          <p:cNvSpPr txBox="1"/>
          <p:nvPr/>
        </p:nvSpPr>
        <p:spPr>
          <a:xfrm>
            <a:off x="7543800" y="3163824"/>
            <a:ext cx="960120" cy="420624"/>
          </a:xfrm>
          <a:prstGeom prst="rect">
            <a:avLst/>
          </a:prstGeom>
          <a:noFill/>
          <a:ln/>
        </p:spPr>
        <p:txBody>
          <a:bodyPr wrap="square" lIns="0" tIns="0" rIns="0" bIns="0" rtlCol="0" anchor="ctr"/>
          <a:lstStyle/>
          <a:p>
            <a:pPr marL="0" indent="0" algn="ctr">
              <a:buNone/>
            </a:pPr>
            <a:r>
              <a:rPr lang="en-US" sz="1000" b="1" dirty="0">
                <a:solidFill>
                  <a:srgbClr val="F1F5F9"/>
                </a:solidFill>
              </a:rPr>
              <a:t>Batch to Firestore</a:t>
            </a:r>
            <a:endParaRPr lang="en-US" sz="1000" dirty="0"/>
          </a:p>
        </p:txBody>
      </p:sp>
      <p:sp>
        <p:nvSpPr>
          <p:cNvPr id="51" name="Text 49"/>
          <p:cNvSpPr txBox="1"/>
          <p:nvPr/>
        </p:nvSpPr>
        <p:spPr>
          <a:xfrm>
            <a:off x="4800600" y="3749040"/>
            <a:ext cx="3749040" cy="365760"/>
          </a:xfrm>
          <a:prstGeom prst="rect">
            <a:avLst/>
          </a:prstGeom>
          <a:noFill/>
          <a:ln/>
        </p:spPr>
        <p:txBody>
          <a:bodyPr wrap="square" lIns="0" tIns="0" rIns="0" bIns="0" rtlCol="0" anchor="t"/>
          <a:lstStyle/>
          <a:p>
            <a:pPr marL="0" indent="0">
              <a:buNone/>
            </a:pPr>
            <a:r>
              <a:rPr lang="en-US" sz="1100" dirty="0">
                <a:solidFill>
                  <a:srgbClr val="94A3B8"/>
                </a:solidFill>
              </a:rPr>
              <a:t>Trade-off: counts are eventually consistent for up to ~5 s.</a:t>
            </a:r>
            <a:endParaRPr lang="en-US" sz="1100" dirty="0"/>
          </a:p>
        </p:txBody>
      </p:sp>
      <p:sp>
        <p:nvSpPr>
          <p:cNvPr id="52" name="Text 50"/>
          <p:cNvSpPr txBox="1"/>
          <p:nvPr/>
        </p:nvSpPr>
        <p:spPr>
          <a:xfrm>
            <a:off x="4800600" y="4206240"/>
            <a:ext cx="3749040" cy="274320"/>
          </a:xfrm>
          <a:prstGeom prst="rect">
            <a:avLst/>
          </a:prstGeom>
          <a:noFill/>
          <a:ln/>
        </p:spPr>
        <p:txBody>
          <a:bodyPr wrap="square" lIns="0" tIns="0" rIns="0" bIns="0" rtlCol="0" anchor="t"/>
          <a:lstStyle/>
          <a:p>
            <a:pPr marL="0" indent="0">
              <a:buNone/>
            </a:pPr>
            <a:r>
              <a:rPr lang="en-US" sz="1000" dirty="0">
                <a:solidFill>
                  <a:srgbClr val="34D399"/>
                </a:solidFill>
              </a:rPr>
              <a:t>Code: INCRBY + 5 s flush timer in the Feed API.</a:t>
            </a:r>
            <a:endParaRPr lang="en-US" sz="1000" dirty="0"/>
          </a:p>
        </p:txBody>
      </p:sp>
      <p:sp>
        <p:nvSpPr>
          <p:cNvPr id="53"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Secure by design</a:t>
            </a:r>
            <a:endParaRPr lang="en-US" sz="3000" dirty="0"/>
          </a:p>
        </p:txBody>
      </p:sp>
      <p:sp>
        <p:nvSpPr>
          <p:cNvPr id="3" name="Subtitle"/>
          <p:cNvSpPr txBox="1"/>
          <p:nvPr/>
        </p:nvSpPr>
        <p:spPr>
          <a:xfrm>
            <a:off x="457200" y="758952"/>
            <a:ext cx="8229600" cy="274320"/>
          </a:xfrm>
          <a:prstGeom prst="rect">
            <a:avLst/>
          </a:prstGeom>
          <a:noFill/>
          <a:ln/>
        </p:spPr>
        <p:txBody>
          <a:bodyPr wrap="square" lIns="0" tIns="0" rIns="0" bIns="0" rtlCol="0" anchor="ctr"/>
          <a:lstStyle/>
          <a:p>
            <a:pPr marL="0" indent="0">
              <a:buNone/>
            </a:pPr>
            <a:r>
              <a:rPr lang="en-US" sz="1400" dirty="0">
                <a:solidFill>
                  <a:srgbClr val="22D3EE"/>
                </a:solidFill>
                <a:latin typeface="Calibri" pitchFamily="34" charset="0"/>
                <a:ea typeface="Calibri" pitchFamily="34" charset="-122"/>
                <a:cs typeface="Calibri" pitchFamily="34" charset="-120"/>
              </a:rPr>
              <a:t>Defence in layers — and what is real today</a:t>
            </a:r>
            <a:endParaRPr lang="en-US" sz="1400" dirty="0"/>
          </a:p>
        </p:txBody>
      </p:sp>
      <p:sp>
        <p:nvSpPr>
          <p:cNvPr id="4" name="Footer"/>
          <p:cNvSpPr txBox="1"/>
          <p:nvPr/>
        </p:nvSpPr>
        <p:spPr>
          <a:xfrm>
            <a:off x="457200" y="4828032"/>
            <a:ext cx="3657600" cy="228600"/>
          </a:xfrm>
          <a:prstGeom prst="rect">
            <a:avLst/>
          </a:prstGeom>
          <a:noFill/>
          <a:ln/>
        </p:spPr>
        <p:txBody>
          <a:bodyPr wrap="square" lIns="0" tIns="0" rIns="0" bIns="0" rtlCol="0" anchor="ctr"/>
          <a:lstStyle/>
          <a:p>
            <a:pPr marL="0" indent="0">
              <a:buNone/>
            </a:pPr>
            <a:r>
              <a:rPr lang="en-US" sz="1000" dirty="0">
                <a:solidFill>
                  <a:srgbClr val="94A3B8"/>
                </a:solidFill>
              </a:rPr>
              <a:t>BackTrack · BOC 2.0 Final</a:t>
            </a:r>
            <a:endParaRPr lang="en-US" sz="1000" dirty="0"/>
          </a:p>
        </p:txBody>
      </p:sp>
      <p:sp>
        <p:nvSpPr>
          <p:cNvPr id="5" name="Shape 3"/>
          <p:cNvSpPr/>
          <p:nvPr/>
        </p:nvSpPr>
        <p:spPr>
          <a:xfrm>
            <a:off x="457200" y="1143000"/>
            <a:ext cx="8229600" cy="475488"/>
          </a:xfrm>
          <a:prstGeom prst="roundRect">
            <a:avLst>
              <a:gd name="adj" fmla="val 15385"/>
            </a:avLst>
          </a:prstGeom>
          <a:solidFill>
            <a:srgbClr val="131A33"/>
          </a:solidFill>
          <a:ln w="12700">
            <a:solidFill>
              <a:srgbClr val="2A3563"/>
            </a:solidFill>
            <a:prstDash val="solid"/>
          </a:ln>
        </p:spPr>
        <p:txBody>
          <a:bodyPr/>
          <a:lstStyle/>
          <a:p>
            <a:endParaRPr lang="en-US"/>
          </a:p>
        </p:txBody>
      </p:sp>
      <p:sp>
        <p:nvSpPr>
          <p:cNvPr id="6" name="Text 4"/>
          <p:cNvSpPr txBox="1"/>
          <p:nvPr/>
        </p:nvSpPr>
        <p:spPr>
          <a:xfrm>
            <a:off x="594360" y="1143000"/>
            <a:ext cx="1005840" cy="493776"/>
          </a:xfrm>
          <a:prstGeom prst="rect">
            <a:avLst/>
          </a:prstGeom>
          <a:noFill/>
          <a:ln/>
        </p:spPr>
        <p:txBody>
          <a:bodyPr wrap="square" lIns="0" tIns="0" rIns="0" bIns="0" rtlCol="0" anchor="ctr"/>
          <a:lstStyle/>
          <a:p>
            <a:pPr marL="0" indent="0">
              <a:buNone/>
            </a:pPr>
            <a:r>
              <a:rPr lang="en-US" sz="1400" b="1" dirty="0">
                <a:solidFill>
                  <a:srgbClr val="22D3EE"/>
                </a:solidFill>
              </a:rPr>
              <a:t>Identity</a:t>
            </a:r>
            <a:endParaRPr lang="en-US" sz="1400" dirty="0"/>
          </a:p>
        </p:txBody>
      </p:sp>
      <p:sp>
        <p:nvSpPr>
          <p:cNvPr id="7" name="Text 5"/>
          <p:cNvSpPr txBox="1"/>
          <p:nvPr/>
        </p:nvSpPr>
        <p:spPr>
          <a:xfrm>
            <a:off x="1645920" y="1179576"/>
            <a:ext cx="3291840" cy="420624"/>
          </a:xfrm>
          <a:prstGeom prst="rect">
            <a:avLst/>
          </a:prstGeom>
          <a:noFill/>
          <a:ln/>
        </p:spPr>
        <p:txBody>
          <a:bodyPr wrap="square" lIns="0" tIns="0" rIns="0" bIns="0" rtlCol="0" anchor="ctr"/>
          <a:lstStyle/>
          <a:p>
            <a:pPr marL="0" indent="0">
              <a:buNone/>
            </a:pPr>
            <a:r>
              <a:rPr lang="en-US" sz="1100" b="1" dirty="0">
                <a:solidFill>
                  <a:srgbClr val="F1F5F9"/>
                </a:solidFill>
              </a:rPr>
              <a:t>OAuth 2.0 / OIDC sign-in</a:t>
            </a:r>
            <a:endParaRPr lang="en-US" sz="1100" dirty="0"/>
          </a:p>
        </p:txBody>
      </p:sp>
      <p:sp>
        <p:nvSpPr>
          <p:cNvPr id="8" name="Text 6"/>
          <p:cNvSpPr txBox="1"/>
          <p:nvPr/>
        </p:nvSpPr>
        <p:spPr>
          <a:xfrm>
            <a:off x="5029200" y="1179576"/>
            <a:ext cx="2606040" cy="420624"/>
          </a:xfrm>
          <a:prstGeom prst="rect">
            <a:avLst/>
          </a:prstGeom>
          <a:noFill/>
          <a:ln/>
        </p:spPr>
        <p:txBody>
          <a:bodyPr wrap="square" lIns="0" tIns="0" rIns="0" bIns="0" rtlCol="0" anchor="ctr"/>
          <a:lstStyle/>
          <a:p>
            <a:pPr marL="0" indent="0">
              <a:buNone/>
            </a:pPr>
            <a:r>
              <a:rPr lang="en-US" sz="1000" dirty="0">
                <a:solidFill>
                  <a:srgbClr val="94A3B8"/>
                </a:solidFill>
              </a:rPr>
              <a:t>MVP uses demo personas + unverified token decode — real verification is next</a:t>
            </a:r>
            <a:endParaRPr lang="en-US" sz="1000" dirty="0"/>
          </a:p>
        </p:txBody>
      </p:sp>
      <p:sp>
        <p:nvSpPr>
          <p:cNvPr id="9" name="Shape 7"/>
          <p:cNvSpPr/>
          <p:nvPr/>
        </p:nvSpPr>
        <p:spPr>
          <a:xfrm>
            <a:off x="7680960" y="1289304"/>
            <a:ext cx="914400" cy="201168"/>
          </a:xfrm>
          <a:prstGeom prst="roundRect">
            <a:avLst>
              <a:gd name="adj" fmla="val 50000"/>
            </a:avLst>
          </a:prstGeom>
          <a:solidFill>
            <a:srgbClr val="60A5FA"/>
          </a:solidFill>
          <a:ln w="6350">
            <a:solidFill>
              <a:srgbClr val="60A5FA"/>
            </a:solidFill>
            <a:prstDash val="solid"/>
          </a:ln>
        </p:spPr>
        <p:txBody>
          <a:bodyPr/>
          <a:lstStyle/>
          <a:p>
            <a:endParaRPr lang="en-US"/>
          </a:p>
        </p:txBody>
      </p:sp>
      <p:sp>
        <p:nvSpPr>
          <p:cNvPr id="10" name="Text 8"/>
          <p:cNvSpPr txBox="1"/>
          <p:nvPr/>
        </p:nvSpPr>
        <p:spPr>
          <a:xfrm>
            <a:off x="7680960" y="1289304"/>
            <a:ext cx="914400" cy="201168"/>
          </a:xfrm>
          <a:prstGeom prst="rect">
            <a:avLst/>
          </a:prstGeom>
          <a:noFill/>
          <a:ln/>
        </p:spPr>
        <p:txBody>
          <a:bodyPr wrap="square" lIns="0" tIns="0" rIns="0" bIns="0" rtlCol="0" anchor="ctr"/>
          <a:lstStyle/>
          <a:p>
            <a:pPr marL="0" indent="0" algn="ctr">
              <a:buNone/>
            </a:pPr>
            <a:r>
              <a:rPr lang="en-US" sz="1000" b="1" dirty="0">
                <a:solidFill>
                  <a:srgbClr val="0B1020"/>
                </a:solidFill>
              </a:rPr>
              <a:t>MOCKED</a:t>
            </a:r>
            <a:endParaRPr lang="en-US" sz="1000" dirty="0"/>
          </a:p>
        </p:txBody>
      </p:sp>
      <p:sp>
        <p:nvSpPr>
          <p:cNvPr id="11" name="Shape 9"/>
          <p:cNvSpPr/>
          <p:nvPr/>
        </p:nvSpPr>
        <p:spPr>
          <a:xfrm>
            <a:off x="457200" y="1691640"/>
            <a:ext cx="8229600" cy="475488"/>
          </a:xfrm>
          <a:prstGeom prst="roundRect">
            <a:avLst>
              <a:gd name="adj" fmla="val 15385"/>
            </a:avLst>
          </a:prstGeom>
          <a:solidFill>
            <a:srgbClr val="131A33"/>
          </a:solidFill>
          <a:ln w="12700">
            <a:solidFill>
              <a:srgbClr val="2A3563"/>
            </a:solidFill>
            <a:prstDash val="solid"/>
          </a:ln>
        </p:spPr>
        <p:txBody>
          <a:bodyPr/>
          <a:lstStyle/>
          <a:p>
            <a:endParaRPr lang="en-US"/>
          </a:p>
        </p:txBody>
      </p:sp>
      <p:sp>
        <p:nvSpPr>
          <p:cNvPr id="12" name="Text 10"/>
          <p:cNvSpPr txBox="1"/>
          <p:nvPr/>
        </p:nvSpPr>
        <p:spPr>
          <a:xfrm>
            <a:off x="594360" y="1691640"/>
            <a:ext cx="1005840" cy="493776"/>
          </a:xfrm>
          <a:prstGeom prst="rect">
            <a:avLst/>
          </a:prstGeom>
          <a:noFill/>
          <a:ln/>
        </p:spPr>
        <p:txBody>
          <a:bodyPr wrap="square" lIns="0" tIns="0" rIns="0" bIns="0" rtlCol="0" anchor="ctr"/>
          <a:lstStyle/>
          <a:p>
            <a:pPr marL="0" indent="0">
              <a:buNone/>
            </a:pPr>
            <a:r>
              <a:rPr lang="en-US" sz="1400" b="1" dirty="0">
                <a:solidFill>
                  <a:srgbClr val="22D3EE"/>
                </a:solidFill>
              </a:rPr>
              <a:t>Access</a:t>
            </a:r>
            <a:endParaRPr lang="en-US" sz="1400" dirty="0"/>
          </a:p>
        </p:txBody>
      </p:sp>
      <p:sp>
        <p:nvSpPr>
          <p:cNvPr id="13" name="Text 11"/>
          <p:cNvSpPr txBox="1"/>
          <p:nvPr/>
        </p:nvSpPr>
        <p:spPr>
          <a:xfrm>
            <a:off x="1645920" y="1728216"/>
            <a:ext cx="3291840" cy="420624"/>
          </a:xfrm>
          <a:prstGeom prst="rect">
            <a:avLst/>
          </a:prstGeom>
          <a:noFill/>
          <a:ln/>
        </p:spPr>
        <p:txBody>
          <a:bodyPr wrap="square" lIns="0" tIns="0" rIns="0" bIns="0" rtlCol="0" anchor="ctr"/>
          <a:lstStyle/>
          <a:p>
            <a:pPr marL="0" indent="0">
              <a:buNone/>
            </a:pPr>
            <a:r>
              <a:rPr lang="en-US" sz="1100" b="1" dirty="0">
                <a:solidFill>
                  <a:srgbClr val="F1F5F9"/>
                </a:solidFill>
              </a:rPr>
              <a:t>Least-privilege IAM service accounts per service</a:t>
            </a:r>
            <a:endParaRPr lang="en-US" sz="1100" dirty="0"/>
          </a:p>
        </p:txBody>
      </p:sp>
      <p:sp>
        <p:nvSpPr>
          <p:cNvPr id="14" name="Text 12"/>
          <p:cNvSpPr txBox="1"/>
          <p:nvPr/>
        </p:nvSpPr>
        <p:spPr>
          <a:xfrm>
            <a:off x="5029200" y="1728216"/>
            <a:ext cx="2606040" cy="420624"/>
          </a:xfrm>
          <a:prstGeom prst="rect">
            <a:avLst/>
          </a:prstGeom>
          <a:noFill/>
          <a:ln/>
        </p:spPr>
        <p:txBody>
          <a:bodyPr wrap="square" lIns="0" tIns="0" rIns="0" bIns="0" rtlCol="0" anchor="ctr"/>
          <a:lstStyle/>
          <a:p>
            <a:pPr marL="0" indent="0">
              <a:buNone/>
            </a:pPr>
            <a:r>
              <a:rPr lang="en-US" sz="1000" dirty="0">
                <a:solidFill>
                  <a:srgbClr val="94A3B8"/>
                </a:solidFill>
              </a:rPr>
              <a:t>Terraform defines separate accounts for API, worker, Eventarc</a:t>
            </a:r>
            <a:endParaRPr lang="en-US" sz="1000" dirty="0"/>
          </a:p>
        </p:txBody>
      </p:sp>
      <p:sp>
        <p:nvSpPr>
          <p:cNvPr id="15" name="Shape 13"/>
          <p:cNvSpPr/>
          <p:nvPr/>
        </p:nvSpPr>
        <p:spPr>
          <a:xfrm>
            <a:off x="7680960" y="1837944"/>
            <a:ext cx="914400" cy="201168"/>
          </a:xfrm>
          <a:prstGeom prst="roundRect">
            <a:avLst>
              <a:gd name="adj" fmla="val 50000"/>
            </a:avLst>
          </a:prstGeom>
          <a:solidFill>
            <a:srgbClr val="FBBF24"/>
          </a:solidFill>
          <a:ln w="6350">
            <a:solidFill>
              <a:srgbClr val="FBBF24"/>
            </a:solidFill>
            <a:prstDash val="solid"/>
          </a:ln>
        </p:spPr>
        <p:txBody>
          <a:bodyPr/>
          <a:lstStyle/>
          <a:p>
            <a:endParaRPr lang="en-US"/>
          </a:p>
        </p:txBody>
      </p:sp>
      <p:sp>
        <p:nvSpPr>
          <p:cNvPr id="16" name="Text 14"/>
          <p:cNvSpPr txBox="1"/>
          <p:nvPr/>
        </p:nvSpPr>
        <p:spPr>
          <a:xfrm>
            <a:off x="7680960" y="1837944"/>
            <a:ext cx="914400" cy="201168"/>
          </a:xfrm>
          <a:prstGeom prst="rect">
            <a:avLst/>
          </a:prstGeom>
          <a:noFill/>
          <a:ln/>
        </p:spPr>
        <p:txBody>
          <a:bodyPr wrap="square" lIns="0" tIns="0" rIns="0" bIns="0" rtlCol="0" anchor="ctr"/>
          <a:lstStyle/>
          <a:p>
            <a:pPr marL="0" indent="0" algn="ctr">
              <a:buNone/>
            </a:pPr>
            <a:r>
              <a:rPr lang="en-US" sz="1000" b="1" dirty="0">
                <a:solidFill>
                  <a:srgbClr val="0B1020"/>
                </a:solidFill>
              </a:rPr>
              <a:t>PARTIAL</a:t>
            </a:r>
            <a:endParaRPr lang="en-US" sz="1000" dirty="0"/>
          </a:p>
        </p:txBody>
      </p:sp>
      <p:sp>
        <p:nvSpPr>
          <p:cNvPr id="17" name="Shape 15"/>
          <p:cNvSpPr/>
          <p:nvPr/>
        </p:nvSpPr>
        <p:spPr>
          <a:xfrm>
            <a:off x="457200" y="2240280"/>
            <a:ext cx="8229600" cy="475488"/>
          </a:xfrm>
          <a:prstGeom prst="roundRect">
            <a:avLst>
              <a:gd name="adj" fmla="val 15385"/>
            </a:avLst>
          </a:prstGeom>
          <a:solidFill>
            <a:srgbClr val="131A33"/>
          </a:solidFill>
          <a:ln w="12700">
            <a:solidFill>
              <a:srgbClr val="2A3563"/>
            </a:solidFill>
            <a:prstDash val="solid"/>
          </a:ln>
        </p:spPr>
        <p:txBody>
          <a:bodyPr/>
          <a:lstStyle/>
          <a:p>
            <a:endParaRPr lang="en-US"/>
          </a:p>
        </p:txBody>
      </p:sp>
      <p:sp>
        <p:nvSpPr>
          <p:cNvPr id="18" name="Text 16"/>
          <p:cNvSpPr txBox="1"/>
          <p:nvPr/>
        </p:nvSpPr>
        <p:spPr>
          <a:xfrm>
            <a:off x="594360" y="2240280"/>
            <a:ext cx="1005840" cy="493776"/>
          </a:xfrm>
          <a:prstGeom prst="rect">
            <a:avLst/>
          </a:prstGeom>
          <a:noFill/>
          <a:ln/>
        </p:spPr>
        <p:txBody>
          <a:bodyPr wrap="square" lIns="0" tIns="0" rIns="0" bIns="0" rtlCol="0" anchor="ctr"/>
          <a:lstStyle/>
          <a:p>
            <a:pPr marL="0" indent="0">
              <a:buNone/>
            </a:pPr>
            <a:r>
              <a:rPr lang="en-US" sz="1400" b="1" dirty="0">
                <a:solidFill>
                  <a:srgbClr val="22D3EE"/>
                </a:solidFill>
              </a:rPr>
              <a:t>Upload</a:t>
            </a:r>
            <a:endParaRPr lang="en-US" sz="1400" dirty="0"/>
          </a:p>
        </p:txBody>
      </p:sp>
      <p:sp>
        <p:nvSpPr>
          <p:cNvPr id="19" name="Text 17"/>
          <p:cNvSpPr txBox="1"/>
          <p:nvPr/>
        </p:nvSpPr>
        <p:spPr>
          <a:xfrm>
            <a:off x="1645920" y="2276856"/>
            <a:ext cx="3291840" cy="420624"/>
          </a:xfrm>
          <a:prstGeom prst="rect">
            <a:avLst/>
          </a:prstGeom>
          <a:noFill/>
          <a:ln/>
        </p:spPr>
        <p:txBody>
          <a:bodyPr wrap="square" lIns="0" tIns="0" rIns="0" bIns="0" rtlCol="0" anchor="ctr"/>
          <a:lstStyle/>
          <a:p>
            <a:pPr marL="0" indent="0">
              <a:buNone/>
            </a:pPr>
            <a:r>
              <a:rPr lang="en-US" sz="1100" b="1" dirty="0">
                <a:solidFill>
                  <a:srgbClr val="F1F5F9"/>
                </a:solidFill>
              </a:rPr>
              <a:t>Private buckets; single-use V4 signed URLs, 15-min TTL</a:t>
            </a:r>
            <a:endParaRPr lang="en-US" sz="1100" dirty="0"/>
          </a:p>
        </p:txBody>
      </p:sp>
      <p:sp>
        <p:nvSpPr>
          <p:cNvPr id="20" name="Text 18"/>
          <p:cNvSpPr txBox="1"/>
          <p:nvPr/>
        </p:nvSpPr>
        <p:spPr>
          <a:xfrm>
            <a:off x="5029200" y="2276856"/>
            <a:ext cx="2606040" cy="420624"/>
          </a:xfrm>
          <a:prstGeom prst="rect">
            <a:avLst/>
          </a:prstGeom>
          <a:noFill/>
          <a:ln/>
        </p:spPr>
        <p:txBody>
          <a:bodyPr wrap="square" lIns="0" tIns="0" rIns="0" bIns="0" rtlCol="0" anchor="ctr"/>
          <a:lstStyle/>
          <a:p>
            <a:pPr marL="0" indent="0">
              <a:buNone/>
            </a:pPr>
            <a:r>
              <a:rPr lang="en-US" sz="1000" dirty="0">
                <a:solidFill>
                  <a:srgbClr val="94A3B8"/>
                </a:solidFill>
              </a:rPr>
              <a:t>Signed-URL route in Feed API; falls back to mock without GCS credentials</a:t>
            </a:r>
            <a:endParaRPr lang="en-US" sz="1000" dirty="0"/>
          </a:p>
        </p:txBody>
      </p:sp>
      <p:sp>
        <p:nvSpPr>
          <p:cNvPr id="21" name="Shape 19"/>
          <p:cNvSpPr/>
          <p:nvPr/>
        </p:nvSpPr>
        <p:spPr>
          <a:xfrm>
            <a:off x="7680960" y="2386584"/>
            <a:ext cx="914400" cy="201168"/>
          </a:xfrm>
          <a:prstGeom prst="roundRect">
            <a:avLst>
              <a:gd name="adj" fmla="val 50000"/>
            </a:avLst>
          </a:prstGeom>
          <a:solidFill>
            <a:srgbClr val="FBBF24"/>
          </a:solidFill>
          <a:ln w="6350">
            <a:solidFill>
              <a:srgbClr val="FBBF24"/>
            </a:solidFill>
            <a:prstDash val="solid"/>
          </a:ln>
        </p:spPr>
        <p:txBody>
          <a:bodyPr/>
          <a:lstStyle/>
          <a:p>
            <a:endParaRPr lang="en-US"/>
          </a:p>
        </p:txBody>
      </p:sp>
      <p:sp>
        <p:nvSpPr>
          <p:cNvPr id="22" name="Text 20"/>
          <p:cNvSpPr txBox="1"/>
          <p:nvPr/>
        </p:nvSpPr>
        <p:spPr>
          <a:xfrm>
            <a:off x="7680960" y="2386584"/>
            <a:ext cx="914400" cy="201168"/>
          </a:xfrm>
          <a:prstGeom prst="rect">
            <a:avLst/>
          </a:prstGeom>
          <a:noFill/>
          <a:ln/>
        </p:spPr>
        <p:txBody>
          <a:bodyPr wrap="square" lIns="0" tIns="0" rIns="0" bIns="0" rtlCol="0" anchor="ctr"/>
          <a:lstStyle/>
          <a:p>
            <a:pPr marL="0" indent="0" algn="ctr">
              <a:buNone/>
            </a:pPr>
            <a:r>
              <a:rPr lang="en-US" sz="1000" b="1" dirty="0">
                <a:solidFill>
                  <a:srgbClr val="0B1020"/>
                </a:solidFill>
              </a:rPr>
              <a:t>PARTIAL</a:t>
            </a:r>
            <a:endParaRPr lang="en-US" sz="1000" dirty="0"/>
          </a:p>
        </p:txBody>
      </p:sp>
      <p:sp>
        <p:nvSpPr>
          <p:cNvPr id="23" name="Shape 21"/>
          <p:cNvSpPr/>
          <p:nvPr/>
        </p:nvSpPr>
        <p:spPr>
          <a:xfrm>
            <a:off x="457200" y="2788920"/>
            <a:ext cx="8229600" cy="475488"/>
          </a:xfrm>
          <a:prstGeom prst="roundRect">
            <a:avLst>
              <a:gd name="adj" fmla="val 15385"/>
            </a:avLst>
          </a:prstGeom>
          <a:solidFill>
            <a:srgbClr val="131A33"/>
          </a:solidFill>
          <a:ln w="12700">
            <a:solidFill>
              <a:srgbClr val="2A3563"/>
            </a:solidFill>
            <a:prstDash val="solid"/>
          </a:ln>
        </p:spPr>
        <p:txBody>
          <a:bodyPr/>
          <a:lstStyle/>
          <a:p>
            <a:endParaRPr lang="en-US"/>
          </a:p>
        </p:txBody>
      </p:sp>
      <p:sp>
        <p:nvSpPr>
          <p:cNvPr id="24" name="Text 22"/>
          <p:cNvSpPr txBox="1"/>
          <p:nvPr/>
        </p:nvSpPr>
        <p:spPr>
          <a:xfrm>
            <a:off x="594360" y="2788920"/>
            <a:ext cx="1005840" cy="493776"/>
          </a:xfrm>
          <a:prstGeom prst="rect">
            <a:avLst/>
          </a:prstGeom>
          <a:noFill/>
          <a:ln/>
        </p:spPr>
        <p:txBody>
          <a:bodyPr wrap="square" lIns="0" tIns="0" rIns="0" bIns="0" rtlCol="0" anchor="ctr"/>
          <a:lstStyle/>
          <a:p>
            <a:pPr marL="0" indent="0">
              <a:buNone/>
            </a:pPr>
            <a:r>
              <a:rPr lang="en-US" sz="1400" b="1" dirty="0">
                <a:solidFill>
                  <a:srgbClr val="22D3EE"/>
                </a:solidFill>
              </a:rPr>
              <a:t>Data</a:t>
            </a:r>
            <a:endParaRPr lang="en-US" sz="1400" dirty="0"/>
          </a:p>
        </p:txBody>
      </p:sp>
      <p:sp>
        <p:nvSpPr>
          <p:cNvPr id="25" name="Text 23"/>
          <p:cNvSpPr txBox="1"/>
          <p:nvPr/>
        </p:nvSpPr>
        <p:spPr>
          <a:xfrm>
            <a:off x="1645920" y="2825496"/>
            <a:ext cx="3291840" cy="420624"/>
          </a:xfrm>
          <a:prstGeom prst="rect">
            <a:avLst/>
          </a:prstGeom>
          <a:noFill/>
          <a:ln/>
        </p:spPr>
        <p:txBody>
          <a:bodyPr wrap="square" lIns="0" tIns="0" rIns="0" bIns="0" rtlCol="0" anchor="ctr"/>
          <a:lstStyle/>
          <a:p>
            <a:pPr marL="0" indent="0">
              <a:buNone/>
            </a:pPr>
            <a:r>
              <a:rPr lang="en-US" sz="1100" b="1" dirty="0">
                <a:solidFill>
                  <a:srgbClr val="F1F5F9"/>
                </a:solidFill>
              </a:rPr>
              <a:t>AES-256 at rest (Google-managed) · TLS 1.3 in transit</a:t>
            </a:r>
            <a:endParaRPr lang="en-US" sz="1100" dirty="0"/>
          </a:p>
        </p:txBody>
      </p:sp>
      <p:sp>
        <p:nvSpPr>
          <p:cNvPr id="26" name="Text 24"/>
          <p:cNvSpPr txBox="1"/>
          <p:nvPr/>
        </p:nvSpPr>
        <p:spPr>
          <a:xfrm>
            <a:off x="5029200" y="2825496"/>
            <a:ext cx="2606040" cy="420624"/>
          </a:xfrm>
          <a:prstGeom prst="rect">
            <a:avLst/>
          </a:prstGeom>
          <a:noFill/>
          <a:ln/>
        </p:spPr>
        <p:txBody>
          <a:bodyPr wrap="square" lIns="0" tIns="0" rIns="0" bIns="0" rtlCol="0" anchor="ctr"/>
          <a:lstStyle/>
          <a:p>
            <a:pPr marL="0" indent="0">
              <a:buNone/>
            </a:pPr>
            <a:r>
              <a:rPr lang="en-US" sz="1000" dirty="0">
                <a:solidFill>
                  <a:srgbClr val="94A3B8"/>
                </a:solidFill>
              </a:rPr>
              <a:t>Platform defaults on GCP — not custom-built</a:t>
            </a:r>
            <a:endParaRPr lang="en-US" sz="1000" dirty="0"/>
          </a:p>
        </p:txBody>
      </p:sp>
      <p:sp>
        <p:nvSpPr>
          <p:cNvPr id="27" name="Shape 25"/>
          <p:cNvSpPr/>
          <p:nvPr/>
        </p:nvSpPr>
        <p:spPr>
          <a:xfrm>
            <a:off x="7680960" y="2935224"/>
            <a:ext cx="914400" cy="201168"/>
          </a:xfrm>
          <a:prstGeom prst="roundRect">
            <a:avLst>
              <a:gd name="adj" fmla="val 50000"/>
            </a:avLst>
          </a:prstGeom>
          <a:solidFill>
            <a:srgbClr val="34D399"/>
          </a:solidFill>
          <a:ln w="6350">
            <a:solidFill>
              <a:srgbClr val="34D399"/>
            </a:solidFill>
            <a:prstDash val="solid"/>
          </a:ln>
        </p:spPr>
        <p:txBody>
          <a:bodyPr/>
          <a:lstStyle/>
          <a:p>
            <a:endParaRPr lang="en-US"/>
          </a:p>
        </p:txBody>
      </p:sp>
      <p:sp>
        <p:nvSpPr>
          <p:cNvPr id="28" name="Text 26"/>
          <p:cNvSpPr txBox="1"/>
          <p:nvPr/>
        </p:nvSpPr>
        <p:spPr>
          <a:xfrm>
            <a:off x="7680960" y="2935224"/>
            <a:ext cx="914400" cy="201168"/>
          </a:xfrm>
          <a:prstGeom prst="rect">
            <a:avLst/>
          </a:prstGeom>
          <a:noFill/>
          <a:ln/>
        </p:spPr>
        <p:txBody>
          <a:bodyPr wrap="square" lIns="0" tIns="0" rIns="0" bIns="0" rtlCol="0" anchor="ctr"/>
          <a:lstStyle/>
          <a:p>
            <a:pPr marL="0" indent="0" algn="ctr">
              <a:buNone/>
            </a:pPr>
            <a:r>
              <a:rPr lang="en-US" sz="1000" b="1" dirty="0">
                <a:solidFill>
                  <a:srgbClr val="0B1020"/>
                </a:solidFill>
              </a:rPr>
              <a:t>IMPLEMENTED</a:t>
            </a:r>
            <a:endParaRPr lang="en-US" sz="1000" dirty="0"/>
          </a:p>
        </p:txBody>
      </p:sp>
      <p:sp>
        <p:nvSpPr>
          <p:cNvPr id="29" name="Shape 27"/>
          <p:cNvSpPr/>
          <p:nvPr/>
        </p:nvSpPr>
        <p:spPr>
          <a:xfrm>
            <a:off x="457200" y="3337560"/>
            <a:ext cx="8229600" cy="475488"/>
          </a:xfrm>
          <a:prstGeom prst="roundRect">
            <a:avLst>
              <a:gd name="adj" fmla="val 15385"/>
            </a:avLst>
          </a:prstGeom>
          <a:solidFill>
            <a:srgbClr val="131A33"/>
          </a:solidFill>
          <a:ln w="12700">
            <a:solidFill>
              <a:srgbClr val="2A3563"/>
            </a:solidFill>
            <a:prstDash val="solid"/>
          </a:ln>
        </p:spPr>
        <p:txBody>
          <a:bodyPr/>
          <a:lstStyle/>
          <a:p>
            <a:endParaRPr lang="en-US"/>
          </a:p>
        </p:txBody>
      </p:sp>
      <p:sp>
        <p:nvSpPr>
          <p:cNvPr id="30" name="Text 28"/>
          <p:cNvSpPr txBox="1"/>
          <p:nvPr/>
        </p:nvSpPr>
        <p:spPr>
          <a:xfrm>
            <a:off x="594360" y="3337560"/>
            <a:ext cx="1005840" cy="493776"/>
          </a:xfrm>
          <a:prstGeom prst="rect">
            <a:avLst/>
          </a:prstGeom>
          <a:noFill/>
          <a:ln/>
        </p:spPr>
        <p:txBody>
          <a:bodyPr wrap="square" lIns="0" tIns="0" rIns="0" bIns="0" rtlCol="0" anchor="ctr"/>
          <a:lstStyle/>
          <a:p>
            <a:pPr marL="0" indent="0">
              <a:buNone/>
            </a:pPr>
            <a:r>
              <a:rPr lang="en-US" sz="1400" b="1" dirty="0">
                <a:solidFill>
                  <a:srgbClr val="22D3EE"/>
                </a:solidFill>
              </a:rPr>
              <a:t>Messages</a:t>
            </a:r>
            <a:endParaRPr lang="en-US" sz="1400" dirty="0"/>
          </a:p>
        </p:txBody>
      </p:sp>
      <p:sp>
        <p:nvSpPr>
          <p:cNvPr id="31" name="Text 29"/>
          <p:cNvSpPr txBox="1"/>
          <p:nvPr/>
        </p:nvSpPr>
        <p:spPr>
          <a:xfrm>
            <a:off x="1645920" y="3374136"/>
            <a:ext cx="3291840" cy="420624"/>
          </a:xfrm>
          <a:prstGeom prst="rect">
            <a:avLst/>
          </a:prstGeom>
          <a:noFill/>
          <a:ln/>
        </p:spPr>
        <p:txBody>
          <a:bodyPr wrap="square" lIns="0" tIns="0" rIns="0" bIns="0" rtlCol="0" anchor="ctr"/>
          <a:lstStyle/>
          <a:p>
            <a:pPr marL="0" indent="0">
              <a:buNone/>
            </a:pPr>
            <a:r>
              <a:rPr lang="en-US" sz="1100" b="1" dirty="0">
                <a:solidFill>
                  <a:srgbClr val="F1F5F9"/>
                </a:solidFill>
              </a:rPr>
              <a:t>DMs readable only by sender and recipient</a:t>
            </a:r>
            <a:endParaRPr lang="en-US" sz="1100" dirty="0"/>
          </a:p>
        </p:txBody>
      </p:sp>
      <p:sp>
        <p:nvSpPr>
          <p:cNvPr id="32" name="Text 30"/>
          <p:cNvSpPr txBox="1"/>
          <p:nvPr/>
        </p:nvSpPr>
        <p:spPr>
          <a:xfrm>
            <a:off x="5029200" y="3374136"/>
            <a:ext cx="2606040" cy="420624"/>
          </a:xfrm>
          <a:prstGeom prst="rect">
            <a:avLst/>
          </a:prstGeom>
          <a:noFill/>
          <a:ln/>
        </p:spPr>
        <p:txBody>
          <a:bodyPr wrap="square" lIns="0" tIns="0" rIns="0" bIns="0" rtlCol="0" anchor="ctr"/>
          <a:lstStyle/>
          <a:p>
            <a:pPr marL="0" indent="0">
              <a:buNone/>
            </a:pPr>
            <a:r>
              <a:rPr lang="en-US" sz="1000" dirty="0">
                <a:solidFill>
                  <a:srgbClr val="94A3B8"/>
                </a:solidFill>
              </a:rPr>
              <a:t>Firestore security rules written in infra/firestore.rules</a:t>
            </a:r>
            <a:endParaRPr lang="en-US" sz="1000" dirty="0"/>
          </a:p>
        </p:txBody>
      </p:sp>
      <p:sp>
        <p:nvSpPr>
          <p:cNvPr id="33" name="Shape 31"/>
          <p:cNvSpPr/>
          <p:nvPr/>
        </p:nvSpPr>
        <p:spPr>
          <a:xfrm>
            <a:off x="7680960" y="3483864"/>
            <a:ext cx="914400" cy="201168"/>
          </a:xfrm>
          <a:prstGeom prst="roundRect">
            <a:avLst>
              <a:gd name="adj" fmla="val 50000"/>
            </a:avLst>
          </a:prstGeom>
          <a:solidFill>
            <a:srgbClr val="34D399"/>
          </a:solidFill>
          <a:ln w="6350">
            <a:solidFill>
              <a:srgbClr val="34D399"/>
            </a:solidFill>
            <a:prstDash val="solid"/>
          </a:ln>
        </p:spPr>
        <p:txBody>
          <a:bodyPr/>
          <a:lstStyle/>
          <a:p>
            <a:endParaRPr lang="en-US"/>
          </a:p>
        </p:txBody>
      </p:sp>
      <p:sp>
        <p:nvSpPr>
          <p:cNvPr id="34" name="Text 32"/>
          <p:cNvSpPr txBox="1"/>
          <p:nvPr/>
        </p:nvSpPr>
        <p:spPr>
          <a:xfrm>
            <a:off x="7680960" y="3483864"/>
            <a:ext cx="914400" cy="201168"/>
          </a:xfrm>
          <a:prstGeom prst="rect">
            <a:avLst/>
          </a:prstGeom>
          <a:noFill/>
          <a:ln/>
        </p:spPr>
        <p:txBody>
          <a:bodyPr wrap="square" lIns="0" tIns="0" rIns="0" bIns="0" rtlCol="0" anchor="ctr"/>
          <a:lstStyle/>
          <a:p>
            <a:pPr marL="0" indent="0" algn="ctr">
              <a:buNone/>
            </a:pPr>
            <a:r>
              <a:rPr lang="en-US" sz="1000" b="1" dirty="0">
                <a:solidFill>
                  <a:srgbClr val="0B1020"/>
                </a:solidFill>
              </a:rPr>
              <a:t>IMPLEMENTED</a:t>
            </a:r>
            <a:endParaRPr lang="en-US" sz="1000" dirty="0"/>
          </a:p>
        </p:txBody>
      </p:sp>
      <p:sp>
        <p:nvSpPr>
          <p:cNvPr id="35" name="Shape 33"/>
          <p:cNvSpPr/>
          <p:nvPr/>
        </p:nvSpPr>
        <p:spPr>
          <a:xfrm>
            <a:off x="457200" y="3886200"/>
            <a:ext cx="8229600" cy="475488"/>
          </a:xfrm>
          <a:prstGeom prst="roundRect">
            <a:avLst>
              <a:gd name="adj" fmla="val 15385"/>
            </a:avLst>
          </a:prstGeom>
          <a:solidFill>
            <a:srgbClr val="131A33"/>
          </a:solidFill>
          <a:ln w="12700">
            <a:solidFill>
              <a:srgbClr val="2A3563"/>
            </a:solidFill>
            <a:prstDash val="solid"/>
          </a:ln>
        </p:spPr>
        <p:txBody>
          <a:bodyPr/>
          <a:lstStyle/>
          <a:p>
            <a:endParaRPr lang="en-US"/>
          </a:p>
        </p:txBody>
      </p:sp>
      <p:sp>
        <p:nvSpPr>
          <p:cNvPr id="36" name="Text 34"/>
          <p:cNvSpPr txBox="1"/>
          <p:nvPr/>
        </p:nvSpPr>
        <p:spPr>
          <a:xfrm>
            <a:off x="594360" y="3886200"/>
            <a:ext cx="1005840" cy="493776"/>
          </a:xfrm>
          <a:prstGeom prst="rect">
            <a:avLst/>
          </a:prstGeom>
          <a:noFill/>
          <a:ln/>
        </p:spPr>
        <p:txBody>
          <a:bodyPr wrap="square" lIns="0" tIns="0" rIns="0" bIns="0" rtlCol="0" anchor="ctr"/>
          <a:lstStyle/>
          <a:p>
            <a:pPr marL="0" indent="0">
              <a:buNone/>
            </a:pPr>
            <a:r>
              <a:rPr lang="en-US" sz="1400" b="1" dirty="0">
                <a:solidFill>
                  <a:srgbClr val="22D3EE"/>
                </a:solidFill>
              </a:rPr>
              <a:t>App edge</a:t>
            </a:r>
            <a:endParaRPr lang="en-US" sz="1400" dirty="0"/>
          </a:p>
        </p:txBody>
      </p:sp>
      <p:sp>
        <p:nvSpPr>
          <p:cNvPr id="37" name="Text 35"/>
          <p:cNvSpPr txBox="1"/>
          <p:nvPr/>
        </p:nvSpPr>
        <p:spPr>
          <a:xfrm>
            <a:off x="1645920" y="3922776"/>
            <a:ext cx="3291840" cy="420624"/>
          </a:xfrm>
          <a:prstGeom prst="rect">
            <a:avLst/>
          </a:prstGeom>
          <a:noFill/>
          <a:ln/>
        </p:spPr>
        <p:txBody>
          <a:bodyPr wrap="square" lIns="0" tIns="0" rIns="0" bIns="0" rtlCol="0" anchor="ctr"/>
          <a:lstStyle/>
          <a:p>
            <a:pPr marL="0" indent="0">
              <a:buNone/>
            </a:pPr>
            <a:r>
              <a:rPr lang="en-US" sz="1100" b="1" dirty="0">
                <a:solidFill>
                  <a:srgbClr val="F1F5F9"/>
                </a:solidFill>
              </a:rPr>
              <a:t>Rate limits, Helmet headers, non-root containers</a:t>
            </a:r>
            <a:endParaRPr lang="en-US" sz="1100" dirty="0"/>
          </a:p>
        </p:txBody>
      </p:sp>
      <p:sp>
        <p:nvSpPr>
          <p:cNvPr id="38" name="Text 36"/>
          <p:cNvSpPr txBox="1"/>
          <p:nvPr/>
        </p:nvSpPr>
        <p:spPr>
          <a:xfrm>
            <a:off x="5029200" y="3922776"/>
            <a:ext cx="2606040" cy="420624"/>
          </a:xfrm>
          <a:prstGeom prst="rect">
            <a:avLst/>
          </a:prstGeom>
          <a:noFill/>
          <a:ln/>
        </p:spPr>
        <p:txBody>
          <a:bodyPr wrap="square" lIns="0" tIns="0" rIns="0" bIns="0" rtlCol="0" anchor="ctr"/>
          <a:lstStyle/>
          <a:p>
            <a:pPr marL="0" indent="0">
              <a:buNone/>
            </a:pPr>
            <a:r>
              <a:rPr lang="en-US" sz="1000" dirty="0">
                <a:solidFill>
                  <a:srgbClr val="94A3B8"/>
                </a:solidFill>
              </a:rPr>
              <a:t>120 req/min API · 20 uploads/min · USER node</a:t>
            </a:r>
            <a:endParaRPr lang="en-US" sz="1000" dirty="0"/>
          </a:p>
        </p:txBody>
      </p:sp>
      <p:sp>
        <p:nvSpPr>
          <p:cNvPr id="39" name="Shape 37"/>
          <p:cNvSpPr/>
          <p:nvPr/>
        </p:nvSpPr>
        <p:spPr>
          <a:xfrm>
            <a:off x="7680960" y="4032504"/>
            <a:ext cx="914400" cy="201168"/>
          </a:xfrm>
          <a:prstGeom prst="roundRect">
            <a:avLst>
              <a:gd name="adj" fmla="val 50000"/>
            </a:avLst>
          </a:prstGeom>
          <a:solidFill>
            <a:srgbClr val="34D399"/>
          </a:solidFill>
          <a:ln w="6350">
            <a:solidFill>
              <a:srgbClr val="34D399"/>
            </a:solidFill>
            <a:prstDash val="solid"/>
          </a:ln>
        </p:spPr>
        <p:txBody>
          <a:bodyPr/>
          <a:lstStyle/>
          <a:p>
            <a:endParaRPr lang="en-US"/>
          </a:p>
        </p:txBody>
      </p:sp>
      <p:sp>
        <p:nvSpPr>
          <p:cNvPr id="40" name="Text 38"/>
          <p:cNvSpPr txBox="1"/>
          <p:nvPr/>
        </p:nvSpPr>
        <p:spPr>
          <a:xfrm>
            <a:off x="7680960" y="4032504"/>
            <a:ext cx="914400" cy="201168"/>
          </a:xfrm>
          <a:prstGeom prst="rect">
            <a:avLst/>
          </a:prstGeom>
          <a:noFill/>
          <a:ln/>
        </p:spPr>
        <p:txBody>
          <a:bodyPr wrap="square" lIns="0" tIns="0" rIns="0" bIns="0" rtlCol="0" anchor="ctr"/>
          <a:lstStyle/>
          <a:p>
            <a:pPr marL="0" indent="0" algn="ctr">
              <a:buNone/>
            </a:pPr>
            <a:r>
              <a:rPr lang="en-US" sz="1000" b="1" dirty="0">
                <a:solidFill>
                  <a:srgbClr val="0B1020"/>
                </a:solidFill>
              </a:rPr>
              <a:t>IMPLEMENTED</a:t>
            </a:r>
            <a:endParaRPr lang="en-US" sz="1000" dirty="0"/>
          </a:p>
        </p:txBody>
      </p:sp>
      <p:sp>
        <p:nvSpPr>
          <p:cNvPr id="41" name="Text 39"/>
          <p:cNvSpPr txBox="1"/>
          <p:nvPr/>
        </p:nvSpPr>
        <p:spPr>
          <a:xfrm>
            <a:off x="457200" y="4507992"/>
            <a:ext cx="8229600" cy="256032"/>
          </a:xfrm>
          <a:prstGeom prst="rect">
            <a:avLst/>
          </a:prstGeom>
          <a:noFill/>
          <a:ln/>
        </p:spPr>
        <p:txBody>
          <a:bodyPr wrap="square" lIns="0" tIns="0" rIns="0" bIns="0" rtlCol="0" anchor="t"/>
          <a:lstStyle/>
          <a:p>
            <a:pPr marL="0" indent="0">
              <a:buNone/>
            </a:pPr>
            <a:r>
              <a:rPr lang="en-US" sz="1000" dirty="0">
                <a:solidFill>
                  <a:srgbClr val="FBBF24"/>
                </a:solidFill>
              </a:rPr>
              <a:t>Design: worker must not read user profiles. MVP Terraform gives it broader Firestore access (to update post status); we would tighten this.</a:t>
            </a:r>
            <a:endParaRPr lang="en-US" sz="1000" dirty="0"/>
          </a:p>
        </p:txBody>
      </p:sp>
      <p:sp>
        <p:nvSpPr>
          <p:cNvPr id="42"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Reliable &amp; observable</a:t>
            </a:r>
            <a:endParaRPr lang="en-US" sz="3000" dirty="0"/>
          </a:p>
        </p:txBody>
      </p:sp>
      <p:sp>
        <p:nvSpPr>
          <p:cNvPr id="3" name="Subtitle"/>
          <p:cNvSpPr txBox="1"/>
          <p:nvPr/>
        </p:nvSpPr>
        <p:spPr>
          <a:xfrm>
            <a:off x="457200" y="758952"/>
            <a:ext cx="8229600" cy="274320"/>
          </a:xfrm>
          <a:prstGeom prst="rect">
            <a:avLst/>
          </a:prstGeom>
          <a:noFill/>
          <a:ln/>
        </p:spPr>
        <p:txBody>
          <a:bodyPr wrap="square" lIns="0" tIns="0" rIns="0" bIns="0" rtlCol="0" anchor="ctr"/>
          <a:lstStyle/>
          <a:p>
            <a:pPr marL="0" indent="0">
              <a:buNone/>
            </a:pPr>
            <a:r>
              <a:rPr lang="en-US" sz="1400" dirty="0">
                <a:solidFill>
                  <a:srgbClr val="22D3EE"/>
                </a:solidFill>
                <a:latin typeface="Calibri" pitchFamily="34" charset="0"/>
                <a:ea typeface="Calibri" pitchFamily="34" charset="-122"/>
                <a:cs typeface="Calibri" pitchFamily="34" charset="-120"/>
              </a:rPr>
              <a:t>Prefer availability and no data loss over exotic complexity</a:t>
            </a:r>
            <a:endParaRPr lang="en-US" sz="1400" dirty="0"/>
          </a:p>
        </p:txBody>
      </p:sp>
      <p:sp>
        <p:nvSpPr>
          <p:cNvPr id="4" name="Footer"/>
          <p:cNvSpPr txBox="1"/>
          <p:nvPr/>
        </p:nvSpPr>
        <p:spPr>
          <a:xfrm>
            <a:off x="457200" y="4828032"/>
            <a:ext cx="3657600" cy="228600"/>
          </a:xfrm>
          <a:prstGeom prst="rect">
            <a:avLst/>
          </a:prstGeom>
          <a:noFill/>
          <a:ln/>
        </p:spPr>
        <p:txBody>
          <a:bodyPr wrap="square" lIns="0" tIns="0" rIns="0" bIns="0" rtlCol="0" anchor="ctr"/>
          <a:lstStyle/>
          <a:p>
            <a:pPr marL="0" indent="0">
              <a:buNone/>
            </a:pPr>
            <a:r>
              <a:rPr lang="en-US" sz="1000" dirty="0">
                <a:solidFill>
                  <a:srgbClr val="94A3B8"/>
                </a:solidFill>
              </a:rPr>
              <a:t>BackTrack · BOC 2.0 Final</a:t>
            </a:r>
            <a:endParaRPr lang="en-US" sz="1000" dirty="0"/>
          </a:p>
        </p:txBody>
      </p:sp>
      <p:sp>
        <p:nvSpPr>
          <p:cNvPr id="5" name="Shape 3"/>
          <p:cNvSpPr/>
          <p:nvPr/>
        </p:nvSpPr>
        <p:spPr>
          <a:xfrm>
            <a:off x="457200" y="1188720"/>
            <a:ext cx="4297680" cy="676656"/>
          </a:xfrm>
          <a:prstGeom prst="roundRect">
            <a:avLst>
              <a:gd name="adj" fmla="val 10811"/>
            </a:avLst>
          </a:prstGeom>
          <a:solidFill>
            <a:srgbClr val="131A33"/>
          </a:solidFill>
          <a:ln w="12700">
            <a:solidFill>
              <a:srgbClr val="2A3563"/>
            </a:solidFill>
            <a:prstDash val="solid"/>
          </a:ln>
        </p:spPr>
        <p:txBody>
          <a:bodyPr/>
          <a:lstStyle/>
          <a:p>
            <a:endParaRPr lang="en-US"/>
          </a:p>
        </p:txBody>
      </p:sp>
      <p:sp>
        <p:nvSpPr>
          <p:cNvPr id="6" name="Text 4"/>
          <p:cNvSpPr txBox="1"/>
          <p:nvPr/>
        </p:nvSpPr>
        <p:spPr>
          <a:xfrm>
            <a:off x="566928" y="1234440"/>
            <a:ext cx="2286000" cy="228600"/>
          </a:xfrm>
          <a:prstGeom prst="rect">
            <a:avLst/>
          </a:prstGeom>
          <a:noFill/>
          <a:ln/>
        </p:spPr>
        <p:txBody>
          <a:bodyPr wrap="square" lIns="0" tIns="0" rIns="0" bIns="0" rtlCol="0" anchor="t"/>
          <a:lstStyle/>
          <a:p>
            <a:pPr marL="0" indent="0">
              <a:buNone/>
            </a:pPr>
            <a:r>
              <a:rPr lang="en-US" sz="1300" b="1" dirty="0">
                <a:solidFill>
                  <a:srgbClr val="22D3EE"/>
                </a:solidFill>
              </a:rPr>
              <a:t>Redis fails</a:t>
            </a:r>
            <a:endParaRPr lang="en-US" sz="1300" dirty="0"/>
          </a:p>
        </p:txBody>
      </p:sp>
      <p:sp>
        <p:nvSpPr>
          <p:cNvPr id="7" name="Shape 5"/>
          <p:cNvSpPr/>
          <p:nvPr/>
        </p:nvSpPr>
        <p:spPr>
          <a:xfrm>
            <a:off x="3657600" y="1243584"/>
            <a:ext cx="960120" cy="201168"/>
          </a:xfrm>
          <a:prstGeom prst="roundRect">
            <a:avLst>
              <a:gd name="adj" fmla="val 50000"/>
            </a:avLst>
          </a:prstGeom>
          <a:solidFill>
            <a:srgbClr val="FBBF24"/>
          </a:solidFill>
          <a:ln w="6350">
            <a:solidFill>
              <a:srgbClr val="FBBF24"/>
            </a:solidFill>
            <a:prstDash val="solid"/>
          </a:ln>
        </p:spPr>
        <p:txBody>
          <a:bodyPr/>
          <a:lstStyle/>
          <a:p>
            <a:endParaRPr lang="en-US"/>
          </a:p>
        </p:txBody>
      </p:sp>
      <p:sp>
        <p:nvSpPr>
          <p:cNvPr id="8" name="Text 6"/>
          <p:cNvSpPr txBox="1"/>
          <p:nvPr/>
        </p:nvSpPr>
        <p:spPr>
          <a:xfrm>
            <a:off x="3657600" y="1243584"/>
            <a:ext cx="960120" cy="201168"/>
          </a:xfrm>
          <a:prstGeom prst="rect">
            <a:avLst/>
          </a:prstGeom>
          <a:noFill/>
          <a:ln/>
        </p:spPr>
        <p:txBody>
          <a:bodyPr wrap="square" lIns="0" tIns="0" rIns="0" bIns="0" rtlCol="0" anchor="ctr"/>
          <a:lstStyle/>
          <a:p>
            <a:pPr marL="0" indent="0" algn="ctr">
              <a:buNone/>
            </a:pPr>
            <a:r>
              <a:rPr lang="en-US" sz="1000" b="1" dirty="0">
                <a:solidFill>
                  <a:srgbClr val="0B1020"/>
                </a:solidFill>
              </a:rPr>
              <a:t>PARTIAL</a:t>
            </a:r>
            <a:endParaRPr lang="en-US" sz="1000" dirty="0"/>
          </a:p>
        </p:txBody>
      </p:sp>
      <p:sp>
        <p:nvSpPr>
          <p:cNvPr id="9" name="Text 7"/>
          <p:cNvSpPr txBox="1"/>
          <p:nvPr/>
        </p:nvSpPr>
        <p:spPr>
          <a:xfrm>
            <a:off x="566928" y="1463040"/>
            <a:ext cx="4114800" cy="182880"/>
          </a:xfrm>
          <a:prstGeom prst="rect">
            <a:avLst/>
          </a:prstGeom>
          <a:noFill/>
          <a:ln/>
        </p:spPr>
        <p:txBody>
          <a:bodyPr wrap="square" lIns="0" tIns="0" rIns="0" bIns="0" rtlCol="0" anchor="t"/>
          <a:lstStyle/>
          <a:p>
            <a:pPr marL="0" indent="0">
              <a:buNone/>
            </a:pPr>
            <a:r>
              <a:rPr lang="en-US" sz="1000" dirty="0">
                <a:solidFill>
                  <a:srgbClr val="F1F5F9"/>
                </a:solidFill>
              </a:rPr>
              <a:t>Feed API falls back — slower feed, platform stays online</a:t>
            </a:r>
            <a:endParaRPr lang="en-US" sz="1000" dirty="0"/>
          </a:p>
        </p:txBody>
      </p:sp>
      <p:sp>
        <p:nvSpPr>
          <p:cNvPr id="10" name="Text 8"/>
          <p:cNvSpPr txBox="1"/>
          <p:nvPr/>
        </p:nvSpPr>
        <p:spPr>
          <a:xfrm>
            <a:off x="566928" y="1645920"/>
            <a:ext cx="4114800" cy="182880"/>
          </a:xfrm>
          <a:prstGeom prst="rect">
            <a:avLst/>
          </a:prstGeom>
          <a:noFill/>
          <a:ln/>
        </p:spPr>
        <p:txBody>
          <a:bodyPr wrap="square" lIns="0" tIns="0" rIns="0" bIns="0" rtlCol="0" anchor="t"/>
          <a:lstStyle/>
          <a:p>
            <a:pPr marL="0" indent="0">
              <a:buNone/>
            </a:pPr>
            <a:r>
              <a:rPr lang="en-US" sz="1000" dirty="0">
                <a:solidFill>
                  <a:srgbClr val="94A3B8"/>
                </a:solidFill>
              </a:rPr>
              <a:t>Code falls back to in-memory / Firestore; circuit breaker not built</a:t>
            </a:r>
            <a:endParaRPr lang="en-US" sz="1000" dirty="0"/>
          </a:p>
        </p:txBody>
      </p:sp>
      <p:sp>
        <p:nvSpPr>
          <p:cNvPr id="11" name="Shape 9"/>
          <p:cNvSpPr/>
          <p:nvPr/>
        </p:nvSpPr>
        <p:spPr>
          <a:xfrm>
            <a:off x="457200" y="1938528"/>
            <a:ext cx="4297680" cy="676656"/>
          </a:xfrm>
          <a:prstGeom prst="roundRect">
            <a:avLst>
              <a:gd name="adj" fmla="val 10811"/>
            </a:avLst>
          </a:prstGeom>
          <a:solidFill>
            <a:srgbClr val="131A33"/>
          </a:solidFill>
          <a:ln w="12700">
            <a:solidFill>
              <a:srgbClr val="2A3563"/>
            </a:solidFill>
            <a:prstDash val="solid"/>
          </a:ln>
        </p:spPr>
        <p:txBody>
          <a:bodyPr/>
          <a:lstStyle/>
          <a:p>
            <a:endParaRPr lang="en-US"/>
          </a:p>
        </p:txBody>
      </p:sp>
      <p:sp>
        <p:nvSpPr>
          <p:cNvPr id="12" name="Text 10"/>
          <p:cNvSpPr txBox="1"/>
          <p:nvPr/>
        </p:nvSpPr>
        <p:spPr>
          <a:xfrm>
            <a:off x="566928" y="1984248"/>
            <a:ext cx="2286000" cy="228600"/>
          </a:xfrm>
          <a:prstGeom prst="rect">
            <a:avLst/>
          </a:prstGeom>
          <a:noFill/>
          <a:ln/>
        </p:spPr>
        <p:txBody>
          <a:bodyPr wrap="square" lIns="0" tIns="0" rIns="0" bIns="0" rtlCol="0" anchor="t"/>
          <a:lstStyle/>
          <a:p>
            <a:pPr marL="0" indent="0">
              <a:buNone/>
            </a:pPr>
            <a:r>
              <a:rPr lang="en-US" sz="1300" b="1" dirty="0">
                <a:solidFill>
                  <a:srgbClr val="22D3EE"/>
                </a:solidFill>
              </a:rPr>
              <a:t>Processing fails</a:t>
            </a:r>
            <a:endParaRPr lang="en-US" sz="1300" dirty="0"/>
          </a:p>
        </p:txBody>
      </p:sp>
      <p:sp>
        <p:nvSpPr>
          <p:cNvPr id="13" name="Shape 11"/>
          <p:cNvSpPr/>
          <p:nvPr/>
        </p:nvSpPr>
        <p:spPr>
          <a:xfrm>
            <a:off x="3657600" y="1993392"/>
            <a:ext cx="960120" cy="201168"/>
          </a:xfrm>
          <a:prstGeom prst="roundRect">
            <a:avLst>
              <a:gd name="adj" fmla="val 50000"/>
            </a:avLst>
          </a:prstGeom>
          <a:solidFill>
            <a:srgbClr val="CBD5E1"/>
          </a:solidFill>
          <a:ln w="6350">
            <a:solidFill>
              <a:srgbClr val="CBD5E1"/>
            </a:solidFill>
            <a:prstDash val="solid"/>
          </a:ln>
        </p:spPr>
        <p:txBody>
          <a:bodyPr/>
          <a:lstStyle/>
          <a:p>
            <a:endParaRPr lang="en-US"/>
          </a:p>
        </p:txBody>
      </p:sp>
      <p:sp>
        <p:nvSpPr>
          <p:cNvPr id="14" name="Text 12"/>
          <p:cNvSpPr txBox="1"/>
          <p:nvPr/>
        </p:nvSpPr>
        <p:spPr>
          <a:xfrm>
            <a:off x="3657600" y="1993392"/>
            <a:ext cx="960120" cy="201168"/>
          </a:xfrm>
          <a:prstGeom prst="rect">
            <a:avLst/>
          </a:prstGeom>
          <a:noFill/>
          <a:ln/>
        </p:spPr>
        <p:txBody>
          <a:bodyPr wrap="square" lIns="0" tIns="0" rIns="0" bIns="0" rtlCol="0" anchor="ctr"/>
          <a:lstStyle/>
          <a:p>
            <a:pPr marL="0" indent="0" algn="ctr">
              <a:buNone/>
            </a:pPr>
            <a:r>
              <a:rPr lang="en-US" sz="1000" b="1" dirty="0">
                <a:solidFill>
                  <a:srgbClr val="0B1020"/>
                </a:solidFill>
              </a:rPr>
              <a:t>FUTURE</a:t>
            </a:r>
            <a:endParaRPr lang="en-US" sz="1000" dirty="0"/>
          </a:p>
        </p:txBody>
      </p:sp>
      <p:sp>
        <p:nvSpPr>
          <p:cNvPr id="15" name="Text 13"/>
          <p:cNvSpPr txBox="1"/>
          <p:nvPr/>
        </p:nvSpPr>
        <p:spPr>
          <a:xfrm>
            <a:off x="566928" y="2212848"/>
            <a:ext cx="4114800" cy="182880"/>
          </a:xfrm>
          <a:prstGeom prst="rect">
            <a:avLst/>
          </a:prstGeom>
          <a:noFill/>
          <a:ln/>
        </p:spPr>
        <p:txBody>
          <a:bodyPr wrap="square" lIns="0" tIns="0" rIns="0" bIns="0" rtlCol="0" anchor="t"/>
          <a:lstStyle/>
          <a:p>
            <a:pPr marL="0" indent="0">
              <a:buNone/>
            </a:pPr>
            <a:r>
              <a:rPr lang="en-US" sz="1000" dirty="0">
                <a:solidFill>
                  <a:srgbClr val="F1F5F9"/>
                </a:solidFill>
              </a:rPr>
              <a:t>Failed events retried with exponential backoff via Pub/Sub dead-letter queue</a:t>
            </a:r>
            <a:endParaRPr lang="en-US" sz="1000" dirty="0"/>
          </a:p>
        </p:txBody>
      </p:sp>
      <p:sp>
        <p:nvSpPr>
          <p:cNvPr id="16" name="Text 14"/>
          <p:cNvSpPr txBox="1"/>
          <p:nvPr/>
        </p:nvSpPr>
        <p:spPr>
          <a:xfrm>
            <a:off x="566928" y="2395728"/>
            <a:ext cx="4114800" cy="182880"/>
          </a:xfrm>
          <a:prstGeom prst="rect">
            <a:avLst/>
          </a:prstGeom>
          <a:noFill/>
          <a:ln/>
        </p:spPr>
        <p:txBody>
          <a:bodyPr wrap="square" lIns="0" tIns="0" rIns="0" bIns="0" rtlCol="0" anchor="t"/>
          <a:lstStyle/>
          <a:p>
            <a:pPr marL="0" indent="0">
              <a:buNone/>
            </a:pPr>
            <a:r>
              <a:rPr lang="en-US" sz="1000" dirty="0">
                <a:solidFill>
                  <a:srgbClr val="94A3B8"/>
                </a:solidFill>
              </a:rPr>
              <a:t>MVP uses a direct Eventarc → Cloud Run push; no DLQ yet</a:t>
            </a:r>
            <a:endParaRPr lang="en-US" sz="1000" dirty="0"/>
          </a:p>
        </p:txBody>
      </p:sp>
      <p:sp>
        <p:nvSpPr>
          <p:cNvPr id="17" name="Shape 15"/>
          <p:cNvSpPr/>
          <p:nvPr/>
        </p:nvSpPr>
        <p:spPr>
          <a:xfrm>
            <a:off x="457200" y="2688336"/>
            <a:ext cx="4297680" cy="676656"/>
          </a:xfrm>
          <a:prstGeom prst="roundRect">
            <a:avLst>
              <a:gd name="adj" fmla="val 10811"/>
            </a:avLst>
          </a:prstGeom>
          <a:solidFill>
            <a:srgbClr val="131A33"/>
          </a:solidFill>
          <a:ln w="12700">
            <a:solidFill>
              <a:srgbClr val="2A3563"/>
            </a:solidFill>
            <a:prstDash val="solid"/>
          </a:ln>
        </p:spPr>
        <p:txBody>
          <a:bodyPr/>
          <a:lstStyle/>
          <a:p>
            <a:endParaRPr lang="en-US"/>
          </a:p>
        </p:txBody>
      </p:sp>
      <p:sp>
        <p:nvSpPr>
          <p:cNvPr id="18" name="Text 16"/>
          <p:cNvSpPr txBox="1"/>
          <p:nvPr/>
        </p:nvSpPr>
        <p:spPr>
          <a:xfrm>
            <a:off x="566928" y="2734056"/>
            <a:ext cx="2286000" cy="228600"/>
          </a:xfrm>
          <a:prstGeom prst="rect">
            <a:avLst/>
          </a:prstGeom>
          <a:noFill/>
          <a:ln/>
        </p:spPr>
        <p:txBody>
          <a:bodyPr wrap="square" lIns="0" tIns="0" rIns="0" bIns="0" rtlCol="0" anchor="t"/>
          <a:lstStyle/>
          <a:p>
            <a:pPr marL="0" indent="0">
              <a:buNone/>
            </a:pPr>
            <a:r>
              <a:rPr lang="en-US" sz="1300" b="1" dirty="0">
                <a:solidFill>
                  <a:srgbClr val="22D3EE"/>
                </a:solidFill>
              </a:rPr>
              <a:t>Zone outage</a:t>
            </a:r>
            <a:endParaRPr lang="en-US" sz="1300" dirty="0"/>
          </a:p>
        </p:txBody>
      </p:sp>
      <p:sp>
        <p:nvSpPr>
          <p:cNvPr id="19" name="Shape 17"/>
          <p:cNvSpPr/>
          <p:nvPr/>
        </p:nvSpPr>
        <p:spPr>
          <a:xfrm>
            <a:off x="3657600" y="2743200"/>
            <a:ext cx="960120" cy="201168"/>
          </a:xfrm>
          <a:prstGeom prst="roundRect">
            <a:avLst>
              <a:gd name="adj" fmla="val 50000"/>
            </a:avLst>
          </a:prstGeom>
          <a:solidFill>
            <a:srgbClr val="CBD5E1"/>
          </a:solidFill>
          <a:ln w="6350">
            <a:solidFill>
              <a:srgbClr val="CBD5E1"/>
            </a:solidFill>
            <a:prstDash val="solid"/>
          </a:ln>
        </p:spPr>
        <p:txBody>
          <a:bodyPr/>
          <a:lstStyle/>
          <a:p>
            <a:endParaRPr lang="en-US"/>
          </a:p>
        </p:txBody>
      </p:sp>
      <p:sp>
        <p:nvSpPr>
          <p:cNvPr id="20" name="Text 18"/>
          <p:cNvSpPr txBox="1"/>
          <p:nvPr/>
        </p:nvSpPr>
        <p:spPr>
          <a:xfrm>
            <a:off x="3657600" y="2743200"/>
            <a:ext cx="960120" cy="201168"/>
          </a:xfrm>
          <a:prstGeom prst="rect">
            <a:avLst/>
          </a:prstGeom>
          <a:noFill/>
          <a:ln/>
        </p:spPr>
        <p:txBody>
          <a:bodyPr wrap="square" lIns="0" tIns="0" rIns="0" bIns="0" rtlCol="0" anchor="ctr"/>
          <a:lstStyle/>
          <a:p>
            <a:pPr marL="0" indent="0" algn="ctr">
              <a:buNone/>
            </a:pPr>
            <a:r>
              <a:rPr lang="en-US" sz="1000" b="1" dirty="0">
                <a:solidFill>
                  <a:srgbClr val="0B1020"/>
                </a:solidFill>
              </a:rPr>
              <a:t>FUTURE</a:t>
            </a:r>
            <a:endParaRPr lang="en-US" sz="1000" dirty="0"/>
          </a:p>
        </p:txBody>
      </p:sp>
      <p:sp>
        <p:nvSpPr>
          <p:cNvPr id="21" name="Text 19"/>
          <p:cNvSpPr txBox="1"/>
          <p:nvPr/>
        </p:nvSpPr>
        <p:spPr>
          <a:xfrm>
            <a:off x="566928" y="2962656"/>
            <a:ext cx="4114800" cy="182880"/>
          </a:xfrm>
          <a:prstGeom prst="rect">
            <a:avLst/>
          </a:prstGeom>
          <a:noFill/>
          <a:ln/>
        </p:spPr>
        <p:txBody>
          <a:bodyPr wrap="square" lIns="0" tIns="0" rIns="0" bIns="0" rtlCol="0" anchor="t"/>
          <a:lstStyle/>
          <a:p>
            <a:pPr marL="0" indent="0">
              <a:buNone/>
            </a:pPr>
            <a:r>
              <a:rPr lang="en-US" sz="1000" dirty="0">
                <a:solidFill>
                  <a:srgbClr val="F1F5F9"/>
                </a:solidFill>
              </a:rPr>
              <a:t>Multi-AZ inside one region — not multi-region</a:t>
            </a:r>
            <a:endParaRPr lang="en-US" sz="1000" dirty="0"/>
          </a:p>
        </p:txBody>
      </p:sp>
      <p:sp>
        <p:nvSpPr>
          <p:cNvPr id="22" name="Text 20"/>
          <p:cNvSpPr txBox="1"/>
          <p:nvPr/>
        </p:nvSpPr>
        <p:spPr>
          <a:xfrm>
            <a:off x="566928" y="3145536"/>
            <a:ext cx="4114800" cy="182880"/>
          </a:xfrm>
          <a:prstGeom prst="rect">
            <a:avLst/>
          </a:prstGeom>
          <a:noFill/>
          <a:ln/>
        </p:spPr>
        <p:txBody>
          <a:bodyPr wrap="square" lIns="0" tIns="0" rIns="0" bIns="0" rtlCol="0" anchor="t"/>
          <a:lstStyle/>
          <a:p>
            <a:pPr marL="0" indent="0">
              <a:buNone/>
            </a:pPr>
            <a:r>
              <a:rPr lang="en-US" sz="1000" dirty="0">
                <a:solidFill>
                  <a:srgbClr val="94A3B8"/>
                </a:solidFill>
              </a:rPr>
              <a:t>Cloud Run is regional by default; Redis HA is optional/off in MVP</a:t>
            </a:r>
            <a:endParaRPr lang="en-US" sz="1000" dirty="0"/>
          </a:p>
        </p:txBody>
      </p:sp>
      <p:sp>
        <p:nvSpPr>
          <p:cNvPr id="23" name="Text 21"/>
          <p:cNvSpPr txBox="1"/>
          <p:nvPr/>
        </p:nvSpPr>
        <p:spPr>
          <a:xfrm>
            <a:off x="4983480" y="1188720"/>
            <a:ext cx="3657600" cy="256032"/>
          </a:xfrm>
          <a:prstGeom prst="rect">
            <a:avLst/>
          </a:prstGeom>
          <a:noFill/>
          <a:ln/>
        </p:spPr>
        <p:txBody>
          <a:bodyPr wrap="square" lIns="0" tIns="0" rIns="0" bIns="0" rtlCol="0" anchor="t"/>
          <a:lstStyle/>
          <a:p>
            <a:pPr marL="0" indent="0">
              <a:buNone/>
            </a:pPr>
            <a:r>
              <a:rPr lang="en-US" sz="1300" b="1" dirty="0">
                <a:solidFill>
                  <a:srgbClr val="F1F5F9"/>
                </a:solidFill>
              </a:rPr>
              <a:t>Metric → threshold → action</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983480" y="1481328"/>
          <a:ext cx="3703320" cy="1901952"/>
        </p:xfrm>
        <a:graphic>
          <a:graphicData uri="http://schemas.openxmlformats.org/drawingml/2006/table">
            <a:tbl>
              <a:tblPr/>
              <a:tblGrid>
                <a:gridCol w="123444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75488">
                <a:tc>
                  <a:txBody>
                    <a:bodyPr/>
                    <a:lstStyle/>
                    <a:p>
                      <a:pPr marL="0" indent="0">
                        <a:buNone/>
                      </a:pPr>
                      <a:r>
                        <a:rPr lang="en-US" sz="1100" b="1" dirty="0">
                          <a:solidFill>
                            <a:srgbClr val="0B1020"/>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54864" marR="54864" marT="27432" marB="27432" anchor="ctr">
                    <a:lnL w="12700" cap="flat" cmpd="sng" algn="ctr">
                      <a:solidFill>
                        <a:srgbClr val="2A3563"/>
                      </a:solidFill>
                      <a:prstDash val="solid"/>
                      <a:round/>
                      <a:headEnd type="none" w="med" len="med"/>
                      <a:tailEnd type="none" w="med" len="med"/>
                    </a:lnL>
                    <a:lnR w="12700" cap="flat" cmpd="sng" algn="ctr">
                      <a:solidFill>
                        <a:srgbClr val="2A3563"/>
                      </a:solidFill>
                      <a:prstDash val="solid"/>
                      <a:round/>
                      <a:headEnd type="none" w="med" len="med"/>
                      <a:tailEnd type="none" w="med" len="med"/>
                    </a:lnR>
                    <a:lnT w="12700" cap="flat" cmpd="sng" algn="ctr">
                      <a:solidFill>
                        <a:srgbClr val="2A3563"/>
                      </a:solidFill>
                      <a:prstDash val="solid"/>
                      <a:round/>
                      <a:headEnd type="none" w="med" len="med"/>
                      <a:tailEnd type="none" w="med" len="med"/>
                    </a:lnT>
                    <a:lnB w="12700" cap="flat" cmpd="sng" algn="ctr">
                      <a:solidFill>
                        <a:srgbClr val="2A3563"/>
                      </a:solidFill>
                      <a:prstDash val="solid"/>
                      <a:round/>
                      <a:headEnd type="none" w="med" len="med"/>
                      <a:tailEnd type="none" w="med" len="med"/>
                    </a:lnB>
                    <a:solidFill>
                      <a:srgbClr val="22D3EE"/>
                    </a:solidFill>
                  </a:tcPr>
                </a:tc>
                <a:tc>
                  <a:txBody>
                    <a:bodyPr/>
                    <a:lstStyle/>
                    <a:p>
                      <a:pPr marL="0" indent="0">
                        <a:buNone/>
                      </a:pPr>
                      <a:r>
                        <a:rPr lang="en-US" sz="1100" b="1" dirty="0">
                          <a:solidFill>
                            <a:srgbClr val="0B1020"/>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marL="54864" marR="54864" marT="27432" marB="27432" anchor="ctr">
                    <a:lnL w="12700" cap="flat" cmpd="sng" algn="ctr">
                      <a:solidFill>
                        <a:srgbClr val="2A3563"/>
                      </a:solidFill>
                      <a:prstDash val="solid"/>
                      <a:round/>
                      <a:headEnd type="none" w="med" len="med"/>
                      <a:tailEnd type="none" w="med" len="med"/>
                    </a:lnL>
                    <a:lnR w="12700" cap="flat" cmpd="sng" algn="ctr">
                      <a:solidFill>
                        <a:srgbClr val="2A3563"/>
                      </a:solidFill>
                      <a:prstDash val="solid"/>
                      <a:round/>
                      <a:headEnd type="none" w="med" len="med"/>
                      <a:tailEnd type="none" w="med" len="med"/>
                    </a:lnR>
                    <a:lnT w="12700" cap="flat" cmpd="sng" algn="ctr">
                      <a:solidFill>
                        <a:srgbClr val="2A3563"/>
                      </a:solidFill>
                      <a:prstDash val="solid"/>
                      <a:round/>
                      <a:headEnd type="none" w="med" len="med"/>
                      <a:tailEnd type="none" w="med" len="med"/>
                    </a:lnT>
                    <a:lnB w="12700" cap="flat" cmpd="sng" algn="ctr">
                      <a:solidFill>
                        <a:srgbClr val="2A3563"/>
                      </a:solidFill>
                      <a:prstDash val="solid"/>
                      <a:round/>
                      <a:headEnd type="none" w="med" len="med"/>
                      <a:tailEnd type="none" w="med" len="med"/>
                    </a:lnB>
                    <a:solidFill>
                      <a:srgbClr val="22D3EE"/>
                    </a:solidFill>
                  </a:tcPr>
                </a:tc>
                <a:tc>
                  <a:txBody>
                    <a:bodyPr/>
                    <a:lstStyle/>
                    <a:p>
                      <a:pPr marL="0" indent="0">
                        <a:buNone/>
                      </a:pPr>
                      <a:r>
                        <a:rPr lang="en-US" sz="1100" b="1" dirty="0">
                          <a:solidFill>
                            <a:srgbClr val="0B1020"/>
                          </a:solidFill>
                          <a:latin typeface="Calibri" pitchFamily="34" charset="0"/>
                          <a:ea typeface="Calibri" pitchFamily="34" charset="-122"/>
                          <a:cs typeface="Calibri" pitchFamily="34" charset="-120"/>
                        </a:rPr>
                        <a:t>Action</a:t>
                      </a:r>
                      <a:endParaRPr lang="en-US" sz="1100" dirty="0">
                        <a:latin typeface="Calibri" charset="0"/>
                        <a:ea typeface="Calibri" charset="0"/>
                        <a:cs typeface="Calibri" charset="0"/>
                      </a:endParaRPr>
                    </a:p>
                  </a:txBody>
                  <a:tcPr marL="54864" marR="54864" marT="27432" marB="27432" anchor="ctr">
                    <a:lnL w="12700" cap="flat" cmpd="sng" algn="ctr">
                      <a:solidFill>
                        <a:srgbClr val="2A3563"/>
                      </a:solidFill>
                      <a:prstDash val="solid"/>
                      <a:round/>
                      <a:headEnd type="none" w="med" len="med"/>
                      <a:tailEnd type="none" w="med" len="med"/>
                    </a:lnL>
                    <a:lnR w="12700" cap="flat" cmpd="sng" algn="ctr">
                      <a:solidFill>
                        <a:srgbClr val="2A3563"/>
                      </a:solidFill>
                      <a:prstDash val="solid"/>
                      <a:round/>
                      <a:headEnd type="none" w="med" len="med"/>
                      <a:tailEnd type="none" w="med" len="med"/>
                    </a:lnR>
                    <a:lnT w="12700" cap="flat" cmpd="sng" algn="ctr">
                      <a:solidFill>
                        <a:srgbClr val="2A3563"/>
                      </a:solidFill>
                      <a:prstDash val="solid"/>
                      <a:round/>
                      <a:headEnd type="none" w="med" len="med"/>
                      <a:tailEnd type="none" w="med" len="med"/>
                    </a:lnT>
                    <a:lnB w="12700" cap="flat" cmpd="sng" algn="ctr">
                      <a:solidFill>
                        <a:srgbClr val="2A3563"/>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475488">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CDN cache hit ratio</a:t>
                      </a:r>
                      <a:endParaRPr lang="en-US" sz="1100" dirty="0">
                        <a:latin typeface="Calibri" charset="0"/>
                        <a:ea typeface="Calibri" charset="0"/>
                        <a:cs typeface="Calibri" charset="0"/>
                      </a:endParaRPr>
                    </a:p>
                  </a:txBody>
                  <a:tcPr marL="54864" marR="54864" marT="27432" marB="27432" anchor="ctr">
                    <a:lnL w="12700" cap="flat" cmpd="sng" algn="ctr">
                      <a:solidFill>
                        <a:srgbClr val="2A3563"/>
                      </a:solidFill>
                      <a:prstDash val="solid"/>
                      <a:round/>
                      <a:headEnd type="none" w="med" len="med"/>
                      <a:tailEnd type="none" w="med" len="med"/>
                    </a:lnL>
                    <a:lnR w="12700" cap="flat" cmpd="sng" algn="ctr">
                      <a:solidFill>
                        <a:srgbClr val="2A3563"/>
                      </a:solidFill>
                      <a:prstDash val="solid"/>
                      <a:round/>
                      <a:headEnd type="none" w="med" len="med"/>
                      <a:tailEnd type="none" w="med" len="med"/>
                    </a:lnR>
                    <a:lnT w="12700" cap="flat" cmpd="sng" algn="ctr">
                      <a:solidFill>
                        <a:srgbClr val="2A3563"/>
                      </a:solidFill>
                      <a:prstDash val="solid"/>
                      <a:round/>
                      <a:headEnd type="none" w="med" len="med"/>
                      <a:tailEnd type="none" w="med" len="med"/>
                    </a:lnT>
                    <a:lnB w="12700"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100" dirty="0">
                          <a:solidFill>
                            <a:srgbClr val="34D399"/>
                          </a:solidFill>
                          <a:latin typeface="Calibri" pitchFamily="34" charset="0"/>
                          <a:ea typeface="Calibri" pitchFamily="34" charset="-122"/>
                          <a:cs typeface="Calibri" pitchFamily="34" charset="-120"/>
                        </a:rPr>
                        <a:t>≥ 85%</a:t>
                      </a:r>
                      <a:endParaRPr lang="en-US" sz="1100" dirty="0">
                        <a:latin typeface="Calibri" charset="0"/>
                        <a:ea typeface="Calibri" charset="0"/>
                        <a:cs typeface="Calibri" charset="0"/>
                      </a:endParaRPr>
                    </a:p>
                  </a:txBody>
                  <a:tcPr marL="54864" marR="54864" marT="27432" marB="27432" anchor="ctr">
                    <a:lnL w="12700" cap="flat" cmpd="sng" algn="ctr">
                      <a:solidFill>
                        <a:srgbClr val="2A3563"/>
                      </a:solidFill>
                      <a:prstDash val="solid"/>
                      <a:round/>
                      <a:headEnd type="none" w="med" len="med"/>
                      <a:tailEnd type="none" w="med" len="med"/>
                    </a:lnL>
                    <a:lnR w="12700" cap="flat" cmpd="sng" algn="ctr">
                      <a:solidFill>
                        <a:srgbClr val="2A3563"/>
                      </a:solidFill>
                      <a:prstDash val="solid"/>
                      <a:round/>
                      <a:headEnd type="none" w="med" len="med"/>
                      <a:tailEnd type="none" w="med" len="med"/>
                    </a:lnR>
                    <a:lnT w="12700" cap="flat" cmpd="sng" algn="ctr">
                      <a:solidFill>
                        <a:srgbClr val="2A3563"/>
                      </a:solidFill>
                      <a:prstDash val="solid"/>
                      <a:round/>
                      <a:headEnd type="none" w="med" len="med"/>
                      <a:tailEnd type="none" w="med" len="med"/>
                    </a:lnT>
                    <a:lnB w="12700"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Alert: origin egress is spiking</a:t>
                      </a:r>
                      <a:endParaRPr lang="en-US" sz="1100" dirty="0">
                        <a:latin typeface="Calibri" charset="0"/>
                        <a:ea typeface="Calibri" charset="0"/>
                        <a:cs typeface="Calibri" charset="0"/>
                      </a:endParaRPr>
                    </a:p>
                  </a:txBody>
                  <a:tcPr marL="54864" marR="54864" marT="27432" marB="27432" anchor="ctr">
                    <a:lnL w="12700" cap="flat" cmpd="sng" algn="ctr">
                      <a:solidFill>
                        <a:srgbClr val="2A3563"/>
                      </a:solidFill>
                      <a:prstDash val="solid"/>
                      <a:round/>
                      <a:headEnd type="none" w="med" len="med"/>
                      <a:tailEnd type="none" w="med" len="med"/>
                    </a:lnL>
                    <a:lnR w="12700" cap="flat" cmpd="sng" algn="ctr">
                      <a:solidFill>
                        <a:srgbClr val="2A3563"/>
                      </a:solidFill>
                      <a:prstDash val="solid"/>
                      <a:round/>
                      <a:headEnd type="none" w="med" len="med"/>
                      <a:tailEnd type="none" w="med" len="med"/>
                    </a:lnR>
                    <a:lnT w="12700" cap="flat" cmpd="sng" algn="ctr">
                      <a:solidFill>
                        <a:srgbClr val="2A3563"/>
                      </a:solidFill>
                      <a:prstDash val="solid"/>
                      <a:round/>
                      <a:headEnd type="none" w="med" len="med"/>
                      <a:tailEnd type="none" w="med" len="med"/>
                    </a:lnT>
                    <a:lnB w="12700" cap="flat" cmpd="sng" algn="ctr">
                      <a:solidFill>
                        <a:srgbClr val="2A3563"/>
                      </a:solidFill>
                      <a:prstDash val="solid"/>
                      <a:round/>
                      <a:headEnd type="none" w="med" len="med"/>
                      <a:tailEnd type="none" w="med" len="med"/>
                    </a:lnB>
                    <a:solidFill>
                      <a:srgbClr val="131A33"/>
                    </a:solidFill>
                  </a:tcPr>
                </a:tc>
                <a:extLst>
                  <a:ext uri="{0D108BD9-81ED-4DB2-BD59-A6C34878D82A}">
                    <a16:rowId xmlns:a16="http://schemas.microsoft.com/office/drawing/2014/main" val="10001"/>
                  </a:ext>
                </a:extLst>
              </a:tr>
              <a:tr h="475488">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P99 feed latency</a:t>
                      </a:r>
                      <a:endParaRPr lang="en-US" sz="1100" dirty="0">
                        <a:latin typeface="Calibri" charset="0"/>
                        <a:ea typeface="Calibri" charset="0"/>
                        <a:cs typeface="Calibri" charset="0"/>
                      </a:endParaRPr>
                    </a:p>
                  </a:txBody>
                  <a:tcPr marL="54864" marR="54864" marT="27432" marB="27432" anchor="ctr">
                    <a:lnL w="12700" cap="flat" cmpd="sng" algn="ctr">
                      <a:solidFill>
                        <a:srgbClr val="2A3563"/>
                      </a:solidFill>
                      <a:prstDash val="solid"/>
                      <a:round/>
                      <a:headEnd type="none" w="med" len="med"/>
                      <a:tailEnd type="none" w="med" len="med"/>
                    </a:lnL>
                    <a:lnR w="12700" cap="flat" cmpd="sng" algn="ctr">
                      <a:solidFill>
                        <a:srgbClr val="2A3563"/>
                      </a:solidFill>
                      <a:prstDash val="solid"/>
                      <a:round/>
                      <a:headEnd type="none" w="med" len="med"/>
                      <a:tailEnd type="none" w="med" len="med"/>
                    </a:lnR>
                    <a:lnT w="12700" cap="flat" cmpd="sng" algn="ctr">
                      <a:solidFill>
                        <a:srgbClr val="2A3563"/>
                      </a:solidFill>
                      <a:prstDash val="solid"/>
                      <a:round/>
                      <a:headEnd type="none" w="med" len="med"/>
                      <a:tailEnd type="none" w="med" len="med"/>
                    </a:lnT>
                    <a:lnB w="12700"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100" dirty="0">
                          <a:solidFill>
                            <a:srgbClr val="34D399"/>
                          </a:solidFill>
                          <a:latin typeface="Calibri" pitchFamily="34" charset="0"/>
                          <a:ea typeface="Calibri" pitchFamily="34" charset="-122"/>
                          <a:cs typeface="Calibri" pitchFamily="34" charset="-120"/>
                        </a:rPr>
                        <a:t>&lt; 200 ms</a:t>
                      </a:r>
                      <a:endParaRPr lang="en-US" sz="1100" dirty="0">
                        <a:latin typeface="Calibri" charset="0"/>
                        <a:ea typeface="Calibri" charset="0"/>
                        <a:cs typeface="Calibri" charset="0"/>
                      </a:endParaRPr>
                    </a:p>
                  </a:txBody>
                  <a:tcPr marL="54864" marR="54864" marT="27432" marB="27432" anchor="ctr">
                    <a:lnL w="12700" cap="flat" cmpd="sng" algn="ctr">
                      <a:solidFill>
                        <a:srgbClr val="2A3563"/>
                      </a:solidFill>
                      <a:prstDash val="solid"/>
                      <a:round/>
                      <a:headEnd type="none" w="med" len="med"/>
                      <a:tailEnd type="none" w="med" len="med"/>
                    </a:lnL>
                    <a:lnR w="12700" cap="flat" cmpd="sng" algn="ctr">
                      <a:solidFill>
                        <a:srgbClr val="2A3563"/>
                      </a:solidFill>
                      <a:prstDash val="solid"/>
                      <a:round/>
                      <a:headEnd type="none" w="med" len="med"/>
                      <a:tailEnd type="none" w="med" len="med"/>
                    </a:lnR>
                    <a:lnT w="12700" cap="flat" cmpd="sng" algn="ctr">
                      <a:solidFill>
                        <a:srgbClr val="2A3563"/>
                      </a:solidFill>
                      <a:prstDash val="solid"/>
                      <a:round/>
                      <a:headEnd type="none" w="med" len="med"/>
                      <a:tailEnd type="none" w="med" len="med"/>
                    </a:lnT>
                    <a:lnB w="12700"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Trace via Cloud Trace; scale / tune cache</a:t>
                      </a:r>
                      <a:endParaRPr lang="en-US" sz="1100" dirty="0">
                        <a:latin typeface="Calibri" charset="0"/>
                        <a:ea typeface="Calibri" charset="0"/>
                        <a:cs typeface="Calibri" charset="0"/>
                      </a:endParaRPr>
                    </a:p>
                  </a:txBody>
                  <a:tcPr marL="54864" marR="54864" marT="27432" marB="27432" anchor="ctr">
                    <a:lnL w="12700" cap="flat" cmpd="sng" algn="ctr">
                      <a:solidFill>
                        <a:srgbClr val="2A3563"/>
                      </a:solidFill>
                      <a:prstDash val="solid"/>
                      <a:round/>
                      <a:headEnd type="none" w="med" len="med"/>
                      <a:tailEnd type="none" w="med" len="med"/>
                    </a:lnL>
                    <a:lnR w="12700" cap="flat" cmpd="sng" algn="ctr">
                      <a:solidFill>
                        <a:srgbClr val="2A3563"/>
                      </a:solidFill>
                      <a:prstDash val="solid"/>
                      <a:round/>
                      <a:headEnd type="none" w="med" len="med"/>
                      <a:tailEnd type="none" w="med" len="med"/>
                    </a:lnR>
                    <a:lnT w="12700" cap="flat" cmpd="sng" algn="ctr">
                      <a:solidFill>
                        <a:srgbClr val="2A3563"/>
                      </a:solidFill>
                      <a:prstDash val="solid"/>
                      <a:round/>
                      <a:headEnd type="none" w="med" len="med"/>
                      <a:tailEnd type="none" w="med" len="med"/>
                    </a:lnT>
                    <a:lnB w="12700" cap="flat" cmpd="sng" algn="ctr">
                      <a:solidFill>
                        <a:srgbClr val="2A3563"/>
                      </a:solidFill>
                      <a:prstDash val="solid"/>
                      <a:round/>
                      <a:headEnd type="none" w="med" len="med"/>
                      <a:tailEnd type="none" w="med" len="med"/>
                    </a:lnB>
                    <a:solidFill>
                      <a:srgbClr val="131A33"/>
                    </a:solidFill>
                  </a:tcPr>
                </a:tc>
                <a:extLst>
                  <a:ext uri="{0D108BD9-81ED-4DB2-BD59-A6C34878D82A}">
                    <a16:rowId xmlns:a16="http://schemas.microsoft.com/office/drawing/2014/main" val="10002"/>
                  </a:ext>
                </a:extLst>
              </a:tr>
              <a:tr h="475488">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DLQ depth</a:t>
                      </a:r>
                      <a:endParaRPr lang="en-US" sz="1100" dirty="0">
                        <a:latin typeface="Calibri" charset="0"/>
                        <a:ea typeface="Calibri" charset="0"/>
                        <a:cs typeface="Calibri" charset="0"/>
                      </a:endParaRPr>
                    </a:p>
                  </a:txBody>
                  <a:tcPr marL="54864" marR="54864" marT="27432" marB="27432" anchor="ctr">
                    <a:lnL w="12700" cap="flat" cmpd="sng" algn="ctr">
                      <a:solidFill>
                        <a:srgbClr val="2A3563"/>
                      </a:solidFill>
                      <a:prstDash val="solid"/>
                      <a:round/>
                      <a:headEnd type="none" w="med" len="med"/>
                      <a:tailEnd type="none" w="med" len="med"/>
                    </a:lnL>
                    <a:lnR w="12700" cap="flat" cmpd="sng" algn="ctr">
                      <a:solidFill>
                        <a:srgbClr val="2A3563"/>
                      </a:solidFill>
                      <a:prstDash val="solid"/>
                      <a:round/>
                      <a:headEnd type="none" w="med" len="med"/>
                      <a:tailEnd type="none" w="med" len="med"/>
                    </a:lnR>
                    <a:lnT w="12700" cap="flat" cmpd="sng" algn="ctr">
                      <a:solidFill>
                        <a:srgbClr val="2A3563"/>
                      </a:solidFill>
                      <a:prstDash val="solid"/>
                      <a:round/>
                      <a:headEnd type="none" w="med" len="med"/>
                      <a:tailEnd type="none" w="med" len="med"/>
                    </a:lnT>
                    <a:lnB w="12700"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100" dirty="0">
                          <a:solidFill>
                            <a:srgbClr val="34D399"/>
                          </a:solidFill>
                          <a:latin typeface="Calibri" pitchFamily="34" charset="0"/>
                          <a:ea typeface="Calibri" pitchFamily="34" charset="-122"/>
                          <a:cs typeface="Calibri" pitchFamily="34" charset="-120"/>
                        </a:rPr>
                        <a:t>≈ 0</a:t>
                      </a:r>
                      <a:endParaRPr lang="en-US" sz="1100" dirty="0">
                        <a:latin typeface="Calibri" charset="0"/>
                        <a:ea typeface="Calibri" charset="0"/>
                        <a:cs typeface="Calibri" charset="0"/>
                      </a:endParaRPr>
                    </a:p>
                  </a:txBody>
                  <a:tcPr marL="54864" marR="54864" marT="27432" marB="27432" anchor="ctr">
                    <a:lnL w="12700" cap="flat" cmpd="sng" algn="ctr">
                      <a:solidFill>
                        <a:srgbClr val="2A3563"/>
                      </a:solidFill>
                      <a:prstDash val="solid"/>
                      <a:round/>
                      <a:headEnd type="none" w="med" len="med"/>
                      <a:tailEnd type="none" w="med" len="med"/>
                    </a:lnL>
                    <a:lnR w="12700" cap="flat" cmpd="sng" algn="ctr">
                      <a:solidFill>
                        <a:srgbClr val="2A3563"/>
                      </a:solidFill>
                      <a:prstDash val="solid"/>
                      <a:round/>
                      <a:headEnd type="none" w="med" len="med"/>
                      <a:tailEnd type="none" w="med" len="med"/>
                    </a:lnR>
                    <a:lnT w="12700" cap="flat" cmpd="sng" algn="ctr">
                      <a:solidFill>
                        <a:srgbClr val="2A3563"/>
                      </a:solidFill>
                      <a:prstDash val="solid"/>
                      <a:round/>
                      <a:headEnd type="none" w="med" len="med"/>
                      <a:tailEnd type="none" w="med" len="med"/>
                    </a:lnT>
                    <a:lnB w="12700"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Spike = media pipeline failing; page on-call</a:t>
                      </a:r>
                      <a:endParaRPr lang="en-US" sz="1100" dirty="0">
                        <a:latin typeface="Calibri" charset="0"/>
                        <a:ea typeface="Calibri" charset="0"/>
                        <a:cs typeface="Calibri" charset="0"/>
                      </a:endParaRPr>
                    </a:p>
                  </a:txBody>
                  <a:tcPr marL="54864" marR="54864" marT="27432" marB="27432" anchor="ctr">
                    <a:lnL w="12700" cap="flat" cmpd="sng" algn="ctr">
                      <a:solidFill>
                        <a:srgbClr val="2A3563"/>
                      </a:solidFill>
                      <a:prstDash val="solid"/>
                      <a:round/>
                      <a:headEnd type="none" w="med" len="med"/>
                      <a:tailEnd type="none" w="med" len="med"/>
                    </a:lnL>
                    <a:lnR w="12700" cap="flat" cmpd="sng" algn="ctr">
                      <a:solidFill>
                        <a:srgbClr val="2A3563"/>
                      </a:solidFill>
                      <a:prstDash val="solid"/>
                      <a:round/>
                      <a:headEnd type="none" w="med" len="med"/>
                      <a:tailEnd type="none" w="med" len="med"/>
                    </a:lnR>
                    <a:lnT w="12700" cap="flat" cmpd="sng" algn="ctr">
                      <a:solidFill>
                        <a:srgbClr val="2A3563"/>
                      </a:solidFill>
                      <a:prstDash val="solid"/>
                      <a:round/>
                      <a:headEnd type="none" w="med" len="med"/>
                      <a:tailEnd type="none" w="med" len="med"/>
                    </a:lnT>
                    <a:lnB w="12700" cap="flat" cmpd="sng" algn="ctr">
                      <a:solidFill>
                        <a:srgbClr val="2A3563"/>
                      </a:solidFill>
                      <a:prstDash val="solid"/>
                      <a:round/>
                      <a:headEnd type="none" w="med" len="med"/>
                      <a:tailEnd type="none" w="med" len="med"/>
                    </a:lnB>
                    <a:solidFill>
                      <a:srgbClr val="131A33"/>
                    </a:solidFill>
                  </a:tcPr>
                </a:tc>
                <a:extLst>
                  <a:ext uri="{0D108BD9-81ED-4DB2-BD59-A6C34878D82A}">
                    <a16:rowId xmlns:a16="http://schemas.microsoft.com/office/drawing/2014/main" val="10003"/>
                  </a:ext>
                </a:extLst>
              </a:tr>
            </a:tbl>
          </a:graphicData>
        </a:graphic>
      </p:graphicFrame>
      <p:sp>
        <p:nvSpPr>
          <p:cNvPr id="25" name="Text 22"/>
          <p:cNvSpPr txBox="1"/>
          <p:nvPr/>
        </p:nvSpPr>
        <p:spPr>
          <a:xfrm>
            <a:off x="4983480" y="3611880"/>
            <a:ext cx="3703320" cy="457200"/>
          </a:xfrm>
          <a:prstGeom prst="rect">
            <a:avLst/>
          </a:prstGeom>
          <a:noFill/>
          <a:ln/>
        </p:spPr>
        <p:txBody>
          <a:bodyPr wrap="square" lIns="0" tIns="0" rIns="0" bIns="0" rtlCol="0" anchor="t"/>
          <a:lstStyle/>
          <a:p>
            <a:pPr marL="0" indent="0">
              <a:buNone/>
            </a:pPr>
            <a:r>
              <a:rPr lang="en-US" sz="1000" dirty="0">
                <a:solidFill>
                  <a:srgbClr val="FBBF24"/>
                </a:solidFill>
              </a:rPr>
              <a:t>Targets, not measured results. MVP today: structured JSON logs (Cloud Logging); dashboards and alerts are future.</a:t>
            </a:r>
            <a:endParaRPr lang="en-US" sz="1000" dirty="0"/>
          </a:p>
        </p:txBody>
      </p:sp>
      <p:sp>
        <p:nvSpPr>
          <p:cNvPr id="26" name="Shape 23"/>
          <p:cNvSpPr/>
          <p:nvPr/>
        </p:nvSpPr>
        <p:spPr>
          <a:xfrm>
            <a:off x="457200" y="3493008"/>
            <a:ext cx="4297680" cy="658368"/>
          </a:xfrm>
          <a:prstGeom prst="roundRect">
            <a:avLst>
              <a:gd name="adj" fmla="val 11111"/>
            </a:avLst>
          </a:prstGeom>
          <a:solidFill>
            <a:srgbClr val="1B2547"/>
          </a:solidFill>
          <a:ln w="12700">
            <a:solidFill>
              <a:srgbClr val="34D399"/>
            </a:solidFill>
            <a:prstDash val="solid"/>
          </a:ln>
        </p:spPr>
        <p:txBody>
          <a:bodyPr/>
          <a:lstStyle/>
          <a:p>
            <a:endParaRPr lang="en-US"/>
          </a:p>
        </p:txBody>
      </p:sp>
      <p:sp>
        <p:nvSpPr>
          <p:cNvPr id="27" name="Text 24"/>
          <p:cNvSpPr txBox="1"/>
          <p:nvPr/>
        </p:nvSpPr>
        <p:spPr>
          <a:xfrm>
            <a:off x="594360" y="3493008"/>
            <a:ext cx="4023360" cy="658368"/>
          </a:xfrm>
          <a:prstGeom prst="rect">
            <a:avLst/>
          </a:prstGeom>
          <a:noFill/>
          <a:ln/>
        </p:spPr>
        <p:txBody>
          <a:bodyPr wrap="square" lIns="0" tIns="0" rIns="0" bIns="0" rtlCol="0" anchor="ctr"/>
          <a:lstStyle/>
          <a:p>
            <a:pPr marL="0" indent="0">
              <a:buNone/>
            </a:pPr>
            <a:r>
              <a:rPr lang="en-US" sz="1300" b="1" dirty="0">
                <a:solidFill>
                  <a:srgbClr val="F1F5F9"/>
                </a:solidFill>
              </a:rPr>
              <a:t>Principle: brief latency is tolerable. Lost uploads or an unavailable feed are not.</a:t>
            </a:r>
            <a:endParaRPr lang="en-US" sz="1300" dirty="0"/>
          </a:p>
        </p:txBody>
      </p:sp>
      <p:sp>
        <p:nvSpPr>
          <p:cNvPr id="28"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Cost-aware: the cost of performance</a:t>
            </a:r>
            <a:endParaRPr lang="en-US" sz="3000" dirty="0"/>
          </a:p>
        </p:txBody>
      </p:sp>
      <p:sp>
        <p:nvSpPr>
          <p:cNvPr id="3" name="Subtitle"/>
          <p:cNvSpPr txBox="1"/>
          <p:nvPr/>
        </p:nvSpPr>
        <p:spPr>
          <a:xfrm>
            <a:off x="457200" y="758952"/>
            <a:ext cx="8229600" cy="274320"/>
          </a:xfrm>
          <a:prstGeom prst="rect">
            <a:avLst/>
          </a:prstGeom>
          <a:noFill/>
          <a:ln/>
        </p:spPr>
        <p:txBody>
          <a:bodyPr wrap="square" lIns="0" tIns="0" rIns="0" bIns="0" rtlCol="0" anchor="ctr"/>
          <a:lstStyle/>
          <a:p>
            <a:pPr marL="0" indent="0">
              <a:buNone/>
            </a:pPr>
            <a:r>
              <a:rPr lang="en-US" sz="1400" dirty="0">
                <a:solidFill>
                  <a:srgbClr val="22D3EE"/>
                </a:solidFill>
                <a:latin typeface="Calibri" pitchFamily="34" charset="0"/>
                <a:ea typeface="Calibri" pitchFamily="34" charset="-122"/>
                <a:cs typeface="Calibri" pitchFamily="34" charset="-120"/>
              </a:rPr>
              <a:t>Estimated architecture-level operating cost — not the MVP's cost</a:t>
            </a:r>
            <a:endParaRPr lang="en-US" sz="1400" dirty="0"/>
          </a:p>
        </p:txBody>
      </p:sp>
      <p:sp>
        <p:nvSpPr>
          <p:cNvPr id="4" name="Footer"/>
          <p:cNvSpPr txBox="1"/>
          <p:nvPr/>
        </p:nvSpPr>
        <p:spPr>
          <a:xfrm>
            <a:off x="457200" y="4828032"/>
            <a:ext cx="3657600" cy="228600"/>
          </a:xfrm>
          <a:prstGeom prst="rect">
            <a:avLst/>
          </a:prstGeom>
          <a:noFill/>
          <a:ln/>
        </p:spPr>
        <p:txBody>
          <a:bodyPr wrap="square" lIns="0" tIns="0" rIns="0" bIns="0" rtlCol="0" anchor="ctr"/>
          <a:lstStyle/>
          <a:p>
            <a:pPr marL="0" indent="0">
              <a:buNone/>
            </a:pPr>
            <a:r>
              <a:rPr lang="en-US" sz="1000" dirty="0">
                <a:solidFill>
                  <a:srgbClr val="94A3B8"/>
                </a:solidFill>
              </a:rPr>
              <a:t>BackTrack · BOC 2.0 Final</a:t>
            </a:r>
            <a:endParaRPr lang="en-US" sz="1000" dirty="0"/>
          </a:p>
        </p:txBody>
      </p:sp>
      <p:graphicFrame>
        <p:nvGraphicFramePr>
          <p:cNvPr id="5" name="Chart 0"/>
          <p:cNvGraphicFramePr/>
          <p:nvPr/>
        </p:nvGraphicFramePr>
        <p:xfrm>
          <a:off x="365760" y="1143000"/>
          <a:ext cx="493776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57200" y="4023360"/>
            <a:ext cx="4754880" cy="548640"/>
          </a:xfrm>
          <a:prstGeom prst="roundRect">
            <a:avLst>
              <a:gd name="adj" fmla="val 13333"/>
            </a:avLst>
          </a:prstGeom>
          <a:solidFill>
            <a:srgbClr val="1B2547"/>
          </a:solidFill>
          <a:ln w="12700">
            <a:solidFill>
              <a:srgbClr val="22D3EE"/>
            </a:solidFill>
            <a:prstDash val="solid"/>
          </a:ln>
        </p:spPr>
        <p:txBody>
          <a:bodyPr/>
          <a:lstStyle/>
          <a:p>
            <a:endParaRPr lang="en-US"/>
          </a:p>
        </p:txBody>
      </p:sp>
      <p:sp>
        <p:nvSpPr>
          <p:cNvPr id="7" name="Text 4"/>
          <p:cNvSpPr txBox="1"/>
          <p:nvPr/>
        </p:nvSpPr>
        <p:spPr>
          <a:xfrm>
            <a:off x="594360" y="4023360"/>
            <a:ext cx="4572000" cy="548640"/>
          </a:xfrm>
          <a:prstGeom prst="rect">
            <a:avLst/>
          </a:prstGeom>
          <a:noFill/>
          <a:ln/>
        </p:spPr>
        <p:txBody>
          <a:bodyPr wrap="square" lIns="0" tIns="0" rIns="0" bIns="0" rtlCol="0" anchor="ctr"/>
          <a:lstStyle/>
          <a:p>
            <a:pPr marL="0" indent="0">
              <a:buNone/>
            </a:pPr>
            <a:r>
              <a:rPr lang="en-US" sz="1800" b="1" dirty="0">
                <a:solidFill>
                  <a:srgbClr val="22D3EE"/>
                </a:solidFill>
              </a:rPr>
              <a:t>$670 – $1,230 / month</a:t>
            </a:r>
            <a:r>
              <a:rPr lang="en-US" sz="1200" dirty="0">
                <a:solidFill>
                  <a:srgbClr val="94A3B8"/>
                </a:solidFill>
              </a:rPr>
              <a:t>   architecture estimate at scale</a:t>
            </a:r>
            <a:endParaRPr lang="en-US" sz="1200" dirty="0"/>
          </a:p>
        </p:txBody>
      </p:sp>
      <p:sp>
        <p:nvSpPr>
          <p:cNvPr id="8" name="Text 5"/>
          <p:cNvSpPr txBox="1"/>
          <p:nvPr/>
        </p:nvSpPr>
        <p:spPr>
          <a:xfrm>
            <a:off x="5577840" y="1188720"/>
            <a:ext cx="3108960" cy="274320"/>
          </a:xfrm>
          <a:prstGeom prst="rect">
            <a:avLst/>
          </a:prstGeom>
          <a:noFill/>
          <a:ln/>
        </p:spPr>
        <p:txBody>
          <a:bodyPr wrap="square" lIns="0" tIns="0" rIns="0" bIns="0" rtlCol="0" anchor="t"/>
          <a:lstStyle/>
          <a:p>
            <a:pPr marL="0" indent="0">
              <a:buNone/>
            </a:pPr>
            <a:r>
              <a:rPr lang="en-US" sz="1500" b="1" dirty="0">
                <a:solidFill>
                  <a:srgbClr val="F1F5F9"/>
                </a:solidFill>
              </a:rPr>
              <a:t>How we keep it down</a:t>
            </a:r>
            <a:endParaRPr lang="en-US" sz="1500" dirty="0"/>
          </a:p>
        </p:txBody>
      </p:sp>
      <p:sp>
        <p:nvSpPr>
          <p:cNvPr id="9" name="Shape 6"/>
          <p:cNvSpPr/>
          <p:nvPr/>
        </p:nvSpPr>
        <p:spPr>
          <a:xfrm>
            <a:off x="5577840" y="1554480"/>
            <a:ext cx="3108960" cy="548640"/>
          </a:xfrm>
          <a:prstGeom prst="roundRect">
            <a:avLst>
              <a:gd name="adj" fmla="val 13333"/>
            </a:avLst>
          </a:prstGeom>
          <a:solidFill>
            <a:srgbClr val="131A33"/>
          </a:solidFill>
          <a:ln w="12700">
            <a:solidFill>
              <a:srgbClr val="2A3563"/>
            </a:solidFill>
            <a:prstDash val="solid"/>
          </a:ln>
        </p:spPr>
        <p:txBody>
          <a:bodyPr/>
          <a:lstStyle/>
          <a:p>
            <a:endParaRPr lang="en-US"/>
          </a:p>
        </p:txBody>
      </p:sp>
      <p:sp>
        <p:nvSpPr>
          <p:cNvPr id="10" name="Text 7"/>
          <p:cNvSpPr txBox="1"/>
          <p:nvPr/>
        </p:nvSpPr>
        <p:spPr>
          <a:xfrm>
            <a:off x="5687568" y="1600200"/>
            <a:ext cx="2926080" cy="228600"/>
          </a:xfrm>
          <a:prstGeom prst="rect">
            <a:avLst/>
          </a:prstGeom>
          <a:noFill/>
          <a:ln/>
        </p:spPr>
        <p:txBody>
          <a:bodyPr wrap="square" lIns="0" tIns="0" rIns="0" bIns="0" rtlCol="0" anchor="t"/>
          <a:lstStyle/>
          <a:p>
            <a:pPr marL="0" indent="0">
              <a:buNone/>
            </a:pPr>
            <a:r>
              <a:rPr lang="en-US" sz="1200" b="1" dirty="0">
                <a:solidFill>
                  <a:srgbClr val="34D399"/>
                </a:solidFill>
              </a:rPr>
              <a:t>Serverless + scale to zero</a:t>
            </a:r>
            <a:endParaRPr lang="en-US" sz="1200" dirty="0"/>
          </a:p>
        </p:txBody>
      </p:sp>
      <p:sp>
        <p:nvSpPr>
          <p:cNvPr id="11" name="Text 8"/>
          <p:cNvSpPr txBox="1"/>
          <p:nvPr/>
        </p:nvSpPr>
        <p:spPr>
          <a:xfrm>
            <a:off x="5687568" y="1828800"/>
            <a:ext cx="2926080" cy="256032"/>
          </a:xfrm>
          <a:prstGeom prst="rect">
            <a:avLst/>
          </a:prstGeom>
          <a:noFill/>
          <a:ln/>
        </p:spPr>
        <p:txBody>
          <a:bodyPr wrap="square" lIns="0" tIns="0" rIns="0" bIns="0" rtlCol="0" anchor="t"/>
          <a:lstStyle/>
          <a:p>
            <a:pPr marL="0" indent="0">
              <a:buNone/>
            </a:pPr>
            <a:r>
              <a:rPr lang="en-US" sz="1000" dirty="0">
                <a:solidFill>
                  <a:srgbClr val="94A3B8"/>
                </a:solidFill>
              </a:rPr>
              <a:t>Cloud Run pays only for use (MVP: min instances 0)</a:t>
            </a:r>
            <a:endParaRPr lang="en-US" sz="1000" dirty="0"/>
          </a:p>
        </p:txBody>
      </p:sp>
      <p:sp>
        <p:nvSpPr>
          <p:cNvPr id="12" name="Shape 9"/>
          <p:cNvSpPr/>
          <p:nvPr/>
        </p:nvSpPr>
        <p:spPr>
          <a:xfrm>
            <a:off x="5577840" y="2176272"/>
            <a:ext cx="3108960" cy="548640"/>
          </a:xfrm>
          <a:prstGeom prst="roundRect">
            <a:avLst>
              <a:gd name="adj" fmla="val 13333"/>
            </a:avLst>
          </a:prstGeom>
          <a:solidFill>
            <a:srgbClr val="131A33"/>
          </a:solidFill>
          <a:ln w="12700">
            <a:solidFill>
              <a:srgbClr val="2A3563"/>
            </a:solidFill>
            <a:prstDash val="solid"/>
          </a:ln>
        </p:spPr>
        <p:txBody>
          <a:bodyPr/>
          <a:lstStyle/>
          <a:p>
            <a:endParaRPr lang="en-US"/>
          </a:p>
        </p:txBody>
      </p:sp>
      <p:sp>
        <p:nvSpPr>
          <p:cNvPr id="13" name="Text 10"/>
          <p:cNvSpPr txBox="1"/>
          <p:nvPr/>
        </p:nvSpPr>
        <p:spPr>
          <a:xfrm>
            <a:off x="5687568" y="2221992"/>
            <a:ext cx="2926080" cy="228600"/>
          </a:xfrm>
          <a:prstGeom prst="rect">
            <a:avLst/>
          </a:prstGeom>
          <a:noFill/>
          <a:ln/>
        </p:spPr>
        <p:txBody>
          <a:bodyPr wrap="square" lIns="0" tIns="0" rIns="0" bIns="0" rtlCol="0" anchor="t"/>
          <a:lstStyle/>
          <a:p>
            <a:pPr marL="0" indent="0">
              <a:buNone/>
            </a:pPr>
            <a:r>
              <a:rPr lang="en-US" sz="1200" b="1" dirty="0">
                <a:solidFill>
                  <a:srgbClr val="34D399"/>
                </a:solidFill>
              </a:rPr>
              <a:t>CDN + cache hits</a:t>
            </a:r>
            <a:endParaRPr lang="en-US" sz="1200" dirty="0"/>
          </a:p>
        </p:txBody>
      </p:sp>
      <p:sp>
        <p:nvSpPr>
          <p:cNvPr id="14" name="Text 11"/>
          <p:cNvSpPr txBox="1"/>
          <p:nvPr/>
        </p:nvSpPr>
        <p:spPr>
          <a:xfrm>
            <a:off x="5687568" y="2450592"/>
            <a:ext cx="2926080" cy="256032"/>
          </a:xfrm>
          <a:prstGeom prst="rect">
            <a:avLst/>
          </a:prstGeom>
          <a:noFill/>
          <a:ln/>
        </p:spPr>
        <p:txBody>
          <a:bodyPr wrap="square" lIns="0" tIns="0" rIns="0" bIns="0" rtlCol="0" anchor="t"/>
          <a:lstStyle/>
          <a:p>
            <a:pPr marL="0" indent="0">
              <a:buNone/>
            </a:pPr>
            <a:r>
              <a:rPr lang="en-US" sz="1000" dirty="0">
                <a:solidFill>
                  <a:srgbClr val="94A3B8"/>
                </a:solidFill>
              </a:rPr>
              <a:t>Keeps most traffic off the origin and its egress fees</a:t>
            </a:r>
            <a:endParaRPr lang="en-US" sz="1000" dirty="0"/>
          </a:p>
        </p:txBody>
      </p:sp>
      <p:sp>
        <p:nvSpPr>
          <p:cNvPr id="15" name="Shape 12"/>
          <p:cNvSpPr/>
          <p:nvPr/>
        </p:nvSpPr>
        <p:spPr>
          <a:xfrm>
            <a:off x="5577840" y="2798064"/>
            <a:ext cx="3108960" cy="548640"/>
          </a:xfrm>
          <a:prstGeom prst="roundRect">
            <a:avLst>
              <a:gd name="adj" fmla="val 13333"/>
            </a:avLst>
          </a:prstGeom>
          <a:solidFill>
            <a:srgbClr val="131A33"/>
          </a:solidFill>
          <a:ln w="12700">
            <a:solidFill>
              <a:srgbClr val="2A3563"/>
            </a:solidFill>
            <a:prstDash val="solid"/>
          </a:ln>
        </p:spPr>
        <p:txBody>
          <a:bodyPr/>
          <a:lstStyle/>
          <a:p>
            <a:endParaRPr lang="en-US"/>
          </a:p>
        </p:txBody>
      </p:sp>
      <p:sp>
        <p:nvSpPr>
          <p:cNvPr id="16" name="Text 13"/>
          <p:cNvSpPr txBox="1"/>
          <p:nvPr/>
        </p:nvSpPr>
        <p:spPr>
          <a:xfrm>
            <a:off x="5687568" y="2843784"/>
            <a:ext cx="2926080" cy="228600"/>
          </a:xfrm>
          <a:prstGeom prst="rect">
            <a:avLst/>
          </a:prstGeom>
          <a:noFill/>
          <a:ln/>
        </p:spPr>
        <p:txBody>
          <a:bodyPr wrap="square" lIns="0" tIns="0" rIns="0" bIns="0" rtlCol="0" anchor="t"/>
          <a:lstStyle/>
          <a:p>
            <a:pPr marL="0" indent="0">
              <a:buNone/>
            </a:pPr>
            <a:r>
              <a:rPr lang="en-US" sz="1200" b="1" dirty="0">
                <a:solidFill>
                  <a:srgbClr val="34D399"/>
                </a:solidFill>
              </a:rPr>
              <a:t>Lifecycle policies</a:t>
            </a:r>
            <a:endParaRPr lang="en-US" sz="1200" dirty="0"/>
          </a:p>
        </p:txBody>
      </p:sp>
      <p:sp>
        <p:nvSpPr>
          <p:cNvPr id="17" name="Text 14"/>
          <p:cNvSpPr txBox="1"/>
          <p:nvPr/>
        </p:nvSpPr>
        <p:spPr>
          <a:xfrm>
            <a:off x="5687568" y="3072384"/>
            <a:ext cx="2926080" cy="256032"/>
          </a:xfrm>
          <a:prstGeom prst="rect">
            <a:avLst/>
          </a:prstGeom>
          <a:noFill/>
          <a:ln/>
        </p:spPr>
        <p:txBody>
          <a:bodyPr wrap="square" lIns="0" tIns="0" rIns="0" bIns="0" rtlCol="0" anchor="t"/>
          <a:lstStyle/>
          <a:p>
            <a:pPr marL="0" indent="0">
              <a:buNone/>
            </a:pPr>
            <a:r>
              <a:rPr lang="en-US" sz="1000" dirty="0">
                <a:solidFill>
                  <a:srgbClr val="94A3B8"/>
                </a:solidFill>
              </a:rPr>
              <a:t>Nearline after 30 days, Archive after 180 days</a:t>
            </a:r>
            <a:endParaRPr lang="en-US" sz="1000" dirty="0"/>
          </a:p>
        </p:txBody>
      </p:sp>
      <p:sp>
        <p:nvSpPr>
          <p:cNvPr id="18" name="Shape 15"/>
          <p:cNvSpPr/>
          <p:nvPr/>
        </p:nvSpPr>
        <p:spPr>
          <a:xfrm>
            <a:off x="5577840" y="3419856"/>
            <a:ext cx="3108960" cy="548640"/>
          </a:xfrm>
          <a:prstGeom prst="roundRect">
            <a:avLst>
              <a:gd name="adj" fmla="val 13333"/>
            </a:avLst>
          </a:prstGeom>
          <a:solidFill>
            <a:srgbClr val="131A33"/>
          </a:solidFill>
          <a:ln w="12700">
            <a:solidFill>
              <a:srgbClr val="2A3563"/>
            </a:solidFill>
            <a:prstDash val="solid"/>
          </a:ln>
        </p:spPr>
        <p:txBody>
          <a:bodyPr/>
          <a:lstStyle/>
          <a:p>
            <a:endParaRPr lang="en-US"/>
          </a:p>
        </p:txBody>
      </p:sp>
      <p:sp>
        <p:nvSpPr>
          <p:cNvPr id="19" name="Text 16"/>
          <p:cNvSpPr txBox="1"/>
          <p:nvPr/>
        </p:nvSpPr>
        <p:spPr>
          <a:xfrm>
            <a:off x="5687568" y="3465576"/>
            <a:ext cx="2926080" cy="228600"/>
          </a:xfrm>
          <a:prstGeom prst="rect">
            <a:avLst/>
          </a:prstGeom>
          <a:noFill/>
          <a:ln/>
        </p:spPr>
        <p:txBody>
          <a:bodyPr wrap="square" lIns="0" tIns="0" rIns="0" bIns="0" rtlCol="0" anchor="t"/>
          <a:lstStyle/>
          <a:p>
            <a:pPr marL="0" indent="0">
              <a:buNone/>
            </a:pPr>
            <a:r>
              <a:rPr lang="en-US" sz="1200" b="1" dirty="0">
                <a:solidFill>
                  <a:srgbClr val="34D399"/>
                </a:solidFill>
              </a:rPr>
              <a:t>Async + cache</a:t>
            </a:r>
            <a:endParaRPr lang="en-US" sz="1200" dirty="0"/>
          </a:p>
        </p:txBody>
      </p:sp>
      <p:sp>
        <p:nvSpPr>
          <p:cNvPr id="20" name="Text 17"/>
          <p:cNvSpPr txBox="1"/>
          <p:nvPr/>
        </p:nvSpPr>
        <p:spPr>
          <a:xfrm>
            <a:off x="5687568" y="3694176"/>
            <a:ext cx="2926080" cy="256032"/>
          </a:xfrm>
          <a:prstGeom prst="rect">
            <a:avLst/>
          </a:prstGeom>
          <a:noFill/>
          <a:ln/>
        </p:spPr>
        <p:txBody>
          <a:bodyPr wrap="square" lIns="0" tIns="0" rIns="0" bIns="0" rtlCol="0" anchor="t"/>
          <a:lstStyle/>
          <a:p>
            <a:pPr marL="0" indent="0">
              <a:buNone/>
            </a:pPr>
            <a:r>
              <a:rPr lang="en-US" sz="1000" dirty="0">
                <a:solidFill>
                  <a:srgbClr val="94A3B8"/>
                </a:solidFill>
              </a:rPr>
              <a:t>Fewer DB reads and writes; no blocking work</a:t>
            </a:r>
            <a:endParaRPr lang="en-US" sz="1000" dirty="0"/>
          </a:p>
        </p:txBody>
      </p:sp>
      <p:sp>
        <p:nvSpPr>
          <p:cNvPr id="21" name="Text 18"/>
          <p:cNvSpPr txBox="1"/>
          <p:nvPr/>
        </p:nvSpPr>
        <p:spPr>
          <a:xfrm>
            <a:off x="5577840" y="4069080"/>
            <a:ext cx="3108960" cy="502920"/>
          </a:xfrm>
          <a:prstGeom prst="rect">
            <a:avLst/>
          </a:prstGeom>
          <a:noFill/>
          <a:ln/>
        </p:spPr>
        <p:txBody>
          <a:bodyPr wrap="square" lIns="0" tIns="0" rIns="0" bIns="0" rtlCol="0" anchor="t"/>
          <a:lstStyle/>
          <a:p>
            <a:pPr marL="0" indent="0">
              <a:buNone/>
            </a:pPr>
            <a:r>
              <a:rPr lang="en-US" sz="1000" dirty="0">
                <a:solidFill>
                  <a:srgbClr val="FBBF24"/>
                </a:solidFill>
              </a:rPr>
              <a:t>MVP itself targets the GCP Always Free tier ($0), with free-tier switches for Redis and load balancer.</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From architecture to working MVP</a:t>
            </a:r>
            <a:endParaRPr lang="en-US" sz="3000" dirty="0"/>
          </a:p>
        </p:txBody>
      </p:sp>
      <p:sp>
        <p:nvSpPr>
          <p:cNvPr id="3" name="Subtitle"/>
          <p:cNvSpPr txBox="1"/>
          <p:nvPr/>
        </p:nvSpPr>
        <p:spPr>
          <a:xfrm>
            <a:off x="457200" y="758952"/>
            <a:ext cx="8229600" cy="274320"/>
          </a:xfrm>
          <a:prstGeom prst="rect">
            <a:avLst/>
          </a:prstGeom>
          <a:noFill/>
          <a:ln/>
        </p:spPr>
        <p:txBody>
          <a:bodyPr wrap="square" lIns="0" tIns="0" rIns="0" bIns="0" rtlCol="0" anchor="ctr"/>
          <a:lstStyle/>
          <a:p>
            <a:pPr marL="0" indent="0">
              <a:buNone/>
            </a:pPr>
            <a:r>
              <a:rPr lang="en-US" sz="1400" dirty="0">
                <a:solidFill>
                  <a:srgbClr val="22D3EE"/>
                </a:solidFill>
                <a:latin typeface="Calibri" pitchFamily="34" charset="0"/>
                <a:ea typeface="Calibri" pitchFamily="34" charset="-122"/>
                <a:cs typeface="Calibri" pitchFamily="34" charset="-120"/>
              </a:rPr>
              <a:t>Honest status, verified against the repository</a:t>
            </a:r>
            <a:endParaRPr lang="en-US" sz="1400" dirty="0"/>
          </a:p>
        </p:txBody>
      </p:sp>
      <p:sp>
        <p:nvSpPr>
          <p:cNvPr id="4" name="Footer"/>
          <p:cNvSpPr txBox="1"/>
          <p:nvPr/>
        </p:nvSpPr>
        <p:spPr>
          <a:xfrm>
            <a:off x="457200" y="4828032"/>
            <a:ext cx="3657600" cy="228600"/>
          </a:xfrm>
          <a:prstGeom prst="rect">
            <a:avLst/>
          </a:prstGeom>
          <a:noFill/>
          <a:ln/>
        </p:spPr>
        <p:txBody>
          <a:bodyPr wrap="square" lIns="0" tIns="0" rIns="0" bIns="0" rtlCol="0" anchor="ctr"/>
          <a:lstStyle/>
          <a:p>
            <a:pPr marL="0" indent="0">
              <a:buNone/>
            </a:pPr>
            <a:r>
              <a:rPr lang="en-US" sz="1000" dirty="0">
                <a:solidFill>
                  <a:srgbClr val="94A3B8"/>
                </a:solidFill>
              </a:rPr>
              <a:t>BackTrack · BOC 2.0 Final</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566160"/>
        </p:xfrm>
        <a:graphic>
          <a:graphicData uri="http://schemas.openxmlformats.org/drawingml/2006/table">
            <a:tbl>
              <a:tblPr/>
              <a:tblGrid>
                <a:gridCol w="3931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274320">
                <a:tc>
                  <a:txBody>
                    <a:bodyPr/>
                    <a:lstStyle/>
                    <a:p>
                      <a:pPr marL="0" indent="0">
                        <a:buNone/>
                      </a:pPr>
                      <a:r>
                        <a:rPr lang="en-US" sz="1100" b="1" dirty="0">
                          <a:solidFill>
                            <a:srgbClr val="0B1020"/>
                          </a:solidFill>
                          <a:latin typeface="Calibri" pitchFamily="34" charset="0"/>
                          <a:ea typeface="Calibri" pitchFamily="34" charset="-122"/>
                          <a:cs typeface="Calibri" pitchFamily="34" charset="-120"/>
                        </a:rPr>
                        <a:t>Capability</a:t>
                      </a:r>
                      <a:endParaRPr lang="en-US" sz="11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22D3EE"/>
                    </a:solidFill>
                  </a:tcPr>
                </a:tc>
                <a:tc>
                  <a:txBody>
                    <a:bodyPr/>
                    <a:lstStyle/>
                    <a:p>
                      <a:pPr marL="0" indent="0">
                        <a:buNone/>
                      </a:pPr>
                      <a:r>
                        <a:rPr lang="en-US" sz="1100" b="1" dirty="0">
                          <a:solidFill>
                            <a:srgbClr val="0B102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22D3EE"/>
                    </a:solidFill>
                  </a:tcPr>
                </a:tc>
                <a:tc>
                  <a:txBody>
                    <a:bodyPr/>
                    <a:lstStyle/>
                    <a:p>
                      <a:pPr marL="0" indent="0">
                        <a:buNone/>
                      </a:pPr>
                      <a:r>
                        <a:rPr lang="en-US" sz="1100" b="1" dirty="0">
                          <a:solidFill>
                            <a:srgbClr val="0B1020"/>
                          </a:solidFill>
                          <a:latin typeface="Calibri" pitchFamily="34" charset="0"/>
                          <a:ea typeface="Calibri" pitchFamily="34" charset="-122"/>
                          <a:cs typeface="Calibri" pitchFamily="34" charset="-120"/>
                        </a:rPr>
                        <a:t>Evidence</a:t>
                      </a:r>
                      <a:endParaRPr lang="en-US" sz="11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274320">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React PWA: feed, stories, DMs, upload UI</a:t>
                      </a:r>
                      <a:endParaRPr lang="en-US" sz="11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b="1" dirty="0">
                          <a:solidFill>
                            <a:srgbClr val="34D399"/>
                          </a:solidFill>
                          <a:latin typeface="Calibri" pitchFamily="34" charset="0"/>
                          <a:ea typeface="Calibri" pitchFamily="34" charset="-122"/>
                          <a:cs typeface="Calibri" pitchFamily="34" charset="-120"/>
                        </a:rPr>
                        <a:t>● IMPLEMENTED</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web/ · screenshots</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extLst>
                  <a:ext uri="{0D108BD9-81ED-4DB2-BD59-A6C34878D82A}">
                    <a16:rowId xmlns:a16="http://schemas.microsoft.com/office/drawing/2014/main" val="10001"/>
                  </a:ext>
                </a:extLst>
              </a:tr>
              <a:tr h="274320">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Feed API (Cloud Run) with heuristic ranking</a:t>
                      </a:r>
                      <a:endParaRPr lang="en-US" sz="11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b="1" dirty="0">
                          <a:solidFill>
                            <a:srgbClr val="34D399"/>
                          </a:solidFill>
                          <a:latin typeface="Calibri" pitchFamily="34" charset="0"/>
                          <a:ea typeface="Calibri" pitchFamily="34" charset="-122"/>
                          <a:cs typeface="Calibri" pitchFamily="34" charset="-120"/>
                        </a:rPr>
                        <a:t>● IMPLEMENTED</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feed-api/ranking.ts</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extLst>
                  <a:ext uri="{0D108BD9-81ED-4DB2-BD59-A6C34878D82A}">
                    <a16:rowId xmlns:a16="http://schemas.microsoft.com/office/drawing/2014/main" val="10002"/>
                  </a:ext>
                </a:extLst>
              </a:tr>
              <a:tr h="274320">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Redis INCR counters + 5 s Firestore flush</a:t>
                      </a:r>
                      <a:endParaRPr lang="en-US" sz="11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b="1" dirty="0">
                          <a:solidFill>
                            <a:srgbClr val="34D399"/>
                          </a:solidFill>
                          <a:latin typeface="Calibri" pitchFamily="34" charset="0"/>
                          <a:ea typeface="Calibri" pitchFamily="34" charset="-122"/>
                          <a:cs typeface="Calibri" pitchFamily="34" charset="-120"/>
                        </a:rPr>
                        <a:t>● IMPLEMENTED</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redis.ts (in-memory fallback)</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extLst>
                  <a:ext uri="{0D108BD9-81ED-4DB2-BD59-A6C34878D82A}">
                    <a16:rowId xmlns:a16="http://schemas.microsoft.com/office/drawing/2014/main" val="10003"/>
                  </a:ext>
                </a:extLst>
              </a:tr>
              <a:tr h="274320">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WebSocket gateway + Redis Pub/Sub backplane</a:t>
                      </a:r>
                      <a:endParaRPr lang="en-US" sz="11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b="1" dirty="0">
                          <a:solidFill>
                            <a:srgbClr val="34D399"/>
                          </a:solidFill>
                          <a:latin typeface="Calibri" pitchFamily="34" charset="0"/>
                          <a:ea typeface="Calibri" pitchFamily="34" charset="-122"/>
                          <a:cs typeface="Calibri" pitchFamily="34" charset="-120"/>
                        </a:rPr>
                        <a:t>● IMPLEMENTED</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websocket-gateway · DM screenshot</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extLst>
                  <a:ext uri="{0D108BD9-81ED-4DB2-BD59-A6C34878D82A}">
                    <a16:rowId xmlns:a16="http://schemas.microsoft.com/office/drawing/2014/main" val="10004"/>
                  </a:ext>
                </a:extLst>
              </a:tr>
              <a:tr h="274320">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24 h ephemeral stories</a:t>
                      </a:r>
                      <a:endParaRPr lang="en-US" sz="11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b="1" dirty="0">
                          <a:solidFill>
                            <a:srgbClr val="34D399"/>
                          </a:solidFill>
                          <a:latin typeface="Calibri" pitchFamily="34" charset="0"/>
                          <a:ea typeface="Calibri" pitchFamily="34" charset="-122"/>
                          <a:cs typeface="Calibri" pitchFamily="34" charset="-120"/>
                        </a:rPr>
                        <a:t>● IMPLEMENTED</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stories route · lifecycle rule</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extLst>
                  <a:ext uri="{0D108BD9-81ED-4DB2-BD59-A6C34878D82A}">
                    <a16:rowId xmlns:a16="http://schemas.microsoft.com/office/drawing/2014/main" val="10005"/>
                  </a:ext>
                </a:extLst>
              </a:tr>
              <a:tr h="274320">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Direct-to-GCS V4 signed URL (15 min)</a:t>
                      </a:r>
                      <a:endParaRPr lang="en-US" sz="11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b="1" dirty="0">
                          <a:solidFill>
                            <a:srgbClr val="FBBF24"/>
                          </a:solidFill>
                          <a:latin typeface="Calibri" pitchFamily="34" charset="0"/>
                          <a:ea typeface="Calibri" pitchFamily="34" charset="-122"/>
                          <a:cs typeface="Calibri" pitchFamily="34" charset="-120"/>
                        </a:rPr>
                        <a:t>● PARTIAL</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media.ts; UI uses sample URL</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extLst>
                  <a:ext uri="{0D108BD9-81ED-4DB2-BD59-A6C34878D82A}">
                    <a16:rowId xmlns:a16="http://schemas.microsoft.com/office/drawing/2014/main" val="10006"/>
                  </a:ext>
                </a:extLst>
              </a:tr>
              <a:tr h="274320">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Eventarc → worker: FFmpeg HLS + Vision</a:t>
                      </a:r>
                      <a:endParaRPr lang="en-US" sz="11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b="1" dirty="0">
                          <a:solidFill>
                            <a:srgbClr val="FBBF24"/>
                          </a:solidFill>
                          <a:latin typeface="Calibri" pitchFamily="34" charset="0"/>
                          <a:ea typeface="Calibri" pitchFamily="34" charset="-122"/>
                          <a:cs typeface="Calibri" pitchFamily="34" charset="-120"/>
                        </a:rPr>
                        <a:t>● PARTIAL</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worker code + Terraform; fallbacks</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extLst>
                  <a:ext uri="{0D108BD9-81ED-4DB2-BD59-A6C34878D82A}">
                    <a16:rowId xmlns:a16="http://schemas.microsoft.com/office/drawing/2014/main" val="10007"/>
                  </a:ext>
                </a:extLst>
              </a:tr>
              <a:tr h="274320">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Firestore persistence</a:t>
                      </a:r>
                      <a:endParaRPr lang="en-US" sz="11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b="1" dirty="0">
                          <a:solidFill>
                            <a:srgbClr val="FBBF24"/>
                          </a:solidFill>
                          <a:latin typeface="Calibri" pitchFamily="34" charset="0"/>
                          <a:ea typeface="Calibri" pitchFamily="34" charset="-122"/>
                          <a:cs typeface="Calibri" pitchFamily="34" charset="-120"/>
                        </a:rPr>
                        <a:t>● PARTIAL</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client + in-memory seed fallback</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extLst>
                  <a:ext uri="{0D108BD9-81ED-4DB2-BD59-A6C34878D82A}">
                    <a16:rowId xmlns:a16="http://schemas.microsoft.com/office/drawing/2014/main" val="10008"/>
                  </a:ext>
                </a:extLst>
              </a:tr>
              <a:tr h="274320">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HLS playback demo stream</a:t>
                      </a:r>
                      <a:endParaRPr lang="en-US" sz="11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b="1" dirty="0">
                          <a:solidFill>
                            <a:srgbClr val="60A5FA"/>
                          </a:solidFill>
                          <a:latin typeface="Calibri" pitchFamily="34" charset="0"/>
                          <a:ea typeface="Calibri" pitchFamily="34" charset="-122"/>
                          <a:cs typeface="Calibri" pitchFamily="34" charset="-120"/>
                        </a:rPr>
                        <a:t>● MOCKED</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public test stream when no transcode</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extLst>
                  <a:ext uri="{0D108BD9-81ED-4DB2-BD59-A6C34878D82A}">
                    <a16:rowId xmlns:a16="http://schemas.microsoft.com/office/drawing/2014/main" val="10009"/>
                  </a:ext>
                </a:extLst>
              </a:tr>
              <a:tr h="274320">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Auth: OAuth 2.0 / OIDC</a:t>
                      </a:r>
                      <a:endParaRPr lang="en-US" sz="11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b="1" dirty="0">
                          <a:solidFill>
                            <a:srgbClr val="60A5FA"/>
                          </a:solidFill>
                          <a:latin typeface="Calibri" pitchFamily="34" charset="0"/>
                          <a:ea typeface="Calibri" pitchFamily="34" charset="-122"/>
                          <a:cs typeface="Calibri" pitchFamily="34" charset="-120"/>
                        </a:rPr>
                        <a:t>● MOCKED</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persona switcher, unverified JWT</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extLst>
                  <a:ext uri="{0D108BD9-81ED-4DB2-BD59-A6C34878D82A}">
                    <a16:rowId xmlns:a16="http://schemas.microsoft.com/office/drawing/2014/main" val="10010"/>
                  </a:ext>
                </a:extLst>
              </a:tr>
              <a:tr h="274320">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Cloud CDN · Elasticsearch · Pub/Sub DLQ</a:t>
                      </a:r>
                      <a:endParaRPr lang="en-US" sz="11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b="1" dirty="0">
                          <a:solidFill>
                            <a:srgbClr val="CBD5E1"/>
                          </a:solidFill>
                          <a:latin typeface="Calibri" pitchFamily="34" charset="0"/>
                          <a:ea typeface="Calibri" pitchFamily="34" charset="-122"/>
                          <a:cs typeface="Calibri" pitchFamily="34" charset="-120"/>
                        </a:rPr>
                        <a:t>● FUTURE</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not in repo</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extLst>
                  <a:ext uri="{0D108BD9-81ED-4DB2-BD59-A6C34878D82A}">
                    <a16:rowId xmlns:a16="http://schemas.microsoft.com/office/drawing/2014/main" val="10011"/>
                  </a:ext>
                </a:extLst>
              </a:tr>
              <a:tr h="274320">
                <a:tc>
                  <a:txBody>
                    <a:bodyPr/>
                    <a:lstStyle/>
                    <a:p>
                      <a:pPr marL="0" indent="0">
                        <a:buNone/>
                      </a:pPr>
                      <a:r>
                        <a:rPr lang="en-US" sz="1100" dirty="0">
                          <a:solidFill>
                            <a:srgbClr val="F1F5F9"/>
                          </a:solidFill>
                          <a:latin typeface="Calibri" pitchFamily="34" charset="0"/>
                          <a:ea typeface="Calibri" pitchFamily="34" charset="-122"/>
                          <a:cs typeface="Calibri" pitchFamily="34" charset="-120"/>
                        </a:rPr>
                        <a:t>Hybrid fan-out · monitoring alerts · Vertex AI</a:t>
                      </a:r>
                      <a:endParaRPr lang="en-US" sz="11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b="1" dirty="0">
                          <a:solidFill>
                            <a:srgbClr val="CBD5E1"/>
                          </a:solidFill>
                          <a:latin typeface="Calibri" pitchFamily="34" charset="0"/>
                          <a:ea typeface="Calibri" pitchFamily="34" charset="-122"/>
                          <a:cs typeface="Calibri" pitchFamily="34" charset="-120"/>
                        </a:rPr>
                        <a:t>● FUTURE</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not in repo</a:t>
                      </a:r>
                      <a:endParaRPr lang="en-US" sz="1000" dirty="0">
                        <a:latin typeface="Calibri" charset="0"/>
                        <a:ea typeface="Calibri" charset="0"/>
                        <a:cs typeface="Calibri" charset="0"/>
                      </a:endParaRPr>
                    </a:p>
                  </a:txBody>
                  <a:tcPr marL="54864" marR="54864"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31A33"/>
                    </a:solidFill>
                  </a:tcPr>
                </a:tc>
                <a:extLst>
                  <a:ext uri="{0D108BD9-81ED-4DB2-BD59-A6C34878D82A}">
                    <a16:rowId xmlns:a16="http://schemas.microsoft.com/office/drawing/2014/main" val="10012"/>
                  </a:ext>
                </a:extLst>
              </a:tr>
            </a:tbl>
          </a:graphicData>
        </a:graphic>
      </p:graphicFrame>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Live MVP demo: upload → processing → feed</a:t>
            </a:r>
            <a:endParaRPr lang="en-US" sz="3000" dirty="0"/>
          </a:p>
        </p:txBody>
      </p:sp>
      <p:sp>
        <p:nvSpPr>
          <p:cNvPr id="3" name="Footer"/>
          <p:cNvSpPr txBox="1"/>
          <p:nvPr/>
        </p:nvSpPr>
        <p:spPr>
          <a:xfrm>
            <a:off x="457200" y="4828032"/>
            <a:ext cx="3657600" cy="228600"/>
          </a:xfrm>
          <a:prstGeom prst="rect">
            <a:avLst/>
          </a:prstGeom>
          <a:noFill/>
          <a:ln/>
        </p:spPr>
        <p:txBody>
          <a:bodyPr wrap="square" lIns="0" tIns="0" rIns="0" bIns="0" rtlCol="0" anchor="ctr"/>
          <a:lstStyle/>
          <a:p>
            <a:pPr marL="0" indent="0">
              <a:buNone/>
            </a:pPr>
            <a:r>
              <a:rPr lang="en-US" sz="1000" dirty="0">
                <a:solidFill>
                  <a:srgbClr val="94A3B8"/>
                </a:solidFill>
              </a:rPr>
              <a:t>BackTrack · BOC 2.0 Final</a:t>
            </a:r>
            <a:endParaRPr lang="en-US" sz="1000" dirty="0"/>
          </a:p>
        </p:txBody>
      </p:sp>
      <p:sp>
        <p:nvSpPr>
          <p:cNvPr id="4" name="Shape 2"/>
          <p:cNvSpPr/>
          <p:nvPr/>
        </p:nvSpPr>
        <p:spPr>
          <a:xfrm>
            <a:off x="457200" y="868680"/>
            <a:ext cx="1554480" cy="310896"/>
          </a:xfrm>
          <a:prstGeom prst="roundRect">
            <a:avLst>
              <a:gd name="adj" fmla="val 50000"/>
            </a:avLst>
          </a:prstGeom>
          <a:solidFill>
            <a:srgbClr val="1B2547"/>
          </a:solidFill>
          <a:ln w="12700">
            <a:solidFill>
              <a:srgbClr val="22D3EE"/>
            </a:solidFill>
            <a:prstDash val="solid"/>
          </a:ln>
        </p:spPr>
        <p:txBody>
          <a:bodyPr/>
          <a:lstStyle/>
          <a:p>
            <a:endParaRPr lang="en-US"/>
          </a:p>
        </p:txBody>
      </p:sp>
      <p:sp>
        <p:nvSpPr>
          <p:cNvPr id="5" name="Text 3"/>
          <p:cNvSpPr txBox="1"/>
          <p:nvPr/>
        </p:nvSpPr>
        <p:spPr>
          <a:xfrm>
            <a:off x="457200" y="868680"/>
            <a:ext cx="1554480" cy="310896"/>
          </a:xfrm>
          <a:prstGeom prst="rect">
            <a:avLst/>
          </a:prstGeom>
          <a:noFill/>
          <a:ln/>
        </p:spPr>
        <p:txBody>
          <a:bodyPr wrap="square" lIns="0" tIns="0" rIns="0" bIns="0" rtlCol="0" anchor="ctr"/>
          <a:lstStyle/>
          <a:p>
            <a:pPr marL="0" indent="0" algn="ctr">
              <a:buNone/>
            </a:pPr>
            <a:r>
              <a:rPr lang="en-US" sz="1000" b="1" dirty="0">
                <a:solidFill>
                  <a:srgbClr val="22D3EE"/>
                </a:solidFill>
              </a:rPr>
              <a:t>1  Open feed</a:t>
            </a:r>
            <a:endParaRPr lang="en-US" sz="1000" dirty="0"/>
          </a:p>
        </p:txBody>
      </p:sp>
      <p:sp>
        <p:nvSpPr>
          <p:cNvPr id="6" name="Shape 4"/>
          <p:cNvSpPr/>
          <p:nvPr/>
        </p:nvSpPr>
        <p:spPr>
          <a:xfrm>
            <a:off x="2121408" y="868680"/>
            <a:ext cx="1554480" cy="310896"/>
          </a:xfrm>
          <a:prstGeom prst="roundRect">
            <a:avLst>
              <a:gd name="adj" fmla="val 50000"/>
            </a:avLst>
          </a:prstGeom>
          <a:solidFill>
            <a:srgbClr val="1B2547"/>
          </a:solidFill>
          <a:ln w="12700">
            <a:solidFill>
              <a:srgbClr val="22D3EE"/>
            </a:solidFill>
            <a:prstDash val="solid"/>
          </a:ln>
        </p:spPr>
        <p:txBody>
          <a:bodyPr/>
          <a:lstStyle/>
          <a:p>
            <a:endParaRPr lang="en-US"/>
          </a:p>
        </p:txBody>
      </p:sp>
      <p:sp>
        <p:nvSpPr>
          <p:cNvPr id="7" name="Text 5"/>
          <p:cNvSpPr txBox="1"/>
          <p:nvPr/>
        </p:nvSpPr>
        <p:spPr>
          <a:xfrm>
            <a:off x="2121408" y="868680"/>
            <a:ext cx="1554480" cy="310896"/>
          </a:xfrm>
          <a:prstGeom prst="rect">
            <a:avLst/>
          </a:prstGeom>
          <a:noFill/>
          <a:ln/>
        </p:spPr>
        <p:txBody>
          <a:bodyPr wrap="square" lIns="0" tIns="0" rIns="0" bIns="0" rtlCol="0" anchor="ctr"/>
          <a:lstStyle/>
          <a:p>
            <a:pPr marL="0" indent="0" algn="ctr">
              <a:buNone/>
            </a:pPr>
            <a:r>
              <a:rPr lang="en-US" sz="1000" b="1" dirty="0">
                <a:solidFill>
                  <a:srgbClr val="22D3EE"/>
                </a:solidFill>
              </a:rPr>
              <a:t>2  Pick persona</a:t>
            </a:r>
            <a:endParaRPr lang="en-US" sz="1000" dirty="0"/>
          </a:p>
        </p:txBody>
      </p:sp>
      <p:sp>
        <p:nvSpPr>
          <p:cNvPr id="8" name="Shape 6"/>
          <p:cNvSpPr/>
          <p:nvPr/>
        </p:nvSpPr>
        <p:spPr>
          <a:xfrm>
            <a:off x="3785616" y="868680"/>
            <a:ext cx="1554480" cy="310896"/>
          </a:xfrm>
          <a:prstGeom prst="roundRect">
            <a:avLst>
              <a:gd name="adj" fmla="val 50000"/>
            </a:avLst>
          </a:prstGeom>
          <a:solidFill>
            <a:srgbClr val="1B2547"/>
          </a:solidFill>
          <a:ln w="12700">
            <a:solidFill>
              <a:srgbClr val="22D3EE"/>
            </a:solidFill>
            <a:prstDash val="solid"/>
          </a:ln>
        </p:spPr>
        <p:txBody>
          <a:bodyPr/>
          <a:lstStyle/>
          <a:p>
            <a:endParaRPr lang="en-US"/>
          </a:p>
        </p:txBody>
      </p:sp>
      <p:sp>
        <p:nvSpPr>
          <p:cNvPr id="9" name="Text 7"/>
          <p:cNvSpPr txBox="1"/>
          <p:nvPr/>
        </p:nvSpPr>
        <p:spPr>
          <a:xfrm>
            <a:off x="3785616" y="868680"/>
            <a:ext cx="1554480" cy="310896"/>
          </a:xfrm>
          <a:prstGeom prst="rect">
            <a:avLst/>
          </a:prstGeom>
          <a:noFill/>
          <a:ln/>
        </p:spPr>
        <p:txBody>
          <a:bodyPr wrap="square" lIns="0" tIns="0" rIns="0" bIns="0" rtlCol="0" anchor="ctr"/>
          <a:lstStyle/>
          <a:p>
            <a:pPr marL="0" indent="0" algn="ctr">
              <a:buNone/>
            </a:pPr>
            <a:r>
              <a:rPr lang="en-US" sz="1000" b="1" dirty="0">
                <a:solidFill>
                  <a:srgbClr val="22D3EE"/>
                </a:solidFill>
              </a:rPr>
              <a:t>3  Upload via signed URL</a:t>
            </a:r>
            <a:endParaRPr lang="en-US" sz="1000" dirty="0"/>
          </a:p>
        </p:txBody>
      </p:sp>
      <p:sp>
        <p:nvSpPr>
          <p:cNvPr id="10" name="Shape 8"/>
          <p:cNvSpPr/>
          <p:nvPr/>
        </p:nvSpPr>
        <p:spPr>
          <a:xfrm>
            <a:off x="5449824" y="868680"/>
            <a:ext cx="1554480" cy="310896"/>
          </a:xfrm>
          <a:prstGeom prst="roundRect">
            <a:avLst>
              <a:gd name="adj" fmla="val 50000"/>
            </a:avLst>
          </a:prstGeom>
          <a:solidFill>
            <a:srgbClr val="1B2547"/>
          </a:solidFill>
          <a:ln w="12700">
            <a:solidFill>
              <a:srgbClr val="22D3EE"/>
            </a:solidFill>
            <a:prstDash val="solid"/>
          </a:ln>
        </p:spPr>
        <p:txBody>
          <a:bodyPr/>
          <a:lstStyle/>
          <a:p>
            <a:endParaRPr lang="en-US"/>
          </a:p>
        </p:txBody>
      </p:sp>
      <p:sp>
        <p:nvSpPr>
          <p:cNvPr id="11" name="Text 9"/>
          <p:cNvSpPr txBox="1"/>
          <p:nvPr/>
        </p:nvSpPr>
        <p:spPr>
          <a:xfrm>
            <a:off x="5449824" y="868680"/>
            <a:ext cx="1554480" cy="310896"/>
          </a:xfrm>
          <a:prstGeom prst="rect">
            <a:avLst/>
          </a:prstGeom>
          <a:noFill/>
          <a:ln/>
        </p:spPr>
        <p:txBody>
          <a:bodyPr wrap="square" lIns="0" tIns="0" rIns="0" bIns="0" rtlCol="0" anchor="ctr"/>
          <a:lstStyle/>
          <a:p>
            <a:pPr marL="0" indent="0" algn="ctr">
              <a:buNone/>
            </a:pPr>
            <a:r>
              <a:rPr lang="en-US" sz="1000" b="1" dirty="0">
                <a:solidFill>
                  <a:srgbClr val="22D3EE"/>
                </a:solidFill>
              </a:rPr>
              <a:t>4  Status: Ready</a:t>
            </a:r>
            <a:endParaRPr lang="en-US" sz="1000" dirty="0"/>
          </a:p>
        </p:txBody>
      </p:sp>
      <p:sp>
        <p:nvSpPr>
          <p:cNvPr id="12" name="Shape 10"/>
          <p:cNvSpPr/>
          <p:nvPr/>
        </p:nvSpPr>
        <p:spPr>
          <a:xfrm>
            <a:off x="7114032" y="868680"/>
            <a:ext cx="1554480" cy="310896"/>
          </a:xfrm>
          <a:prstGeom prst="roundRect">
            <a:avLst>
              <a:gd name="adj" fmla="val 50000"/>
            </a:avLst>
          </a:prstGeom>
          <a:solidFill>
            <a:srgbClr val="1B2547"/>
          </a:solidFill>
          <a:ln w="12700">
            <a:solidFill>
              <a:srgbClr val="22D3EE"/>
            </a:solidFill>
            <a:prstDash val="solid"/>
          </a:ln>
        </p:spPr>
        <p:txBody>
          <a:bodyPr/>
          <a:lstStyle/>
          <a:p>
            <a:endParaRPr lang="en-US"/>
          </a:p>
        </p:txBody>
      </p:sp>
      <p:sp>
        <p:nvSpPr>
          <p:cNvPr id="13" name="Text 11"/>
          <p:cNvSpPr txBox="1"/>
          <p:nvPr/>
        </p:nvSpPr>
        <p:spPr>
          <a:xfrm>
            <a:off x="7114032" y="868680"/>
            <a:ext cx="1554480" cy="310896"/>
          </a:xfrm>
          <a:prstGeom prst="rect">
            <a:avLst/>
          </a:prstGeom>
          <a:noFill/>
          <a:ln/>
        </p:spPr>
        <p:txBody>
          <a:bodyPr wrap="square" lIns="0" tIns="0" rIns="0" bIns="0" rtlCol="0" anchor="ctr"/>
          <a:lstStyle/>
          <a:p>
            <a:pPr marL="0" indent="0" algn="ctr">
              <a:buNone/>
            </a:pPr>
            <a:r>
              <a:rPr lang="en-US" sz="1000" b="1" dirty="0">
                <a:solidFill>
                  <a:srgbClr val="22D3EE"/>
                </a:solidFill>
              </a:rPr>
              <a:t>5  Appears in feed</a:t>
            </a:r>
            <a:endParaRPr lang="en-US" sz="1000" dirty="0"/>
          </a:p>
        </p:txBody>
      </p:sp>
      <p:pic>
        <p:nvPicPr>
          <p:cNvPr id="14" name="Image 0" descr="/home/claude/assets/upload_modal.png"/>
          <p:cNvPicPr>
            <a:picLocks noChangeAspect="1"/>
          </p:cNvPicPr>
          <p:nvPr/>
        </p:nvPicPr>
        <p:blipFill>
          <a:blip r:embed="rId3"/>
          <a:stretch>
            <a:fillRect/>
          </a:stretch>
        </p:blipFill>
        <p:spPr>
          <a:xfrm>
            <a:off x="457200" y="1371600"/>
            <a:ext cx="3707423" cy="3154680"/>
          </a:xfrm>
          <a:prstGeom prst="rect">
            <a:avLst/>
          </a:prstGeom>
        </p:spPr>
      </p:pic>
      <p:sp>
        <p:nvSpPr>
          <p:cNvPr id="15" name="Shape 12"/>
          <p:cNvSpPr/>
          <p:nvPr/>
        </p:nvSpPr>
        <p:spPr>
          <a:xfrm>
            <a:off x="457200" y="1371600"/>
            <a:ext cx="3707423" cy="3154680"/>
          </a:xfrm>
          <a:prstGeom prst="rect">
            <a:avLst/>
          </a:prstGeom>
          <a:ln w="12700">
            <a:solidFill>
              <a:srgbClr val="2A3563"/>
            </a:solidFill>
            <a:prstDash val="solid"/>
          </a:ln>
        </p:spPr>
        <p:txBody>
          <a:bodyPr/>
          <a:lstStyle/>
          <a:p>
            <a:endParaRPr lang="en-US"/>
          </a:p>
        </p:txBody>
      </p:sp>
      <p:sp>
        <p:nvSpPr>
          <p:cNvPr id="16" name="Shape 13"/>
          <p:cNvSpPr/>
          <p:nvPr/>
        </p:nvSpPr>
        <p:spPr>
          <a:xfrm>
            <a:off x="598756" y="4081389"/>
            <a:ext cx="3424311" cy="303335"/>
          </a:xfrm>
          <a:prstGeom prst="rect">
            <a:avLst/>
          </a:prstGeom>
          <a:ln w="25400">
            <a:solidFill>
              <a:srgbClr val="FBBF24"/>
            </a:solidFill>
            <a:prstDash val="solid"/>
          </a:ln>
        </p:spPr>
        <p:txBody>
          <a:bodyPr/>
          <a:lstStyle/>
          <a:p>
            <a:endParaRPr lang="en-US"/>
          </a:p>
        </p:txBody>
      </p:sp>
      <p:pic>
        <p:nvPicPr>
          <p:cNvPr id="17" name="Image 1" descr="/home/claude/assets/feed_hls.png"/>
          <p:cNvPicPr>
            <a:picLocks noChangeAspect="1"/>
          </p:cNvPicPr>
          <p:nvPr/>
        </p:nvPicPr>
        <p:blipFill>
          <a:blip r:embed="rId4"/>
          <a:stretch>
            <a:fillRect/>
          </a:stretch>
        </p:blipFill>
        <p:spPr>
          <a:xfrm>
            <a:off x="4434840" y="1371600"/>
            <a:ext cx="2549322" cy="3154680"/>
          </a:xfrm>
          <a:prstGeom prst="rect">
            <a:avLst/>
          </a:prstGeom>
        </p:spPr>
      </p:pic>
      <p:sp>
        <p:nvSpPr>
          <p:cNvPr id="18" name="Shape 14"/>
          <p:cNvSpPr/>
          <p:nvPr/>
        </p:nvSpPr>
        <p:spPr>
          <a:xfrm>
            <a:off x="4434840" y="1371600"/>
            <a:ext cx="2549322" cy="3154680"/>
          </a:xfrm>
          <a:prstGeom prst="rect">
            <a:avLst/>
          </a:prstGeom>
          <a:ln w="12700">
            <a:solidFill>
              <a:srgbClr val="2A3563"/>
            </a:solidFill>
            <a:prstDash val="solid"/>
          </a:ln>
        </p:spPr>
        <p:txBody>
          <a:bodyPr/>
          <a:lstStyle/>
          <a:p>
            <a:endParaRPr lang="en-US"/>
          </a:p>
        </p:txBody>
      </p:sp>
      <p:sp>
        <p:nvSpPr>
          <p:cNvPr id="19" name="Shape 15"/>
          <p:cNvSpPr/>
          <p:nvPr/>
        </p:nvSpPr>
        <p:spPr>
          <a:xfrm>
            <a:off x="4498786" y="1759540"/>
            <a:ext cx="844090" cy="127892"/>
          </a:xfrm>
          <a:prstGeom prst="rect">
            <a:avLst/>
          </a:prstGeom>
          <a:ln w="25400">
            <a:solidFill>
              <a:srgbClr val="FBBF24"/>
            </a:solidFill>
            <a:prstDash val="solid"/>
          </a:ln>
        </p:spPr>
        <p:txBody>
          <a:bodyPr/>
          <a:lstStyle/>
          <a:p>
            <a:endParaRPr lang="en-US"/>
          </a:p>
        </p:txBody>
      </p:sp>
      <p:pic>
        <p:nvPicPr>
          <p:cNvPr id="20" name="Image 2" descr="/home/claude/assets/persona.png"/>
          <p:cNvPicPr>
            <a:picLocks noChangeAspect="1"/>
          </p:cNvPicPr>
          <p:nvPr/>
        </p:nvPicPr>
        <p:blipFill>
          <a:blip r:embed="rId5"/>
          <a:stretch>
            <a:fillRect/>
          </a:stretch>
        </p:blipFill>
        <p:spPr>
          <a:xfrm>
            <a:off x="7543800" y="1384512"/>
            <a:ext cx="1503731" cy="502920"/>
          </a:xfrm>
          <a:prstGeom prst="rect">
            <a:avLst/>
          </a:prstGeom>
        </p:spPr>
      </p:pic>
      <p:sp>
        <p:nvSpPr>
          <p:cNvPr id="21" name="Shape 16"/>
          <p:cNvSpPr/>
          <p:nvPr/>
        </p:nvSpPr>
        <p:spPr>
          <a:xfrm>
            <a:off x="7543799" y="1384512"/>
            <a:ext cx="1503731" cy="502920"/>
          </a:xfrm>
          <a:prstGeom prst="rect">
            <a:avLst/>
          </a:prstGeom>
          <a:ln w="12700">
            <a:solidFill>
              <a:srgbClr val="2A3563"/>
            </a:solidFill>
            <a:prstDash val="solid"/>
          </a:ln>
        </p:spPr>
        <p:txBody>
          <a:bodyPr/>
          <a:lstStyle/>
          <a:p>
            <a:endParaRPr lang="en-US"/>
          </a:p>
        </p:txBody>
      </p:sp>
      <p:sp>
        <p:nvSpPr>
          <p:cNvPr id="22" name="Text 17"/>
          <p:cNvSpPr txBox="1"/>
          <p:nvPr/>
        </p:nvSpPr>
        <p:spPr>
          <a:xfrm>
            <a:off x="457200" y="4572000"/>
            <a:ext cx="3840480" cy="228600"/>
          </a:xfrm>
          <a:prstGeom prst="rect">
            <a:avLst/>
          </a:prstGeom>
          <a:noFill/>
          <a:ln/>
        </p:spPr>
        <p:txBody>
          <a:bodyPr wrap="square" lIns="0" tIns="0" rIns="0" bIns="0" rtlCol="0" anchor="t"/>
          <a:lstStyle/>
          <a:p>
            <a:pPr marL="0" indent="0">
              <a:buNone/>
            </a:pPr>
            <a:r>
              <a:rPr lang="en-US" sz="1000" dirty="0">
                <a:solidFill>
                  <a:srgbClr val="94A3B8"/>
                </a:solidFill>
              </a:rPr>
              <a:t>Ingestion dialog: post or 24 h story, via signed URL</a:t>
            </a:r>
            <a:endParaRPr lang="en-US" sz="1000" dirty="0"/>
          </a:p>
        </p:txBody>
      </p:sp>
      <p:sp>
        <p:nvSpPr>
          <p:cNvPr id="23" name="Text 18"/>
          <p:cNvSpPr txBox="1"/>
          <p:nvPr/>
        </p:nvSpPr>
        <p:spPr>
          <a:xfrm>
            <a:off x="4434840" y="4572000"/>
            <a:ext cx="3108960" cy="228600"/>
          </a:xfrm>
          <a:prstGeom prst="rect">
            <a:avLst/>
          </a:prstGeom>
          <a:noFill/>
          <a:ln/>
        </p:spPr>
        <p:txBody>
          <a:bodyPr wrap="square" lIns="0" tIns="0" rIns="0" bIns="0" rtlCol="0" anchor="t"/>
          <a:lstStyle/>
          <a:p>
            <a:pPr marL="0" indent="0">
              <a:buNone/>
            </a:pPr>
            <a:r>
              <a:rPr lang="en-US" sz="1000" dirty="0">
                <a:solidFill>
                  <a:srgbClr val="94A3B8"/>
                </a:solidFill>
              </a:rPr>
              <a:t>HLS badge; demo uses a public test stream</a:t>
            </a:r>
            <a:endParaRPr lang="en-US" sz="1000" dirty="0"/>
          </a:p>
        </p:txBody>
      </p:sp>
      <p:sp>
        <p:nvSpPr>
          <p:cNvPr id="24" name="Text 19"/>
          <p:cNvSpPr txBox="1"/>
          <p:nvPr/>
        </p:nvSpPr>
        <p:spPr>
          <a:xfrm>
            <a:off x="7726680" y="1965960"/>
            <a:ext cx="1005840" cy="731520"/>
          </a:xfrm>
          <a:prstGeom prst="rect">
            <a:avLst/>
          </a:prstGeom>
          <a:noFill/>
          <a:ln/>
        </p:spPr>
        <p:txBody>
          <a:bodyPr wrap="square" lIns="0" tIns="0" rIns="0" bIns="0" rtlCol="0" anchor="t"/>
          <a:lstStyle/>
          <a:p>
            <a:pPr marL="0" indent="0">
              <a:buNone/>
            </a:pPr>
            <a:r>
              <a:rPr lang="en-US" sz="1000" dirty="0">
                <a:solidFill>
                  <a:srgbClr val="FBBF24"/>
                </a:solidFill>
              </a:rPr>
              <a:t>Persona switcher (demo identity)</a:t>
            </a:r>
            <a:endParaRPr lang="en-US" sz="1000" dirty="0"/>
          </a:p>
        </p:txBody>
      </p:sp>
      <p:sp>
        <p:nvSpPr>
          <p:cNvPr id="25" name="Text 20"/>
          <p:cNvSpPr txBox="1"/>
          <p:nvPr/>
        </p:nvSpPr>
        <p:spPr>
          <a:xfrm>
            <a:off x="7726680" y="2834640"/>
            <a:ext cx="1005840" cy="1463040"/>
          </a:xfrm>
          <a:prstGeom prst="rect">
            <a:avLst/>
          </a:prstGeom>
          <a:noFill/>
          <a:ln/>
        </p:spPr>
        <p:txBody>
          <a:bodyPr wrap="square" lIns="0" tIns="0" rIns="0" bIns="0" rtlCol="0" anchor="t"/>
          <a:lstStyle/>
          <a:p>
            <a:pPr marL="0" indent="0">
              <a:buNone/>
            </a:pPr>
            <a:r>
              <a:rPr lang="en-US" sz="1000" dirty="0">
                <a:solidFill>
                  <a:srgbClr val="F1F5F9"/>
                </a:solidFill>
              </a:rPr>
              <a:t>Live: pick a persona, publish, watch status turn Ready.</a:t>
            </a:r>
            <a:endParaRPr lang="en-US" sz="1000" dirty="0"/>
          </a:p>
        </p:txBody>
      </p:sp>
      <p:sp>
        <p:nvSpPr>
          <p:cNvPr id="26"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11</a:t>
            </a:fld>
            <a:endParaRPr lang="en-US"/>
          </a:p>
        </p:txBody>
      </p:sp>
      <p:sp>
        <p:nvSpPr>
          <p:cNvPr id="901" name="Live MVP Button">
            <a:hlinkClick r:id="rIdLink1" tooltip="Open live BackTrack MVP"/>
          </p:cNvPr>
          <p:cNvSpPr/>
          <p:nvPr/>
        </p:nvSpPr>
        <p:spPr>
          <a:xfrm>
            <a:off x="7543800" y="3611880"/>
            <a:ext cx="1503731" cy="365760"/>
          </a:xfrm>
          <a:prstGeom prst="roundRect">
            <a:avLst>
              <a:gd name="adj" fmla="val 50000"/>
            </a:avLst>
          </a:prstGeom>
          <a:solidFill>
            <a:srgbClr val="22D3EE"/>
          </a:solidFill>
          <a:ln w="19050">
            <a:solidFill>
              <a:srgbClr val="22D3EE"/>
            </a:solidFill>
          </a:ln>
        </p:spPr>
        <p:txBody>
          <a:bodyPr wrap="square" lIns="0" tIns="0" rIns="0" bIns="0" rtlCol="0" anchor="ctr"/>
          <a:lstStyle/>
          <a:p>
            <a:pPr algn="ctr"/>
            <a:r>
              <a:rPr lang="en-US" sz="1100" b="1" dirty="0">
                <a:solidFill>
                  <a:srgbClr val="0B1020"/>
                </a:solidFill>
              </a:rPr>
              <a:t>Open live MVP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Live MVP demo: real-time &amp; engagement</a:t>
            </a:r>
            <a:endParaRPr lang="en-US" sz="3000" dirty="0"/>
          </a:p>
        </p:txBody>
      </p:sp>
      <p:sp>
        <p:nvSpPr>
          <p:cNvPr id="3" name="Footer"/>
          <p:cNvSpPr txBox="1"/>
          <p:nvPr/>
        </p:nvSpPr>
        <p:spPr>
          <a:xfrm>
            <a:off x="457200" y="4828032"/>
            <a:ext cx="3657600" cy="228600"/>
          </a:xfrm>
          <a:prstGeom prst="rect">
            <a:avLst/>
          </a:prstGeom>
          <a:noFill/>
          <a:ln/>
        </p:spPr>
        <p:txBody>
          <a:bodyPr wrap="square" lIns="0" tIns="0" rIns="0" bIns="0" rtlCol="0" anchor="ctr"/>
          <a:lstStyle/>
          <a:p>
            <a:pPr marL="0" indent="0">
              <a:buNone/>
            </a:pPr>
            <a:r>
              <a:rPr lang="en-US" sz="1000" dirty="0">
                <a:solidFill>
                  <a:srgbClr val="94A3B8"/>
                </a:solidFill>
              </a:rPr>
              <a:t>BackTrack · BOC 2.0 Final</a:t>
            </a:r>
            <a:endParaRPr lang="en-US" sz="1000" dirty="0"/>
          </a:p>
        </p:txBody>
      </p:sp>
      <p:pic>
        <p:nvPicPr>
          <p:cNvPr id="4" name="Image 0" descr="/home/claude/assets/chat.png"/>
          <p:cNvPicPr>
            <a:picLocks noChangeAspect="1"/>
          </p:cNvPicPr>
          <p:nvPr/>
        </p:nvPicPr>
        <p:blipFill>
          <a:blip r:embed="rId3"/>
          <a:stretch>
            <a:fillRect/>
          </a:stretch>
        </p:blipFill>
        <p:spPr>
          <a:xfrm>
            <a:off x="457200" y="960120"/>
            <a:ext cx="3840480" cy="3291840"/>
          </a:xfrm>
          <a:prstGeom prst="rect">
            <a:avLst/>
          </a:prstGeom>
        </p:spPr>
      </p:pic>
      <p:sp>
        <p:nvSpPr>
          <p:cNvPr id="5" name="Shape 2"/>
          <p:cNvSpPr/>
          <p:nvPr/>
        </p:nvSpPr>
        <p:spPr>
          <a:xfrm>
            <a:off x="457200" y="960120"/>
            <a:ext cx="3840480" cy="3291840"/>
          </a:xfrm>
          <a:prstGeom prst="rect">
            <a:avLst/>
          </a:prstGeom>
          <a:ln w="12700">
            <a:solidFill>
              <a:srgbClr val="2A3563"/>
            </a:solidFill>
            <a:prstDash val="solid"/>
          </a:ln>
        </p:spPr>
        <p:txBody>
          <a:bodyPr/>
          <a:lstStyle/>
          <a:p>
            <a:endParaRPr lang="en-US"/>
          </a:p>
        </p:txBody>
      </p:sp>
      <p:sp>
        <p:nvSpPr>
          <p:cNvPr id="6" name="Shape 3"/>
          <p:cNvSpPr/>
          <p:nvPr/>
        </p:nvSpPr>
        <p:spPr>
          <a:xfrm>
            <a:off x="3057144" y="1082040"/>
            <a:ext cx="670560" cy="79248"/>
          </a:xfrm>
          <a:prstGeom prst="rect">
            <a:avLst/>
          </a:prstGeom>
          <a:ln w="25400">
            <a:solidFill>
              <a:srgbClr val="FBBF24"/>
            </a:solidFill>
            <a:prstDash val="solid"/>
          </a:ln>
        </p:spPr>
        <p:txBody>
          <a:bodyPr/>
          <a:lstStyle/>
          <a:p>
            <a:endParaRPr lang="en-US"/>
          </a:p>
        </p:txBody>
      </p:sp>
      <p:pic>
        <p:nvPicPr>
          <p:cNvPr id="7" name="Image 1" descr="/home/claude/assets/feed_rack.png"/>
          <p:cNvPicPr>
            <a:picLocks noChangeAspect="1"/>
          </p:cNvPicPr>
          <p:nvPr/>
        </p:nvPicPr>
        <p:blipFill>
          <a:blip r:embed="rId4"/>
          <a:stretch>
            <a:fillRect/>
          </a:stretch>
        </p:blipFill>
        <p:spPr>
          <a:xfrm>
            <a:off x="4480560" y="960120"/>
            <a:ext cx="2660163" cy="3291840"/>
          </a:xfrm>
          <a:prstGeom prst="rect">
            <a:avLst/>
          </a:prstGeom>
        </p:spPr>
      </p:pic>
      <p:sp>
        <p:nvSpPr>
          <p:cNvPr id="8" name="Shape 4"/>
          <p:cNvSpPr/>
          <p:nvPr/>
        </p:nvSpPr>
        <p:spPr>
          <a:xfrm>
            <a:off x="4480560" y="960120"/>
            <a:ext cx="2660163" cy="3291840"/>
          </a:xfrm>
          <a:prstGeom prst="rect">
            <a:avLst/>
          </a:prstGeom>
          <a:ln w="12700">
            <a:solidFill>
              <a:srgbClr val="2A3563"/>
            </a:solidFill>
            <a:prstDash val="solid"/>
          </a:ln>
        </p:spPr>
        <p:txBody>
          <a:bodyPr/>
          <a:lstStyle/>
          <a:p>
            <a:endParaRPr lang="en-US"/>
          </a:p>
        </p:txBody>
      </p:sp>
      <p:sp>
        <p:nvSpPr>
          <p:cNvPr id="9" name="Shape 5"/>
          <p:cNvSpPr/>
          <p:nvPr/>
        </p:nvSpPr>
        <p:spPr>
          <a:xfrm>
            <a:off x="7269480" y="960120"/>
            <a:ext cx="1463040" cy="1024128"/>
          </a:xfrm>
          <a:prstGeom prst="roundRect">
            <a:avLst>
              <a:gd name="adj" fmla="val 7143"/>
            </a:avLst>
          </a:prstGeom>
          <a:solidFill>
            <a:srgbClr val="131A33"/>
          </a:solidFill>
          <a:ln w="12700">
            <a:solidFill>
              <a:srgbClr val="34D399"/>
            </a:solidFill>
            <a:prstDash val="solid"/>
          </a:ln>
        </p:spPr>
        <p:txBody>
          <a:bodyPr/>
          <a:lstStyle/>
          <a:p>
            <a:endParaRPr lang="en-US"/>
          </a:p>
        </p:txBody>
      </p:sp>
      <p:sp>
        <p:nvSpPr>
          <p:cNvPr id="10" name="Text 6"/>
          <p:cNvSpPr txBox="1"/>
          <p:nvPr/>
        </p:nvSpPr>
        <p:spPr>
          <a:xfrm>
            <a:off x="7342632" y="1005840"/>
            <a:ext cx="1325880" cy="228600"/>
          </a:xfrm>
          <a:prstGeom prst="rect">
            <a:avLst/>
          </a:prstGeom>
          <a:noFill/>
          <a:ln/>
        </p:spPr>
        <p:txBody>
          <a:bodyPr wrap="square" lIns="0" tIns="0" rIns="0" bIns="0" rtlCol="0" anchor="t"/>
          <a:lstStyle/>
          <a:p>
            <a:pPr marL="0" indent="0">
              <a:buNone/>
            </a:pPr>
            <a:r>
              <a:rPr lang="en-US" sz="1100" b="1" dirty="0">
                <a:solidFill>
                  <a:srgbClr val="34D399"/>
                </a:solidFill>
              </a:rPr>
              <a:t>Real-time DMs</a:t>
            </a:r>
            <a:endParaRPr lang="en-US" sz="1100" dirty="0"/>
          </a:p>
        </p:txBody>
      </p:sp>
      <p:sp>
        <p:nvSpPr>
          <p:cNvPr id="11" name="Text 7"/>
          <p:cNvSpPr txBox="1"/>
          <p:nvPr/>
        </p:nvSpPr>
        <p:spPr>
          <a:xfrm>
            <a:off x="7342632" y="1252728"/>
            <a:ext cx="1325880" cy="713232"/>
          </a:xfrm>
          <a:prstGeom prst="rect">
            <a:avLst/>
          </a:prstGeom>
          <a:noFill/>
          <a:ln/>
        </p:spPr>
        <p:txBody>
          <a:bodyPr wrap="square" lIns="0" tIns="0" rIns="0" bIns="0" rtlCol="0" anchor="t"/>
          <a:lstStyle/>
          <a:p>
            <a:pPr marL="0" indent="0">
              <a:buNone/>
            </a:pPr>
            <a:r>
              <a:rPr lang="en-US" sz="1000" dirty="0">
                <a:solidFill>
                  <a:srgbClr val="F1F5F9"/>
                </a:solidFill>
              </a:rPr>
              <a:t>Live chat over WebSocket; Redis Pub/Sub fans messages across instances.</a:t>
            </a:r>
            <a:endParaRPr lang="en-US" sz="1000" dirty="0"/>
          </a:p>
        </p:txBody>
      </p:sp>
      <p:sp>
        <p:nvSpPr>
          <p:cNvPr id="12" name="Shape 8"/>
          <p:cNvSpPr/>
          <p:nvPr/>
        </p:nvSpPr>
        <p:spPr>
          <a:xfrm>
            <a:off x="7269480" y="2075688"/>
            <a:ext cx="1463040" cy="1024128"/>
          </a:xfrm>
          <a:prstGeom prst="roundRect">
            <a:avLst>
              <a:gd name="adj" fmla="val 7143"/>
            </a:avLst>
          </a:prstGeom>
          <a:solidFill>
            <a:srgbClr val="131A33"/>
          </a:solidFill>
          <a:ln w="12700">
            <a:solidFill>
              <a:srgbClr val="22D3EE"/>
            </a:solidFill>
            <a:prstDash val="solid"/>
          </a:ln>
        </p:spPr>
        <p:txBody>
          <a:bodyPr/>
          <a:lstStyle/>
          <a:p>
            <a:endParaRPr lang="en-US"/>
          </a:p>
        </p:txBody>
      </p:sp>
      <p:sp>
        <p:nvSpPr>
          <p:cNvPr id="13" name="Text 9"/>
          <p:cNvSpPr txBox="1"/>
          <p:nvPr/>
        </p:nvSpPr>
        <p:spPr>
          <a:xfrm>
            <a:off x="7342632" y="2121408"/>
            <a:ext cx="1325880" cy="228600"/>
          </a:xfrm>
          <a:prstGeom prst="rect">
            <a:avLst/>
          </a:prstGeom>
          <a:noFill/>
          <a:ln/>
        </p:spPr>
        <p:txBody>
          <a:bodyPr wrap="square" lIns="0" tIns="0" rIns="0" bIns="0" rtlCol="0" anchor="t"/>
          <a:lstStyle/>
          <a:p>
            <a:pPr marL="0" indent="0">
              <a:buNone/>
            </a:pPr>
            <a:r>
              <a:rPr lang="en-US" sz="1100" b="1" dirty="0">
                <a:solidFill>
                  <a:srgbClr val="22D3EE"/>
                </a:solidFill>
              </a:rPr>
              <a:t>Likes</a:t>
            </a:r>
            <a:endParaRPr lang="en-US" sz="1100" dirty="0"/>
          </a:p>
        </p:txBody>
      </p:sp>
      <p:sp>
        <p:nvSpPr>
          <p:cNvPr id="14" name="Text 10"/>
          <p:cNvSpPr txBox="1"/>
          <p:nvPr/>
        </p:nvSpPr>
        <p:spPr>
          <a:xfrm>
            <a:off x="7342632" y="2368296"/>
            <a:ext cx="1325880" cy="713232"/>
          </a:xfrm>
          <a:prstGeom prst="rect">
            <a:avLst/>
          </a:prstGeom>
          <a:noFill/>
          <a:ln/>
        </p:spPr>
        <p:txBody>
          <a:bodyPr wrap="square" lIns="0" tIns="0" rIns="0" bIns="0" rtlCol="0" anchor="t"/>
          <a:lstStyle/>
          <a:p>
            <a:pPr marL="0" indent="0">
              <a:buNone/>
            </a:pPr>
            <a:r>
              <a:rPr lang="en-US" sz="1000" dirty="0">
                <a:solidFill>
                  <a:srgbClr val="F1F5F9"/>
                </a:solidFill>
              </a:rPr>
              <a:t>Redis INCR, batched to Firestore (code path; show live).</a:t>
            </a:r>
            <a:endParaRPr lang="en-US" sz="1000" dirty="0"/>
          </a:p>
        </p:txBody>
      </p:sp>
      <p:sp>
        <p:nvSpPr>
          <p:cNvPr id="15" name="Shape 11"/>
          <p:cNvSpPr/>
          <p:nvPr/>
        </p:nvSpPr>
        <p:spPr>
          <a:xfrm>
            <a:off x="7269480" y="3191256"/>
            <a:ext cx="1463040" cy="1024128"/>
          </a:xfrm>
          <a:prstGeom prst="roundRect">
            <a:avLst>
              <a:gd name="adj" fmla="val 7143"/>
            </a:avLst>
          </a:prstGeom>
          <a:solidFill>
            <a:srgbClr val="131A33"/>
          </a:solidFill>
          <a:ln w="12700">
            <a:solidFill>
              <a:srgbClr val="818CF8"/>
            </a:solidFill>
            <a:prstDash val="solid"/>
          </a:ln>
        </p:spPr>
        <p:txBody>
          <a:bodyPr/>
          <a:lstStyle/>
          <a:p>
            <a:endParaRPr lang="en-US"/>
          </a:p>
        </p:txBody>
      </p:sp>
      <p:sp>
        <p:nvSpPr>
          <p:cNvPr id="16" name="Text 12"/>
          <p:cNvSpPr txBox="1"/>
          <p:nvPr/>
        </p:nvSpPr>
        <p:spPr>
          <a:xfrm>
            <a:off x="7342632" y="3236976"/>
            <a:ext cx="1325880" cy="228600"/>
          </a:xfrm>
          <a:prstGeom prst="rect">
            <a:avLst/>
          </a:prstGeom>
          <a:noFill/>
          <a:ln/>
        </p:spPr>
        <p:txBody>
          <a:bodyPr wrap="square" lIns="0" tIns="0" rIns="0" bIns="0" rtlCol="0" anchor="t"/>
          <a:lstStyle/>
          <a:p>
            <a:pPr marL="0" indent="0">
              <a:buNone/>
            </a:pPr>
            <a:r>
              <a:rPr lang="en-US" sz="1100" b="1" dirty="0">
                <a:solidFill>
                  <a:srgbClr val="818CF8"/>
                </a:solidFill>
              </a:rPr>
              <a:t>Post status</a:t>
            </a:r>
            <a:endParaRPr lang="en-US" sz="1100" dirty="0"/>
          </a:p>
        </p:txBody>
      </p:sp>
      <p:sp>
        <p:nvSpPr>
          <p:cNvPr id="17" name="Text 13"/>
          <p:cNvSpPr txBox="1"/>
          <p:nvPr/>
        </p:nvSpPr>
        <p:spPr>
          <a:xfrm>
            <a:off x="7342632" y="3483864"/>
            <a:ext cx="1325880" cy="713232"/>
          </a:xfrm>
          <a:prstGeom prst="rect">
            <a:avLst/>
          </a:prstGeom>
          <a:noFill/>
          <a:ln/>
        </p:spPr>
        <p:txBody>
          <a:bodyPr wrap="square" lIns="0" tIns="0" rIns="0" bIns="0" rtlCol="0" anchor="t"/>
          <a:lstStyle/>
          <a:p>
            <a:pPr marL="0" indent="0">
              <a:buNone/>
            </a:pPr>
            <a:r>
              <a:rPr lang="en-US" sz="1000" dirty="0">
                <a:solidFill>
                  <a:srgbClr val="F1F5F9"/>
                </a:solidFill>
              </a:rPr>
              <a:t>Posts show Ready once processing completes.</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Engineering challenges &amp; lessons</a:t>
            </a:r>
            <a:endParaRPr lang="en-US" sz="3000" dirty="0"/>
          </a:p>
        </p:txBody>
      </p:sp>
      <p:sp>
        <p:nvSpPr>
          <p:cNvPr id="3" name="Subtitle"/>
          <p:cNvSpPr txBox="1"/>
          <p:nvPr/>
        </p:nvSpPr>
        <p:spPr>
          <a:xfrm>
            <a:off x="457200" y="758952"/>
            <a:ext cx="8229600" cy="274320"/>
          </a:xfrm>
          <a:prstGeom prst="rect">
            <a:avLst/>
          </a:prstGeom>
          <a:noFill/>
          <a:ln/>
        </p:spPr>
        <p:txBody>
          <a:bodyPr wrap="square" lIns="0" tIns="0" rIns="0" bIns="0" rtlCol="0" anchor="ctr"/>
          <a:lstStyle/>
          <a:p>
            <a:pPr marL="0" indent="0">
              <a:buNone/>
            </a:pPr>
            <a:r>
              <a:rPr lang="en-US" sz="1400" dirty="0">
                <a:solidFill>
                  <a:srgbClr val="22D3EE"/>
                </a:solidFill>
                <a:latin typeface="Calibri" pitchFamily="34" charset="0"/>
                <a:ea typeface="Calibri" pitchFamily="34" charset="-122"/>
                <a:cs typeface="Calibri" pitchFamily="34" charset="-120"/>
              </a:rPr>
              <a:t>Problem → decision → learning</a:t>
            </a:r>
            <a:endParaRPr lang="en-US" sz="1400" dirty="0"/>
          </a:p>
        </p:txBody>
      </p:sp>
      <p:sp>
        <p:nvSpPr>
          <p:cNvPr id="4" name="Footer"/>
          <p:cNvSpPr txBox="1"/>
          <p:nvPr/>
        </p:nvSpPr>
        <p:spPr>
          <a:xfrm>
            <a:off x="457200" y="4828032"/>
            <a:ext cx="3657600" cy="228600"/>
          </a:xfrm>
          <a:prstGeom prst="rect">
            <a:avLst/>
          </a:prstGeom>
          <a:noFill/>
          <a:ln/>
        </p:spPr>
        <p:txBody>
          <a:bodyPr wrap="square" lIns="0" tIns="0" rIns="0" bIns="0" rtlCol="0" anchor="ctr"/>
          <a:lstStyle/>
          <a:p>
            <a:pPr marL="0" indent="0">
              <a:buNone/>
            </a:pPr>
            <a:r>
              <a:rPr lang="en-US" sz="1000" dirty="0">
                <a:solidFill>
                  <a:srgbClr val="94A3B8"/>
                </a:solidFill>
              </a:rPr>
              <a:t>BackTrack · BOC 2.0 Final</a:t>
            </a:r>
            <a:endParaRPr lang="en-US" sz="1000" dirty="0"/>
          </a:p>
        </p:txBody>
      </p:sp>
      <p:sp>
        <p:nvSpPr>
          <p:cNvPr id="5" name="Text 3"/>
          <p:cNvSpPr txBox="1"/>
          <p:nvPr/>
        </p:nvSpPr>
        <p:spPr>
          <a:xfrm>
            <a:off x="457200" y="1143000"/>
            <a:ext cx="2560320" cy="228600"/>
          </a:xfrm>
          <a:prstGeom prst="rect">
            <a:avLst/>
          </a:prstGeom>
          <a:noFill/>
          <a:ln/>
        </p:spPr>
        <p:txBody>
          <a:bodyPr wrap="square" lIns="0" tIns="0" rIns="0" bIns="0" rtlCol="0" anchor="t"/>
          <a:lstStyle/>
          <a:p>
            <a:pPr marL="0" indent="0">
              <a:buNone/>
            </a:pPr>
            <a:r>
              <a:rPr lang="en-US" sz="1100" b="1" dirty="0">
                <a:solidFill>
                  <a:srgbClr val="22D3EE"/>
                </a:solidFill>
              </a:rPr>
              <a:t>PROBLEM</a:t>
            </a:r>
            <a:endParaRPr lang="en-US" sz="1100" dirty="0"/>
          </a:p>
        </p:txBody>
      </p:sp>
      <p:sp>
        <p:nvSpPr>
          <p:cNvPr id="6" name="Text 4"/>
          <p:cNvSpPr txBox="1"/>
          <p:nvPr/>
        </p:nvSpPr>
        <p:spPr>
          <a:xfrm>
            <a:off x="3200400" y="1143000"/>
            <a:ext cx="2560320" cy="228600"/>
          </a:xfrm>
          <a:prstGeom prst="rect">
            <a:avLst/>
          </a:prstGeom>
          <a:noFill/>
          <a:ln/>
        </p:spPr>
        <p:txBody>
          <a:bodyPr wrap="square" lIns="0" tIns="0" rIns="0" bIns="0" rtlCol="0" anchor="t"/>
          <a:lstStyle/>
          <a:p>
            <a:pPr marL="0" indent="0">
              <a:buNone/>
            </a:pPr>
            <a:r>
              <a:rPr lang="en-US" sz="1100" b="1" dirty="0">
                <a:solidFill>
                  <a:srgbClr val="22D3EE"/>
                </a:solidFill>
              </a:rPr>
              <a:t>DECISION</a:t>
            </a:r>
            <a:endParaRPr lang="en-US" sz="1100" dirty="0"/>
          </a:p>
        </p:txBody>
      </p:sp>
      <p:sp>
        <p:nvSpPr>
          <p:cNvPr id="7" name="Text 5"/>
          <p:cNvSpPr txBox="1"/>
          <p:nvPr/>
        </p:nvSpPr>
        <p:spPr>
          <a:xfrm>
            <a:off x="5943600" y="1143000"/>
            <a:ext cx="2560320" cy="228600"/>
          </a:xfrm>
          <a:prstGeom prst="rect">
            <a:avLst/>
          </a:prstGeom>
          <a:noFill/>
          <a:ln/>
        </p:spPr>
        <p:txBody>
          <a:bodyPr wrap="square" lIns="0" tIns="0" rIns="0" bIns="0" rtlCol="0" anchor="t"/>
          <a:lstStyle/>
          <a:p>
            <a:pPr marL="0" indent="0">
              <a:buNone/>
            </a:pPr>
            <a:r>
              <a:rPr lang="en-US" sz="1100" b="1" dirty="0">
                <a:solidFill>
                  <a:srgbClr val="22D3EE"/>
                </a:solidFill>
              </a:rPr>
              <a:t>LEARNING</a:t>
            </a:r>
            <a:endParaRPr lang="en-US" sz="1100" dirty="0"/>
          </a:p>
        </p:txBody>
      </p:sp>
      <p:sp>
        <p:nvSpPr>
          <p:cNvPr id="8" name="Shape 6"/>
          <p:cNvSpPr/>
          <p:nvPr/>
        </p:nvSpPr>
        <p:spPr>
          <a:xfrm>
            <a:off x="457200" y="1417320"/>
            <a:ext cx="2606040" cy="713232"/>
          </a:xfrm>
          <a:prstGeom prst="roundRect">
            <a:avLst>
              <a:gd name="adj" fmla="val 10256"/>
            </a:avLst>
          </a:prstGeom>
          <a:solidFill>
            <a:srgbClr val="131A33"/>
          </a:solidFill>
          <a:ln w="12700">
            <a:solidFill>
              <a:srgbClr val="2A3563"/>
            </a:solidFill>
            <a:prstDash val="solid"/>
          </a:ln>
        </p:spPr>
        <p:txBody>
          <a:bodyPr/>
          <a:lstStyle/>
          <a:p>
            <a:endParaRPr lang="en-US"/>
          </a:p>
        </p:txBody>
      </p:sp>
      <p:sp>
        <p:nvSpPr>
          <p:cNvPr id="9" name="Text 7"/>
          <p:cNvSpPr txBox="1"/>
          <p:nvPr/>
        </p:nvSpPr>
        <p:spPr>
          <a:xfrm>
            <a:off x="548640" y="1453896"/>
            <a:ext cx="2423160" cy="640080"/>
          </a:xfrm>
          <a:prstGeom prst="rect">
            <a:avLst/>
          </a:prstGeom>
          <a:noFill/>
          <a:ln/>
        </p:spPr>
        <p:txBody>
          <a:bodyPr wrap="square" lIns="0" tIns="0" rIns="0" bIns="0" rtlCol="0" anchor="ctr"/>
          <a:lstStyle/>
          <a:p>
            <a:pPr marL="0" indent="0">
              <a:buNone/>
            </a:pPr>
            <a:r>
              <a:rPr lang="en-US" sz="1100" b="1" dirty="0">
                <a:solidFill>
                  <a:srgbClr val="F1F5F9"/>
                </a:solidFill>
              </a:rPr>
              <a:t>Viral likes vs Firestore write limit</a:t>
            </a:r>
            <a:endParaRPr lang="en-US" sz="1100" dirty="0"/>
          </a:p>
        </p:txBody>
      </p:sp>
      <p:sp>
        <p:nvSpPr>
          <p:cNvPr id="10" name="Shape 8"/>
          <p:cNvSpPr/>
          <p:nvPr/>
        </p:nvSpPr>
        <p:spPr>
          <a:xfrm>
            <a:off x="3200400" y="1417320"/>
            <a:ext cx="2606040" cy="713232"/>
          </a:xfrm>
          <a:prstGeom prst="roundRect">
            <a:avLst>
              <a:gd name="adj" fmla="val 10256"/>
            </a:avLst>
          </a:prstGeom>
          <a:solidFill>
            <a:srgbClr val="131A33"/>
          </a:solidFill>
          <a:ln w="12700">
            <a:solidFill>
              <a:srgbClr val="2A3563"/>
            </a:solidFill>
            <a:prstDash val="solid"/>
          </a:ln>
        </p:spPr>
        <p:txBody>
          <a:bodyPr/>
          <a:lstStyle/>
          <a:p>
            <a:endParaRPr lang="en-US"/>
          </a:p>
        </p:txBody>
      </p:sp>
      <p:sp>
        <p:nvSpPr>
          <p:cNvPr id="11" name="Text 9"/>
          <p:cNvSpPr txBox="1"/>
          <p:nvPr/>
        </p:nvSpPr>
        <p:spPr>
          <a:xfrm>
            <a:off x="3291840" y="1453896"/>
            <a:ext cx="2423160" cy="640080"/>
          </a:xfrm>
          <a:prstGeom prst="rect">
            <a:avLst/>
          </a:prstGeom>
          <a:noFill/>
          <a:ln/>
        </p:spPr>
        <p:txBody>
          <a:bodyPr wrap="square" lIns="0" tIns="0" rIns="0" bIns="0" rtlCol="0" anchor="ctr"/>
          <a:lstStyle/>
          <a:p>
            <a:pPr marL="0" indent="0">
              <a:buNone/>
            </a:pPr>
            <a:r>
              <a:rPr lang="en-US" sz="1100" dirty="0">
                <a:solidFill>
                  <a:srgbClr val="22D3EE"/>
                </a:solidFill>
              </a:rPr>
              <a:t>Redis INCRBY + 5 s micro-batch flush</a:t>
            </a:r>
            <a:endParaRPr lang="en-US" sz="1100" dirty="0"/>
          </a:p>
        </p:txBody>
      </p:sp>
      <p:sp>
        <p:nvSpPr>
          <p:cNvPr id="12" name="Shape 10"/>
          <p:cNvSpPr/>
          <p:nvPr/>
        </p:nvSpPr>
        <p:spPr>
          <a:xfrm>
            <a:off x="5943600" y="1417320"/>
            <a:ext cx="2743200" cy="713232"/>
          </a:xfrm>
          <a:prstGeom prst="roundRect">
            <a:avLst>
              <a:gd name="adj" fmla="val 10256"/>
            </a:avLst>
          </a:prstGeom>
          <a:solidFill>
            <a:srgbClr val="131A33"/>
          </a:solidFill>
          <a:ln w="12700">
            <a:solidFill>
              <a:srgbClr val="34D399"/>
            </a:solidFill>
            <a:prstDash val="solid"/>
          </a:ln>
        </p:spPr>
        <p:txBody>
          <a:bodyPr/>
          <a:lstStyle/>
          <a:p>
            <a:endParaRPr lang="en-US"/>
          </a:p>
        </p:txBody>
      </p:sp>
      <p:sp>
        <p:nvSpPr>
          <p:cNvPr id="13" name="Text 11"/>
          <p:cNvSpPr txBox="1"/>
          <p:nvPr/>
        </p:nvSpPr>
        <p:spPr>
          <a:xfrm>
            <a:off x="6035040" y="1453896"/>
            <a:ext cx="2560320" cy="640080"/>
          </a:xfrm>
          <a:prstGeom prst="rect">
            <a:avLst/>
          </a:prstGeom>
          <a:noFill/>
          <a:ln/>
        </p:spPr>
        <p:txBody>
          <a:bodyPr wrap="square" lIns="0" tIns="0" rIns="0" bIns="0" rtlCol="0" anchor="ctr"/>
          <a:lstStyle/>
          <a:p>
            <a:pPr marL="0" indent="0">
              <a:buNone/>
            </a:pPr>
            <a:r>
              <a:rPr lang="en-US" sz="1100" dirty="0">
                <a:solidFill>
                  <a:srgbClr val="F1F5F9"/>
                </a:solidFill>
              </a:rPr>
              <a:t>Trade consistency for throughput; stats can lag a few seconds</a:t>
            </a:r>
            <a:endParaRPr lang="en-US" sz="1100" dirty="0"/>
          </a:p>
        </p:txBody>
      </p:sp>
      <p:sp>
        <p:nvSpPr>
          <p:cNvPr id="14" name="Shape 12"/>
          <p:cNvSpPr/>
          <p:nvPr/>
        </p:nvSpPr>
        <p:spPr>
          <a:xfrm>
            <a:off x="3063240" y="1773936"/>
            <a:ext cx="137160" cy="0"/>
          </a:xfrm>
          <a:prstGeom prst="line">
            <a:avLst/>
          </a:prstGeom>
          <a:noFill/>
          <a:ln w="12700">
            <a:solidFill>
              <a:srgbClr val="94A3B8"/>
            </a:solidFill>
            <a:prstDash val="solid"/>
            <a:tailEnd type="triangle"/>
          </a:ln>
        </p:spPr>
        <p:txBody>
          <a:bodyPr/>
          <a:lstStyle/>
          <a:p>
            <a:endParaRPr lang="en-US"/>
          </a:p>
        </p:txBody>
      </p:sp>
      <p:sp>
        <p:nvSpPr>
          <p:cNvPr id="15" name="Shape 13"/>
          <p:cNvSpPr/>
          <p:nvPr/>
        </p:nvSpPr>
        <p:spPr>
          <a:xfrm>
            <a:off x="5806440" y="1773936"/>
            <a:ext cx="137160" cy="0"/>
          </a:xfrm>
          <a:prstGeom prst="line">
            <a:avLst/>
          </a:prstGeom>
          <a:noFill/>
          <a:ln w="12700">
            <a:solidFill>
              <a:srgbClr val="94A3B8"/>
            </a:solidFill>
            <a:prstDash val="solid"/>
            <a:tailEnd type="triangle"/>
          </a:ln>
        </p:spPr>
        <p:txBody>
          <a:bodyPr/>
          <a:lstStyle/>
          <a:p>
            <a:endParaRPr lang="en-US"/>
          </a:p>
        </p:txBody>
      </p:sp>
      <p:sp>
        <p:nvSpPr>
          <p:cNvPr id="16" name="Shape 14"/>
          <p:cNvSpPr/>
          <p:nvPr/>
        </p:nvSpPr>
        <p:spPr>
          <a:xfrm>
            <a:off x="457200" y="2221992"/>
            <a:ext cx="2606040" cy="713232"/>
          </a:xfrm>
          <a:prstGeom prst="roundRect">
            <a:avLst>
              <a:gd name="adj" fmla="val 10256"/>
            </a:avLst>
          </a:prstGeom>
          <a:solidFill>
            <a:srgbClr val="131A33"/>
          </a:solidFill>
          <a:ln w="12700">
            <a:solidFill>
              <a:srgbClr val="2A3563"/>
            </a:solidFill>
            <a:prstDash val="solid"/>
          </a:ln>
        </p:spPr>
        <p:txBody>
          <a:bodyPr/>
          <a:lstStyle/>
          <a:p>
            <a:endParaRPr lang="en-US"/>
          </a:p>
        </p:txBody>
      </p:sp>
      <p:sp>
        <p:nvSpPr>
          <p:cNvPr id="17" name="Text 15"/>
          <p:cNvSpPr txBox="1"/>
          <p:nvPr/>
        </p:nvSpPr>
        <p:spPr>
          <a:xfrm>
            <a:off x="548640" y="2258568"/>
            <a:ext cx="2423160" cy="640080"/>
          </a:xfrm>
          <a:prstGeom prst="rect">
            <a:avLst/>
          </a:prstGeom>
          <a:noFill/>
          <a:ln/>
        </p:spPr>
        <p:txBody>
          <a:bodyPr wrap="square" lIns="0" tIns="0" rIns="0" bIns="0" rtlCol="0" anchor="ctr"/>
          <a:lstStyle/>
          <a:p>
            <a:pPr marL="0" indent="0">
              <a:buNone/>
            </a:pPr>
            <a:r>
              <a:rPr lang="en-US" sz="1100" b="1" dirty="0">
                <a:solidFill>
                  <a:srgbClr val="F1F5F9"/>
                </a:solidFill>
              </a:rPr>
              <a:t>Real-time across ephemeral Cloud Run</a:t>
            </a:r>
            <a:endParaRPr lang="en-US" sz="1100" dirty="0"/>
          </a:p>
        </p:txBody>
      </p:sp>
      <p:sp>
        <p:nvSpPr>
          <p:cNvPr id="18" name="Shape 16"/>
          <p:cNvSpPr/>
          <p:nvPr/>
        </p:nvSpPr>
        <p:spPr>
          <a:xfrm>
            <a:off x="3200400" y="2221992"/>
            <a:ext cx="2606040" cy="713232"/>
          </a:xfrm>
          <a:prstGeom prst="roundRect">
            <a:avLst>
              <a:gd name="adj" fmla="val 10256"/>
            </a:avLst>
          </a:prstGeom>
          <a:solidFill>
            <a:srgbClr val="131A33"/>
          </a:solidFill>
          <a:ln w="12700">
            <a:solidFill>
              <a:srgbClr val="2A3563"/>
            </a:solidFill>
            <a:prstDash val="solid"/>
          </a:ln>
        </p:spPr>
        <p:txBody>
          <a:bodyPr/>
          <a:lstStyle/>
          <a:p>
            <a:endParaRPr lang="en-US"/>
          </a:p>
        </p:txBody>
      </p:sp>
      <p:sp>
        <p:nvSpPr>
          <p:cNvPr id="19" name="Text 17"/>
          <p:cNvSpPr txBox="1"/>
          <p:nvPr/>
        </p:nvSpPr>
        <p:spPr>
          <a:xfrm>
            <a:off x="3291840" y="2258568"/>
            <a:ext cx="2423160" cy="640080"/>
          </a:xfrm>
          <a:prstGeom prst="rect">
            <a:avLst/>
          </a:prstGeom>
          <a:noFill/>
          <a:ln/>
        </p:spPr>
        <p:txBody>
          <a:bodyPr wrap="square" lIns="0" tIns="0" rIns="0" bIns="0" rtlCol="0" anchor="ctr"/>
          <a:lstStyle/>
          <a:p>
            <a:pPr marL="0" indent="0">
              <a:buNone/>
            </a:pPr>
            <a:r>
              <a:rPr lang="en-US" sz="1100" dirty="0">
                <a:solidFill>
                  <a:srgbClr val="22D3EE"/>
                </a:solidFill>
              </a:rPr>
              <a:t>Redis Pub/Sub backplane; 30 s heartbeat; session affinity</a:t>
            </a:r>
            <a:endParaRPr lang="en-US" sz="1100" dirty="0"/>
          </a:p>
        </p:txBody>
      </p:sp>
      <p:sp>
        <p:nvSpPr>
          <p:cNvPr id="20" name="Shape 18"/>
          <p:cNvSpPr/>
          <p:nvPr/>
        </p:nvSpPr>
        <p:spPr>
          <a:xfrm>
            <a:off x="5943600" y="2221992"/>
            <a:ext cx="2743200" cy="713232"/>
          </a:xfrm>
          <a:prstGeom prst="roundRect">
            <a:avLst>
              <a:gd name="adj" fmla="val 10256"/>
            </a:avLst>
          </a:prstGeom>
          <a:solidFill>
            <a:srgbClr val="131A33"/>
          </a:solidFill>
          <a:ln w="12700">
            <a:solidFill>
              <a:srgbClr val="34D399"/>
            </a:solidFill>
            <a:prstDash val="solid"/>
          </a:ln>
        </p:spPr>
        <p:txBody>
          <a:bodyPr/>
          <a:lstStyle/>
          <a:p>
            <a:endParaRPr lang="en-US"/>
          </a:p>
        </p:txBody>
      </p:sp>
      <p:sp>
        <p:nvSpPr>
          <p:cNvPr id="21" name="Text 19"/>
          <p:cNvSpPr txBox="1"/>
          <p:nvPr/>
        </p:nvSpPr>
        <p:spPr>
          <a:xfrm>
            <a:off x="6035040" y="2258568"/>
            <a:ext cx="2560320" cy="640080"/>
          </a:xfrm>
          <a:prstGeom prst="rect">
            <a:avLst/>
          </a:prstGeom>
          <a:noFill/>
          <a:ln/>
        </p:spPr>
        <p:txBody>
          <a:bodyPr wrap="square" lIns="0" tIns="0" rIns="0" bIns="0" rtlCol="0" anchor="ctr"/>
          <a:lstStyle/>
          <a:p>
            <a:pPr marL="0" indent="0">
              <a:buNone/>
            </a:pPr>
            <a:r>
              <a:rPr lang="en-US" sz="1100" dirty="0">
                <a:solidFill>
                  <a:srgbClr val="F1F5F9"/>
                </a:solidFill>
              </a:rPr>
              <a:t>Stateless containers need external state; idle sockets get cut at ~60 s</a:t>
            </a:r>
            <a:endParaRPr lang="en-US" sz="1100" dirty="0"/>
          </a:p>
        </p:txBody>
      </p:sp>
      <p:sp>
        <p:nvSpPr>
          <p:cNvPr id="22" name="Shape 20"/>
          <p:cNvSpPr/>
          <p:nvPr/>
        </p:nvSpPr>
        <p:spPr>
          <a:xfrm>
            <a:off x="3063240" y="2578608"/>
            <a:ext cx="137160" cy="0"/>
          </a:xfrm>
          <a:prstGeom prst="line">
            <a:avLst/>
          </a:prstGeom>
          <a:noFill/>
          <a:ln w="12700">
            <a:solidFill>
              <a:srgbClr val="94A3B8"/>
            </a:solidFill>
            <a:prstDash val="solid"/>
            <a:tailEnd type="triangle"/>
          </a:ln>
        </p:spPr>
        <p:txBody>
          <a:bodyPr/>
          <a:lstStyle/>
          <a:p>
            <a:endParaRPr lang="en-US"/>
          </a:p>
        </p:txBody>
      </p:sp>
      <p:sp>
        <p:nvSpPr>
          <p:cNvPr id="23" name="Shape 21"/>
          <p:cNvSpPr/>
          <p:nvPr/>
        </p:nvSpPr>
        <p:spPr>
          <a:xfrm>
            <a:off x="5806440" y="2578608"/>
            <a:ext cx="137160" cy="0"/>
          </a:xfrm>
          <a:prstGeom prst="line">
            <a:avLst/>
          </a:prstGeom>
          <a:noFill/>
          <a:ln w="12700">
            <a:solidFill>
              <a:srgbClr val="94A3B8"/>
            </a:solidFill>
            <a:prstDash val="solid"/>
            <a:tailEnd type="triangle"/>
          </a:ln>
        </p:spPr>
        <p:txBody>
          <a:bodyPr/>
          <a:lstStyle/>
          <a:p>
            <a:endParaRPr lang="en-US"/>
          </a:p>
        </p:txBody>
      </p:sp>
      <p:sp>
        <p:nvSpPr>
          <p:cNvPr id="24" name="Shape 22"/>
          <p:cNvSpPr/>
          <p:nvPr/>
        </p:nvSpPr>
        <p:spPr>
          <a:xfrm>
            <a:off x="457200" y="3026664"/>
            <a:ext cx="2606040" cy="713232"/>
          </a:xfrm>
          <a:prstGeom prst="roundRect">
            <a:avLst>
              <a:gd name="adj" fmla="val 10256"/>
            </a:avLst>
          </a:prstGeom>
          <a:solidFill>
            <a:srgbClr val="131A33"/>
          </a:solidFill>
          <a:ln w="12700">
            <a:solidFill>
              <a:srgbClr val="2A3563"/>
            </a:solidFill>
            <a:prstDash val="solid"/>
          </a:ln>
        </p:spPr>
        <p:txBody>
          <a:bodyPr/>
          <a:lstStyle/>
          <a:p>
            <a:endParaRPr lang="en-US"/>
          </a:p>
        </p:txBody>
      </p:sp>
      <p:sp>
        <p:nvSpPr>
          <p:cNvPr id="25" name="Text 23"/>
          <p:cNvSpPr txBox="1"/>
          <p:nvPr/>
        </p:nvSpPr>
        <p:spPr>
          <a:xfrm>
            <a:off x="548640" y="3063240"/>
            <a:ext cx="2423160" cy="640080"/>
          </a:xfrm>
          <a:prstGeom prst="rect">
            <a:avLst/>
          </a:prstGeom>
          <a:noFill/>
          <a:ln/>
        </p:spPr>
        <p:txBody>
          <a:bodyPr wrap="square" lIns="0" tIns="0" rIns="0" bIns="0" rtlCol="0" anchor="ctr"/>
          <a:lstStyle/>
          <a:p>
            <a:pPr marL="0" indent="0">
              <a:buNone/>
            </a:pPr>
            <a:r>
              <a:rPr lang="en-US" sz="1100" b="1" dirty="0">
                <a:solidFill>
                  <a:srgbClr val="F1F5F9"/>
                </a:solidFill>
              </a:rPr>
              <a:t>Heavy media vs the API</a:t>
            </a:r>
            <a:endParaRPr lang="en-US" sz="1100" dirty="0"/>
          </a:p>
        </p:txBody>
      </p:sp>
      <p:sp>
        <p:nvSpPr>
          <p:cNvPr id="26" name="Shape 24"/>
          <p:cNvSpPr/>
          <p:nvPr/>
        </p:nvSpPr>
        <p:spPr>
          <a:xfrm>
            <a:off x="3200400" y="3026664"/>
            <a:ext cx="2606040" cy="713232"/>
          </a:xfrm>
          <a:prstGeom prst="roundRect">
            <a:avLst>
              <a:gd name="adj" fmla="val 10256"/>
            </a:avLst>
          </a:prstGeom>
          <a:solidFill>
            <a:srgbClr val="131A33"/>
          </a:solidFill>
          <a:ln w="12700">
            <a:solidFill>
              <a:srgbClr val="2A3563"/>
            </a:solidFill>
            <a:prstDash val="solid"/>
          </a:ln>
        </p:spPr>
        <p:txBody>
          <a:bodyPr/>
          <a:lstStyle/>
          <a:p>
            <a:endParaRPr lang="en-US"/>
          </a:p>
        </p:txBody>
      </p:sp>
      <p:sp>
        <p:nvSpPr>
          <p:cNvPr id="27" name="Text 25"/>
          <p:cNvSpPr txBox="1"/>
          <p:nvPr/>
        </p:nvSpPr>
        <p:spPr>
          <a:xfrm>
            <a:off x="3291840" y="3063240"/>
            <a:ext cx="2423160" cy="640080"/>
          </a:xfrm>
          <a:prstGeom prst="rect">
            <a:avLst/>
          </a:prstGeom>
          <a:noFill/>
          <a:ln/>
        </p:spPr>
        <p:txBody>
          <a:bodyPr wrap="square" lIns="0" tIns="0" rIns="0" bIns="0" rtlCol="0" anchor="ctr"/>
          <a:lstStyle/>
          <a:p>
            <a:pPr marL="0" indent="0">
              <a:buNone/>
            </a:pPr>
            <a:r>
              <a:rPr lang="en-US" sz="1100" dirty="0">
                <a:solidFill>
                  <a:srgbClr val="22D3EE"/>
                </a:solidFill>
              </a:rPr>
              <a:t>Signed-URL direct upload; event-driven worker; /tmp cleanup</a:t>
            </a:r>
            <a:endParaRPr lang="en-US" sz="1100" dirty="0"/>
          </a:p>
        </p:txBody>
      </p:sp>
      <p:sp>
        <p:nvSpPr>
          <p:cNvPr id="28" name="Shape 26"/>
          <p:cNvSpPr/>
          <p:nvPr/>
        </p:nvSpPr>
        <p:spPr>
          <a:xfrm>
            <a:off x="5943600" y="3026664"/>
            <a:ext cx="2743200" cy="713232"/>
          </a:xfrm>
          <a:prstGeom prst="roundRect">
            <a:avLst>
              <a:gd name="adj" fmla="val 10256"/>
            </a:avLst>
          </a:prstGeom>
          <a:solidFill>
            <a:srgbClr val="131A33"/>
          </a:solidFill>
          <a:ln w="12700">
            <a:solidFill>
              <a:srgbClr val="34D399"/>
            </a:solidFill>
            <a:prstDash val="solid"/>
          </a:ln>
        </p:spPr>
        <p:txBody>
          <a:bodyPr/>
          <a:lstStyle/>
          <a:p>
            <a:endParaRPr lang="en-US"/>
          </a:p>
        </p:txBody>
      </p:sp>
      <p:sp>
        <p:nvSpPr>
          <p:cNvPr id="29" name="Text 27"/>
          <p:cNvSpPr txBox="1"/>
          <p:nvPr/>
        </p:nvSpPr>
        <p:spPr>
          <a:xfrm>
            <a:off x="6035040" y="3063240"/>
            <a:ext cx="2560320" cy="640080"/>
          </a:xfrm>
          <a:prstGeom prst="rect">
            <a:avLst/>
          </a:prstGeom>
          <a:noFill/>
          <a:ln/>
        </p:spPr>
        <p:txBody>
          <a:bodyPr wrap="square" lIns="0" tIns="0" rIns="0" bIns="0" rtlCol="0" anchor="ctr"/>
          <a:lstStyle/>
          <a:p>
            <a:pPr marL="0" indent="0">
              <a:buNone/>
            </a:pPr>
            <a:r>
              <a:rPr lang="en-US" sz="1100" dirty="0">
                <a:solidFill>
                  <a:srgbClr val="F1F5F9"/>
                </a:solidFill>
              </a:rPr>
              <a:t>Event-driven pipelines need cleanup and fallbacks, not just happy paths</a:t>
            </a:r>
            <a:endParaRPr lang="en-US" sz="1100" dirty="0"/>
          </a:p>
        </p:txBody>
      </p:sp>
      <p:sp>
        <p:nvSpPr>
          <p:cNvPr id="30" name="Shape 28"/>
          <p:cNvSpPr/>
          <p:nvPr/>
        </p:nvSpPr>
        <p:spPr>
          <a:xfrm>
            <a:off x="3063240" y="3383280"/>
            <a:ext cx="137160" cy="0"/>
          </a:xfrm>
          <a:prstGeom prst="line">
            <a:avLst/>
          </a:prstGeom>
          <a:noFill/>
          <a:ln w="12700">
            <a:solidFill>
              <a:srgbClr val="94A3B8"/>
            </a:solidFill>
            <a:prstDash val="solid"/>
            <a:tailEnd type="triangle"/>
          </a:ln>
        </p:spPr>
        <p:txBody>
          <a:bodyPr/>
          <a:lstStyle/>
          <a:p>
            <a:endParaRPr lang="en-US"/>
          </a:p>
        </p:txBody>
      </p:sp>
      <p:sp>
        <p:nvSpPr>
          <p:cNvPr id="31" name="Shape 29"/>
          <p:cNvSpPr/>
          <p:nvPr/>
        </p:nvSpPr>
        <p:spPr>
          <a:xfrm>
            <a:off x="5806440" y="3383280"/>
            <a:ext cx="137160" cy="0"/>
          </a:xfrm>
          <a:prstGeom prst="line">
            <a:avLst/>
          </a:prstGeom>
          <a:noFill/>
          <a:ln w="12700">
            <a:solidFill>
              <a:srgbClr val="94A3B8"/>
            </a:solidFill>
            <a:prstDash val="solid"/>
            <a:tailEnd type="triangle"/>
          </a:ln>
        </p:spPr>
        <p:txBody>
          <a:bodyPr/>
          <a:lstStyle/>
          <a:p>
            <a:endParaRPr lang="en-US"/>
          </a:p>
        </p:txBody>
      </p:sp>
      <p:sp>
        <p:nvSpPr>
          <p:cNvPr id="32" name="Shape 30"/>
          <p:cNvSpPr/>
          <p:nvPr/>
        </p:nvSpPr>
        <p:spPr>
          <a:xfrm>
            <a:off x="457200" y="3831336"/>
            <a:ext cx="2606040" cy="713232"/>
          </a:xfrm>
          <a:prstGeom prst="roundRect">
            <a:avLst>
              <a:gd name="adj" fmla="val 10256"/>
            </a:avLst>
          </a:prstGeom>
          <a:solidFill>
            <a:srgbClr val="131A33"/>
          </a:solidFill>
          <a:ln w="12700">
            <a:solidFill>
              <a:srgbClr val="2A3563"/>
            </a:solidFill>
            <a:prstDash val="solid"/>
          </a:ln>
        </p:spPr>
        <p:txBody>
          <a:bodyPr/>
          <a:lstStyle/>
          <a:p>
            <a:endParaRPr lang="en-US"/>
          </a:p>
        </p:txBody>
      </p:sp>
      <p:sp>
        <p:nvSpPr>
          <p:cNvPr id="33" name="Text 31"/>
          <p:cNvSpPr txBox="1"/>
          <p:nvPr/>
        </p:nvSpPr>
        <p:spPr>
          <a:xfrm>
            <a:off x="548640" y="3867912"/>
            <a:ext cx="2423160" cy="640080"/>
          </a:xfrm>
          <a:prstGeom prst="rect">
            <a:avLst/>
          </a:prstGeom>
          <a:noFill/>
          <a:ln/>
        </p:spPr>
        <p:txBody>
          <a:bodyPr wrap="square" lIns="0" tIns="0" rIns="0" bIns="0" rtlCol="0" anchor="ctr"/>
          <a:lstStyle/>
          <a:p>
            <a:pPr marL="0" indent="0">
              <a:buNone/>
            </a:pPr>
            <a:r>
              <a:rPr lang="en-US" sz="1100" b="1" dirty="0">
                <a:solidFill>
                  <a:srgbClr val="F1F5F9"/>
                </a:solidFill>
              </a:rPr>
              <a:t>Ambition vs credits and time</a:t>
            </a:r>
            <a:endParaRPr lang="en-US" sz="1100" dirty="0"/>
          </a:p>
        </p:txBody>
      </p:sp>
      <p:sp>
        <p:nvSpPr>
          <p:cNvPr id="34" name="Shape 32"/>
          <p:cNvSpPr/>
          <p:nvPr/>
        </p:nvSpPr>
        <p:spPr>
          <a:xfrm>
            <a:off x="3200400" y="3831336"/>
            <a:ext cx="2606040" cy="713232"/>
          </a:xfrm>
          <a:prstGeom prst="roundRect">
            <a:avLst>
              <a:gd name="adj" fmla="val 10256"/>
            </a:avLst>
          </a:prstGeom>
          <a:solidFill>
            <a:srgbClr val="131A33"/>
          </a:solidFill>
          <a:ln w="12700">
            <a:solidFill>
              <a:srgbClr val="2A3563"/>
            </a:solidFill>
            <a:prstDash val="solid"/>
          </a:ln>
        </p:spPr>
        <p:txBody>
          <a:bodyPr/>
          <a:lstStyle/>
          <a:p>
            <a:endParaRPr lang="en-US"/>
          </a:p>
        </p:txBody>
      </p:sp>
      <p:sp>
        <p:nvSpPr>
          <p:cNvPr id="35" name="Text 33"/>
          <p:cNvSpPr txBox="1"/>
          <p:nvPr/>
        </p:nvSpPr>
        <p:spPr>
          <a:xfrm>
            <a:off x="3291840" y="3867912"/>
            <a:ext cx="2423160" cy="640080"/>
          </a:xfrm>
          <a:prstGeom prst="rect">
            <a:avLst/>
          </a:prstGeom>
          <a:noFill/>
          <a:ln/>
        </p:spPr>
        <p:txBody>
          <a:bodyPr wrap="square" lIns="0" tIns="0" rIns="0" bIns="0" rtlCol="0" anchor="ctr"/>
          <a:lstStyle/>
          <a:p>
            <a:pPr marL="0" indent="0">
              <a:buNone/>
            </a:pPr>
            <a:r>
              <a:rPr lang="en-US" sz="1100" dirty="0">
                <a:solidFill>
                  <a:srgbClr val="22D3EE"/>
                </a:solidFill>
              </a:rPr>
              <a:t>Free-tier switches, in-memory fallbacks, 19-step e2e test (reported)</a:t>
            </a:r>
            <a:endParaRPr lang="en-US" sz="1100" dirty="0"/>
          </a:p>
        </p:txBody>
      </p:sp>
      <p:sp>
        <p:nvSpPr>
          <p:cNvPr id="36" name="Shape 34"/>
          <p:cNvSpPr/>
          <p:nvPr/>
        </p:nvSpPr>
        <p:spPr>
          <a:xfrm>
            <a:off x="5943600" y="3831336"/>
            <a:ext cx="2743200" cy="713232"/>
          </a:xfrm>
          <a:prstGeom prst="roundRect">
            <a:avLst>
              <a:gd name="adj" fmla="val 10256"/>
            </a:avLst>
          </a:prstGeom>
          <a:solidFill>
            <a:srgbClr val="131A33"/>
          </a:solidFill>
          <a:ln w="12700">
            <a:solidFill>
              <a:srgbClr val="34D399"/>
            </a:solidFill>
            <a:prstDash val="solid"/>
          </a:ln>
        </p:spPr>
        <p:txBody>
          <a:bodyPr/>
          <a:lstStyle/>
          <a:p>
            <a:endParaRPr lang="en-US"/>
          </a:p>
        </p:txBody>
      </p:sp>
      <p:sp>
        <p:nvSpPr>
          <p:cNvPr id="37" name="Text 35"/>
          <p:cNvSpPr txBox="1"/>
          <p:nvPr/>
        </p:nvSpPr>
        <p:spPr>
          <a:xfrm>
            <a:off x="6035040" y="3867912"/>
            <a:ext cx="2560320" cy="640080"/>
          </a:xfrm>
          <a:prstGeom prst="rect">
            <a:avLst/>
          </a:prstGeom>
          <a:noFill/>
          <a:ln/>
        </p:spPr>
        <p:txBody>
          <a:bodyPr wrap="square" lIns="0" tIns="0" rIns="0" bIns="0" rtlCol="0" anchor="ctr"/>
          <a:lstStyle/>
          <a:p>
            <a:pPr marL="0" indent="0">
              <a:buNone/>
            </a:pPr>
            <a:r>
              <a:rPr lang="en-US" sz="1100" dirty="0">
                <a:solidFill>
                  <a:srgbClr val="F1F5F9"/>
                </a:solidFill>
              </a:rPr>
              <a:t>Be explicit about mocked vs real; a smaller honest MVP beats a faked one</a:t>
            </a:r>
            <a:endParaRPr lang="en-US" sz="1100" dirty="0"/>
          </a:p>
        </p:txBody>
      </p:sp>
      <p:sp>
        <p:nvSpPr>
          <p:cNvPr id="38" name="Shape 36"/>
          <p:cNvSpPr/>
          <p:nvPr/>
        </p:nvSpPr>
        <p:spPr>
          <a:xfrm>
            <a:off x="3063240" y="4187952"/>
            <a:ext cx="137160" cy="0"/>
          </a:xfrm>
          <a:prstGeom prst="line">
            <a:avLst/>
          </a:prstGeom>
          <a:noFill/>
          <a:ln w="12700">
            <a:solidFill>
              <a:srgbClr val="94A3B8"/>
            </a:solidFill>
            <a:prstDash val="solid"/>
            <a:tailEnd type="triangle"/>
          </a:ln>
        </p:spPr>
        <p:txBody>
          <a:bodyPr/>
          <a:lstStyle/>
          <a:p>
            <a:endParaRPr lang="en-US"/>
          </a:p>
        </p:txBody>
      </p:sp>
      <p:sp>
        <p:nvSpPr>
          <p:cNvPr id="39" name="Shape 37"/>
          <p:cNvSpPr/>
          <p:nvPr/>
        </p:nvSpPr>
        <p:spPr>
          <a:xfrm>
            <a:off x="5806440" y="4187952"/>
            <a:ext cx="137160" cy="0"/>
          </a:xfrm>
          <a:prstGeom prst="line">
            <a:avLst/>
          </a:prstGeom>
          <a:noFill/>
          <a:ln w="12700">
            <a:solidFill>
              <a:srgbClr val="94A3B8"/>
            </a:solidFill>
            <a:prstDash val="solid"/>
            <a:tailEnd type="triangle"/>
          </a:ln>
        </p:spPr>
        <p:txBody>
          <a:bodyPr/>
          <a:lstStyle/>
          <a:p>
            <a:endParaRPr lang="en-US"/>
          </a:p>
        </p:txBody>
      </p:sp>
      <p:sp>
        <p:nvSpPr>
          <p:cNvPr id="40"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marL="0" indent="0">
              <a:buNone/>
            </a:pPr>
            <a:r>
              <a:rPr lang="en-US" sz="3000" b="1" dirty="0">
                <a:solidFill>
                  <a:srgbClr val="F1F5F9"/>
                </a:solidFill>
                <a:latin typeface="Calibri" pitchFamily="34" charset="0"/>
                <a:ea typeface="Calibri" pitchFamily="34" charset="-122"/>
                <a:cs typeface="Calibri" pitchFamily="34" charset="-120"/>
              </a:rPr>
              <a:t>Roadmap &amp; future scale</a:t>
            </a:r>
            <a:endParaRPr lang="en-US" sz="3000" dirty="0"/>
          </a:p>
        </p:txBody>
      </p:sp>
      <p:sp>
        <p:nvSpPr>
          <p:cNvPr id="3" name="Footer"/>
          <p:cNvSpPr txBox="1"/>
          <p:nvPr/>
        </p:nvSpPr>
        <p:spPr>
          <a:xfrm>
            <a:off x="457200" y="4828032"/>
            <a:ext cx="3657600" cy="228600"/>
          </a:xfrm>
          <a:prstGeom prst="rect">
            <a:avLst/>
          </a:prstGeom>
          <a:noFill/>
          <a:ln/>
        </p:spPr>
        <p:txBody>
          <a:bodyPr wrap="square" lIns="0" tIns="0" rIns="0" bIns="0" rtlCol="0" anchor="ctr"/>
          <a:lstStyle/>
          <a:p>
            <a:pPr marL="0" indent="0">
              <a:buNone/>
            </a:pPr>
            <a:r>
              <a:rPr lang="en-US" sz="1000" dirty="0">
                <a:solidFill>
                  <a:srgbClr val="94A3B8"/>
                </a:solidFill>
              </a:rPr>
              <a:t>BackTrack · BOC 2.0 Final</a:t>
            </a:r>
            <a:endParaRPr lang="en-US" sz="1000" dirty="0"/>
          </a:p>
        </p:txBody>
      </p:sp>
      <p:sp>
        <p:nvSpPr>
          <p:cNvPr id="4" name="Shape 2"/>
          <p:cNvSpPr/>
          <p:nvPr/>
        </p:nvSpPr>
        <p:spPr>
          <a:xfrm>
            <a:off x="457200" y="1188720"/>
            <a:ext cx="2651760" cy="2651760"/>
          </a:xfrm>
          <a:prstGeom prst="roundRect">
            <a:avLst>
              <a:gd name="adj" fmla="val 2759"/>
            </a:avLst>
          </a:prstGeom>
          <a:solidFill>
            <a:srgbClr val="131A33"/>
          </a:solidFill>
          <a:ln w="12700">
            <a:solidFill>
              <a:srgbClr val="34D399"/>
            </a:solidFill>
            <a:prstDash val="solid"/>
          </a:ln>
        </p:spPr>
        <p:txBody>
          <a:bodyPr/>
          <a:lstStyle/>
          <a:p>
            <a:endParaRPr lang="en-US"/>
          </a:p>
        </p:txBody>
      </p:sp>
      <p:sp>
        <p:nvSpPr>
          <p:cNvPr id="5" name="Shape 3"/>
          <p:cNvSpPr/>
          <p:nvPr/>
        </p:nvSpPr>
        <p:spPr>
          <a:xfrm>
            <a:off x="594360" y="1325880"/>
            <a:ext cx="365760" cy="365760"/>
          </a:xfrm>
          <a:prstGeom prst="ellipse">
            <a:avLst/>
          </a:prstGeom>
          <a:solidFill>
            <a:srgbClr val="34D399"/>
          </a:solidFill>
          <a:ln w="12700">
            <a:solidFill>
              <a:srgbClr val="34D399"/>
            </a:solidFill>
            <a:prstDash val="solid"/>
          </a:ln>
        </p:spPr>
        <p:txBody>
          <a:bodyPr/>
          <a:lstStyle/>
          <a:p>
            <a:endParaRPr lang="en-US"/>
          </a:p>
        </p:txBody>
      </p:sp>
      <p:sp>
        <p:nvSpPr>
          <p:cNvPr id="6" name="Text 4"/>
          <p:cNvSpPr txBox="1"/>
          <p:nvPr/>
        </p:nvSpPr>
        <p:spPr>
          <a:xfrm>
            <a:off x="594360" y="1325880"/>
            <a:ext cx="365760" cy="365760"/>
          </a:xfrm>
          <a:prstGeom prst="rect">
            <a:avLst/>
          </a:prstGeom>
          <a:noFill/>
          <a:ln/>
        </p:spPr>
        <p:txBody>
          <a:bodyPr wrap="square" lIns="0" tIns="0" rIns="0" bIns="0" rtlCol="0" anchor="ctr"/>
          <a:lstStyle/>
          <a:p>
            <a:pPr marL="0" indent="0" algn="ctr">
              <a:buNone/>
            </a:pPr>
            <a:r>
              <a:rPr lang="en-US" sz="1400" b="1" dirty="0">
                <a:solidFill>
                  <a:srgbClr val="0B1020"/>
                </a:solidFill>
              </a:rPr>
              <a:t>1</a:t>
            </a:r>
            <a:endParaRPr lang="en-US" sz="1400" dirty="0"/>
          </a:p>
        </p:txBody>
      </p:sp>
      <p:sp>
        <p:nvSpPr>
          <p:cNvPr id="7" name="Text 5"/>
          <p:cNvSpPr txBox="1"/>
          <p:nvPr/>
        </p:nvSpPr>
        <p:spPr>
          <a:xfrm>
            <a:off x="594360" y="1828800"/>
            <a:ext cx="2377440" cy="320040"/>
          </a:xfrm>
          <a:prstGeom prst="rect">
            <a:avLst/>
          </a:prstGeom>
          <a:noFill/>
          <a:ln/>
        </p:spPr>
        <p:txBody>
          <a:bodyPr wrap="square" lIns="0" tIns="0" rIns="0" bIns="0" rtlCol="0" anchor="t"/>
          <a:lstStyle/>
          <a:p>
            <a:pPr marL="0" indent="0">
              <a:buNone/>
            </a:pPr>
            <a:r>
              <a:rPr lang="en-US" sz="1600" b="1" dirty="0">
                <a:solidFill>
                  <a:srgbClr val="F1F5F9"/>
                </a:solidFill>
              </a:rPr>
              <a:t>Now: MVP</a:t>
            </a:r>
            <a:endParaRPr lang="en-US" sz="1600" dirty="0"/>
          </a:p>
        </p:txBody>
      </p:sp>
      <p:sp>
        <p:nvSpPr>
          <p:cNvPr id="8" name="Text 6"/>
          <p:cNvSpPr txBox="1"/>
          <p:nvPr/>
        </p:nvSpPr>
        <p:spPr>
          <a:xfrm>
            <a:off x="594360" y="2240280"/>
            <a:ext cx="2377440" cy="1920240"/>
          </a:xfrm>
          <a:prstGeom prst="rect">
            <a:avLst/>
          </a:prstGeom>
          <a:noFill/>
          <a:ln/>
        </p:spPr>
        <p:txBody>
          <a:bodyPr wrap="square" lIns="0" tIns="0" rIns="0" bIns="0" rtlCol="0" anchor="t"/>
          <a:lstStyle/>
          <a:p>
            <a:pPr marL="0" indent="0">
              <a:buNone/>
            </a:pPr>
            <a:r>
              <a:rPr lang="en-US" sz="1200" dirty="0">
                <a:solidFill>
                  <a:srgbClr val="94A3B8"/>
                </a:solidFill>
              </a:rPr>
              <a:t>Feed, ranking, counters, WebSockets, stories, signed-URL route, worker code, Terraform + CI</a:t>
            </a:r>
            <a:endParaRPr lang="en-US" sz="1200" dirty="0"/>
          </a:p>
        </p:txBody>
      </p:sp>
      <p:sp>
        <p:nvSpPr>
          <p:cNvPr id="9" name="Shape 7"/>
          <p:cNvSpPr/>
          <p:nvPr/>
        </p:nvSpPr>
        <p:spPr>
          <a:xfrm>
            <a:off x="3273552" y="1188720"/>
            <a:ext cx="2651760" cy="2651760"/>
          </a:xfrm>
          <a:prstGeom prst="roundRect">
            <a:avLst>
              <a:gd name="adj" fmla="val 2759"/>
            </a:avLst>
          </a:prstGeom>
          <a:solidFill>
            <a:srgbClr val="131A33"/>
          </a:solidFill>
          <a:ln w="12700">
            <a:solidFill>
              <a:srgbClr val="FBBF24"/>
            </a:solidFill>
            <a:prstDash val="solid"/>
          </a:ln>
        </p:spPr>
        <p:txBody>
          <a:bodyPr/>
          <a:lstStyle/>
          <a:p>
            <a:endParaRPr lang="en-US"/>
          </a:p>
        </p:txBody>
      </p:sp>
      <p:sp>
        <p:nvSpPr>
          <p:cNvPr id="10" name="Shape 8"/>
          <p:cNvSpPr/>
          <p:nvPr/>
        </p:nvSpPr>
        <p:spPr>
          <a:xfrm>
            <a:off x="3410712" y="1325880"/>
            <a:ext cx="365760" cy="365760"/>
          </a:xfrm>
          <a:prstGeom prst="ellipse">
            <a:avLst/>
          </a:prstGeom>
          <a:solidFill>
            <a:srgbClr val="FBBF24"/>
          </a:solidFill>
          <a:ln w="12700">
            <a:solidFill>
              <a:srgbClr val="FBBF24"/>
            </a:solidFill>
            <a:prstDash val="solid"/>
          </a:ln>
        </p:spPr>
        <p:txBody>
          <a:bodyPr/>
          <a:lstStyle/>
          <a:p>
            <a:endParaRPr lang="en-US"/>
          </a:p>
        </p:txBody>
      </p:sp>
      <p:sp>
        <p:nvSpPr>
          <p:cNvPr id="11" name="Text 9"/>
          <p:cNvSpPr txBox="1"/>
          <p:nvPr/>
        </p:nvSpPr>
        <p:spPr>
          <a:xfrm>
            <a:off x="3410712" y="1325880"/>
            <a:ext cx="365760" cy="365760"/>
          </a:xfrm>
          <a:prstGeom prst="rect">
            <a:avLst/>
          </a:prstGeom>
          <a:noFill/>
          <a:ln/>
        </p:spPr>
        <p:txBody>
          <a:bodyPr wrap="square" lIns="0" tIns="0" rIns="0" bIns="0" rtlCol="0" anchor="ctr"/>
          <a:lstStyle/>
          <a:p>
            <a:pPr marL="0" indent="0" algn="ctr">
              <a:buNone/>
            </a:pPr>
            <a:r>
              <a:rPr lang="en-US" sz="1400" b="1" dirty="0">
                <a:solidFill>
                  <a:srgbClr val="0B1020"/>
                </a:solidFill>
              </a:rPr>
              <a:t>2</a:t>
            </a:r>
            <a:endParaRPr lang="en-US" sz="1400" dirty="0"/>
          </a:p>
        </p:txBody>
      </p:sp>
      <p:sp>
        <p:nvSpPr>
          <p:cNvPr id="12" name="Text 10"/>
          <p:cNvSpPr txBox="1"/>
          <p:nvPr/>
        </p:nvSpPr>
        <p:spPr>
          <a:xfrm>
            <a:off x="3410712" y="1828800"/>
            <a:ext cx="2377440" cy="320040"/>
          </a:xfrm>
          <a:prstGeom prst="rect">
            <a:avLst/>
          </a:prstGeom>
          <a:noFill/>
          <a:ln/>
        </p:spPr>
        <p:txBody>
          <a:bodyPr wrap="square" lIns="0" tIns="0" rIns="0" bIns="0" rtlCol="0" anchor="t"/>
          <a:lstStyle/>
          <a:p>
            <a:pPr marL="0" indent="0">
              <a:buNone/>
            </a:pPr>
            <a:r>
              <a:rPr lang="en-US" sz="1600" b="1" dirty="0">
                <a:solidFill>
                  <a:srgbClr val="F1F5F9"/>
                </a:solidFill>
              </a:rPr>
              <a:t>Phase 2: close the gaps</a:t>
            </a:r>
            <a:endParaRPr lang="en-US" sz="1600" dirty="0"/>
          </a:p>
        </p:txBody>
      </p:sp>
      <p:sp>
        <p:nvSpPr>
          <p:cNvPr id="13" name="Text 11"/>
          <p:cNvSpPr txBox="1"/>
          <p:nvPr/>
        </p:nvSpPr>
        <p:spPr>
          <a:xfrm>
            <a:off x="3410712" y="2240280"/>
            <a:ext cx="2377440" cy="1920240"/>
          </a:xfrm>
          <a:prstGeom prst="rect">
            <a:avLst/>
          </a:prstGeom>
          <a:noFill/>
          <a:ln/>
        </p:spPr>
        <p:txBody>
          <a:bodyPr wrap="square" lIns="0" tIns="0" rIns="0" bIns="0" rtlCol="0" anchor="t"/>
          <a:lstStyle/>
          <a:p>
            <a:pPr marL="0" indent="0">
              <a:buNone/>
            </a:pPr>
            <a:r>
              <a:rPr lang="en-US" sz="1200" dirty="0">
                <a:solidFill>
                  <a:srgbClr val="94A3B8"/>
                </a:solidFill>
              </a:rPr>
              <a:t>Cloud CDN · Pub/Sub DLQ + retries · Elasticsearch · real OIDC verification · alerts &amp; dashboards · hybrid fan-out timelines · multi-bitrate HLS ladder + DASH</a:t>
            </a:r>
            <a:endParaRPr lang="en-US" sz="1200" dirty="0"/>
          </a:p>
        </p:txBody>
      </p:sp>
      <p:sp>
        <p:nvSpPr>
          <p:cNvPr id="14" name="Shape 12"/>
          <p:cNvSpPr/>
          <p:nvPr/>
        </p:nvSpPr>
        <p:spPr>
          <a:xfrm>
            <a:off x="6089904" y="1188720"/>
            <a:ext cx="2651760" cy="2651760"/>
          </a:xfrm>
          <a:prstGeom prst="roundRect">
            <a:avLst>
              <a:gd name="adj" fmla="val 2759"/>
            </a:avLst>
          </a:prstGeom>
          <a:solidFill>
            <a:srgbClr val="131A33"/>
          </a:solidFill>
          <a:ln w="12700">
            <a:solidFill>
              <a:srgbClr val="818CF8"/>
            </a:solidFill>
            <a:prstDash val="solid"/>
          </a:ln>
        </p:spPr>
        <p:txBody>
          <a:bodyPr/>
          <a:lstStyle/>
          <a:p>
            <a:endParaRPr lang="en-US"/>
          </a:p>
        </p:txBody>
      </p:sp>
      <p:sp>
        <p:nvSpPr>
          <p:cNvPr id="15" name="Shape 13"/>
          <p:cNvSpPr/>
          <p:nvPr/>
        </p:nvSpPr>
        <p:spPr>
          <a:xfrm>
            <a:off x="6227064" y="1325880"/>
            <a:ext cx="365760" cy="365760"/>
          </a:xfrm>
          <a:prstGeom prst="ellipse">
            <a:avLst/>
          </a:prstGeom>
          <a:solidFill>
            <a:srgbClr val="818CF8"/>
          </a:solidFill>
          <a:ln w="12700">
            <a:solidFill>
              <a:srgbClr val="818CF8"/>
            </a:solidFill>
            <a:prstDash val="solid"/>
          </a:ln>
        </p:spPr>
        <p:txBody>
          <a:bodyPr/>
          <a:lstStyle/>
          <a:p>
            <a:endParaRPr lang="en-US"/>
          </a:p>
        </p:txBody>
      </p:sp>
      <p:sp>
        <p:nvSpPr>
          <p:cNvPr id="16" name="Text 14"/>
          <p:cNvSpPr txBox="1"/>
          <p:nvPr/>
        </p:nvSpPr>
        <p:spPr>
          <a:xfrm>
            <a:off x="6227064" y="1325880"/>
            <a:ext cx="365760" cy="365760"/>
          </a:xfrm>
          <a:prstGeom prst="rect">
            <a:avLst/>
          </a:prstGeom>
          <a:noFill/>
          <a:ln/>
        </p:spPr>
        <p:txBody>
          <a:bodyPr wrap="square" lIns="0" tIns="0" rIns="0" bIns="0" rtlCol="0" anchor="ctr"/>
          <a:lstStyle/>
          <a:p>
            <a:pPr marL="0" indent="0" algn="ctr">
              <a:buNone/>
            </a:pPr>
            <a:r>
              <a:rPr lang="en-US" sz="1400" b="1" dirty="0">
                <a:solidFill>
                  <a:srgbClr val="0B1020"/>
                </a:solidFill>
              </a:rPr>
              <a:t>3</a:t>
            </a:r>
            <a:endParaRPr lang="en-US" sz="1400" dirty="0"/>
          </a:p>
        </p:txBody>
      </p:sp>
      <p:sp>
        <p:nvSpPr>
          <p:cNvPr id="17" name="Text 15"/>
          <p:cNvSpPr txBox="1"/>
          <p:nvPr/>
        </p:nvSpPr>
        <p:spPr>
          <a:xfrm>
            <a:off x="6227064" y="1828800"/>
            <a:ext cx="2377440" cy="320040"/>
          </a:xfrm>
          <a:prstGeom prst="rect">
            <a:avLst/>
          </a:prstGeom>
          <a:noFill/>
          <a:ln/>
        </p:spPr>
        <p:txBody>
          <a:bodyPr wrap="square" lIns="0" tIns="0" rIns="0" bIns="0" rtlCol="0" anchor="t"/>
          <a:lstStyle/>
          <a:p>
            <a:pPr marL="0" indent="0">
              <a:buNone/>
            </a:pPr>
            <a:r>
              <a:rPr lang="en-US" sz="1600" b="1" dirty="0">
                <a:solidFill>
                  <a:srgbClr val="F1F5F9"/>
                </a:solidFill>
              </a:rPr>
              <a:t>Phase 3: smarter, faster</a:t>
            </a:r>
            <a:endParaRPr lang="en-US" sz="1600" dirty="0"/>
          </a:p>
        </p:txBody>
      </p:sp>
      <p:sp>
        <p:nvSpPr>
          <p:cNvPr id="18" name="Text 16"/>
          <p:cNvSpPr txBox="1"/>
          <p:nvPr/>
        </p:nvSpPr>
        <p:spPr>
          <a:xfrm>
            <a:off x="6227064" y="2240280"/>
            <a:ext cx="2377440" cy="1920240"/>
          </a:xfrm>
          <a:prstGeom prst="rect">
            <a:avLst/>
          </a:prstGeom>
          <a:noFill/>
          <a:ln/>
        </p:spPr>
        <p:txBody>
          <a:bodyPr wrap="square" lIns="0" tIns="0" rIns="0" bIns="0" rtlCol="0" anchor="t"/>
          <a:lstStyle/>
          <a:p>
            <a:pPr marL="0" indent="0">
              <a:buNone/>
            </a:pPr>
            <a:r>
              <a:rPr lang="en-US" sz="1200" dirty="0">
                <a:solidFill>
                  <a:srgbClr val="94A3B8"/>
                </a:solidFill>
              </a:rPr>
              <a:t>Vertex AI personalised feed ranking · predictive prefetch of the next video's first seconds · multi-region DR if scale demands</a:t>
            </a:r>
            <a:endParaRPr lang="en-US" sz="1200" dirty="0"/>
          </a:p>
        </p:txBody>
      </p:sp>
      <p:sp>
        <p:nvSpPr>
          <p:cNvPr id="19" name="Text 17"/>
          <p:cNvSpPr txBox="1"/>
          <p:nvPr/>
        </p:nvSpPr>
        <p:spPr>
          <a:xfrm>
            <a:off x="457200" y="4023360"/>
            <a:ext cx="8229600" cy="274320"/>
          </a:xfrm>
          <a:prstGeom prst="rect">
            <a:avLst/>
          </a:prstGeom>
          <a:noFill/>
          <a:ln/>
        </p:spPr>
        <p:txBody>
          <a:bodyPr wrap="square" lIns="0" tIns="0" rIns="0" bIns="0" rtlCol="0" anchor="t"/>
          <a:lstStyle/>
          <a:p>
            <a:pPr marL="0" indent="0">
              <a:buNone/>
            </a:pPr>
            <a:r>
              <a:rPr lang="en-US" sz="1100" dirty="0">
                <a:solidFill>
                  <a:srgbClr val="22D3EE"/>
                </a:solidFill>
              </a:rPr>
              <a:t>Vertex AI ranking and predictive prefetching are the two improvements named in our proposal.</a:t>
            </a:r>
            <a:endParaRPr lang="en-US" sz="11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6217920" y="-1280160"/>
            <a:ext cx="4754880" cy="4754880"/>
          </a:xfrm>
          <a:prstGeom prst="ellipse">
            <a:avLst/>
          </a:prstGeom>
          <a:solidFill>
            <a:srgbClr val="818CF8">
              <a:alpha val="12000"/>
            </a:srgbClr>
          </a:solidFill>
          <a:ln w="12700">
            <a:solidFill>
              <a:srgbClr val="818CF8">
                <a:alpha val="0"/>
              </a:srgbClr>
            </a:solidFill>
            <a:prstDash val="solid"/>
          </a:ln>
        </p:spPr>
        <p:txBody>
          <a:bodyPr/>
          <a:lstStyle/>
          <a:p>
            <a:endParaRPr lang="en-US"/>
          </a:p>
        </p:txBody>
      </p:sp>
      <p:sp>
        <p:nvSpPr>
          <p:cNvPr id="3" name="Text 1"/>
          <p:cNvSpPr txBox="1"/>
          <p:nvPr/>
        </p:nvSpPr>
        <p:spPr>
          <a:xfrm>
            <a:off x="548640" y="640080"/>
            <a:ext cx="7680960" cy="1280160"/>
          </a:xfrm>
          <a:prstGeom prst="rect">
            <a:avLst/>
          </a:prstGeom>
          <a:noFill/>
          <a:ln/>
        </p:spPr>
        <p:txBody>
          <a:bodyPr wrap="square" lIns="0" tIns="0" rIns="0" bIns="0" rtlCol="0" anchor="ctr"/>
          <a:lstStyle/>
          <a:p>
            <a:pPr marL="0" indent="0">
              <a:buNone/>
            </a:pPr>
            <a:r>
              <a:rPr lang="en-US" sz="3000" b="1" dirty="0">
                <a:solidFill>
                  <a:srgbClr val="F1F5F9"/>
                </a:solidFill>
              </a:rPr>
              <a:t>BackTrack turns viral traffic from a threat into a workload the system is designed to absorb.</a:t>
            </a:r>
            <a:endParaRPr lang="en-US" sz="3000" dirty="0"/>
          </a:p>
        </p:txBody>
      </p:sp>
      <p:sp>
        <p:nvSpPr>
          <p:cNvPr id="4" name="Shape 2"/>
          <p:cNvSpPr/>
          <p:nvPr/>
        </p:nvSpPr>
        <p:spPr>
          <a:xfrm>
            <a:off x="548640" y="2194560"/>
            <a:ext cx="1536192" cy="731520"/>
          </a:xfrm>
          <a:prstGeom prst="roundRect">
            <a:avLst>
              <a:gd name="adj" fmla="val 10000"/>
            </a:avLst>
          </a:prstGeom>
          <a:solidFill>
            <a:srgbClr val="131A33"/>
          </a:solidFill>
          <a:ln w="12700">
            <a:solidFill>
              <a:srgbClr val="22D3EE"/>
            </a:solidFill>
            <a:prstDash val="solid"/>
          </a:ln>
        </p:spPr>
        <p:txBody>
          <a:bodyPr/>
          <a:lstStyle/>
          <a:p>
            <a:endParaRPr lang="en-US"/>
          </a:p>
        </p:txBody>
      </p:sp>
      <p:sp>
        <p:nvSpPr>
          <p:cNvPr id="5" name="Text 3"/>
          <p:cNvSpPr txBox="1"/>
          <p:nvPr/>
        </p:nvSpPr>
        <p:spPr>
          <a:xfrm>
            <a:off x="621792" y="2194560"/>
            <a:ext cx="1389888" cy="731520"/>
          </a:xfrm>
          <a:prstGeom prst="rect">
            <a:avLst/>
          </a:prstGeom>
          <a:noFill/>
          <a:ln/>
        </p:spPr>
        <p:txBody>
          <a:bodyPr wrap="square" lIns="0" tIns="0" rIns="0" bIns="0" rtlCol="0" anchor="ctr"/>
          <a:lstStyle/>
          <a:p>
            <a:pPr marL="0" indent="0" algn="ctr">
              <a:buNone/>
            </a:pPr>
            <a:r>
              <a:rPr lang="en-US" sz="1200" b="1" dirty="0">
                <a:solidFill>
                  <a:srgbClr val="22D3EE"/>
                </a:solidFill>
              </a:rPr>
              <a:t>Viral scale</a:t>
            </a:r>
            <a:endParaRPr lang="en-US" sz="1200" dirty="0"/>
          </a:p>
        </p:txBody>
      </p:sp>
      <p:sp>
        <p:nvSpPr>
          <p:cNvPr id="6" name="Shape 4"/>
          <p:cNvSpPr/>
          <p:nvPr/>
        </p:nvSpPr>
        <p:spPr>
          <a:xfrm>
            <a:off x="2176272" y="2194560"/>
            <a:ext cx="1536192" cy="731520"/>
          </a:xfrm>
          <a:prstGeom prst="roundRect">
            <a:avLst>
              <a:gd name="adj" fmla="val 10000"/>
            </a:avLst>
          </a:prstGeom>
          <a:solidFill>
            <a:srgbClr val="131A33"/>
          </a:solidFill>
          <a:ln w="12700">
            <a:solidFill>
              <a:srgbClr val="818CF8"/>
            </a:solidFill>
            <a:prstDash val="solid"/>
          </a:ln>
        </p:spPr>
        <p:txBody>
          <a:bodyPr/>
          <a:lstStyle/>
          <a:p>
            <a:endParaRPr lang="en-US"/>
          </a:p>
        </p:txBody>
      </p:sp>
      <p:sp>
        <p:nvSpPr>
          <p:cNvPr id="7" name="Text 5"/>
          <p:cNvSpPr txBox="1"/>
          <p:nvPr/>
        </p:nvSpPr>
        <p:spPr>
          <a:xfrm>
            <a:off x="2249424" y="2194560"/>
            <a:ext cx="1389888" cy="731520"/>
          </a:xfrm>
          <a:prstGeom prst="rect">
            <a:avLst/>
          </a:prstGeom>
          <a:noFill/>
          <a:ln/>
        </p:spPr>
        <p:txBody>
          <a:bodyPr wrap="square" lIns="0" tIns="0" rIns="0" bIns="0" rtlCol="0" anchor="ctr"/>
          <a:lstStyle/>
          <a:p>
            <a:pPr marL="0" indent="0" algn="ctr">
              <a:buNone/>
            </a:pPr>
            <a:r>
              <a:rPr lang="en-US" sz="1200" b="1" dirty="0">
                <a:solidFill>
                  <a:srgbClr val="818CF8"/>
                </a:solidFill>
              </a:rPr>
              <a:t>Decoupled media</a:t>
            </a:r>
            <a:endParaRPr lang="en-US" sz="1200" dirty="0"/>
          </a:p>
        </p:txBody>
      </p:sp>
      <p:sp>
        <p:nvSpPr>
          <p:cNvPr id="8" name="Shape 6"/>
          <p:cNvSpPr/>
          <p:nvPr/>
        </p:nvSpPr>
        <p:spPr>
          <a:xfrm>
            <a:off x="3803904" y="2194560"/>
            <a:ext cx="1536192" cy="731520"/>
          </a:xfrm>
          <a:prstGeom prst="roundRect">
            <a:avLst>
              <a:gd name="adj" fmla="val 10000"/>
            </a:avLst>
          </a:prstGeom>
          <a:solidFill>
            <a:srgbClr val="131A33"/>
          </a:solidFill>
          <a:ln w="12700">
            <a:solidFill>
              <a:srgbClr val="F472B6"/>
            </a:solidFill>
            <a:prstDash val="solid"/>
          </a:ln>
        </p:spPr>
        <p:txBody>
          <a:bodyPr/>
          <a:lstStyle/>
          <a:p>
            <a:endParaRPr lang="en-US"/>
          </a:p>
        </p:txBody>
      </p:sp>
      <p:sp>
        <p:nvSpPr>
          <p:cNvPr id="9" name="Text 7"/>
          <p:cNvSpPr txBox="1"/>
          <p:nvPr/>
        </p:nvSpPr>
        <p:spPr>
          <a:xfrm>
            <a:off x="3877056" y="2194560"/>
            <a:ext cx="1389888" cy="731520"/>
          </a:xfrm>
          <a:prstGeom prst="rect">
            <a:avLst/>
          </a:prstGeom>
          <a:noFill/>
          <a:ln/>
        </p:spPr>
        <p:txBody>
          <a:bodyPr wrap="square" lIns="0" tIns="0" rIns="0" bIns="0" rtlCol="0" anchor="ctr"/>
          <a:lstStyle/>
          <a:p>
            <a:pPr marL="0" indent="0" algn="ctr">
              <a:buNone/>
            </a:pPr>
            <a:r>
              <a:rPr lang="en-US" sz="1200" b="1" dirty="0">
                <a:solidFill>
                  <a:srgbClr val="F472B6"/>
                </a:solidFill>
              </a:rPr>
              <a:t>Low-latency delivery</a:t>
            </a:r>
            <a:endParaRPr lang="en-US" sz="1200" dirty="0"/>
          </a:p>
        </p:txBody>
      </p:sp>
      <p:sp>
        <p:nvSpPr>
          <p:cNvPr id="10" name="Shape 8"/>
          <p:cNvSpPr/>
          <p:nvPr/>
        </p:nvSpPr>
        <p:spPr>
          <a:xfrm>
            <a:off x="5431536" y="2194560"/>
            <a:ext cx="1536192" cy="731520"/>
          </a:xfrm>
          <a:prstGeom prst="roundRect">
            <a:avLst>
              <a:gd name="adj" fmla="val 10000"/>
            </a:avLst>
          </a:prstGeom>
          <a:solidFill>
            <a:srgbClr val="131A33"/>
          </a:solidFill>
          <a:ln w="12700">
            <a:solidFill>
              <a:srgbClr val="34D399"/>
            </a:solidFill>
            <a:prstDash val="solid"/>
          </a:ln>
        </p:spPr>
        <p:txBody>
          <a:bodyPr/>
          <a:lstStyle/>
          <a:p>
            <a:endParaRPr lang="en-US"/>
          </a:p>
        </p:txBody>
      </p:sp>
      <p:sp>
        <p:nvSpPr>
          <p:cNvPr id="11" name="Text 9"/>
          <p:cNvSpPr txBox="1"/>
          <p:nvPr/>
        </p:nvSpPr>
        <p:spPr>
          <a:xfrm>
            <a:off x="5504688" y="2194560"/>
            <a:ext cx="1389888" cy="731520"/>
          </a:xfrm>
          <a:prstGeom prst="rect">
            <a:avLst/>
          </a:prstGeom>
          <a:noFill/>
          <a:ln/>
        </p:spPr>
        <p:txBody>
          <a:bodyPr wrap="square" lIns="0" tIns="0" rIns="0" bIns="0" rtlCol="0" anchor="ctr"/>
          <a:lstStyle/>
          <a:p>
            <a:pPr marL="0" indent="0" algn="ctr">
              <a:buNone/>
            </a:pPr>
            <a:r>
              <a:rPr lang="en-US" sz="1200" b="1" dirty="0">
                <a:solidFill>
                  <a:srgbClr val="34D399"/>
                </a:solidFill>
              </a:rPr>
              <a:t>Security &amp; fault tolerance</a:t>
            </a:r>
            <a:endParaRPr lang="en-US" sz="1200" dirty="0"/>
          </a:p>
        </p:txBody>
      </p:sp>
      <p:sp>
        <p:nvSpPr>
          <p:cNvPr id="12" name="Shape 10"/>
          <p:cNvSpPr/>
          <p:nvPr/>
        </p:nvSpPr>
        <p:spPr>
          <a:xfrm>
            <a:off x="7059168" y="2194560"/>
            <a:ext cx="1536192" cy="731520"/>
          </a:xfrm>
          <a:prstGeom prst="roundRect">
            <a:avLst>
              <a:gd name="adj" fmla="val 10000"/>
            </a:avLst>
          </a:prstGeom>
          <a:solidFill>
            <a:srgbClr val="131A33"/>
          </a:solidFill>
          <a:ln w="12700">
            <a:solidFill>
              <a:srgbClr val="FBBF24"/>
            </a:solidFill>
            <a:prstDash val="solid"/>
          </a:ln>
        </p:spPr>
        <p:txBody>
          <a:bodyPr/>
          <a:lstStyle/>
          <a:p>
            <a:endParaRPr lang="en-US"/>
          </a:p>
        </p:txBody>
      </p:sp>
      <p:sp>
        <p:nvSpPr>
          <p:cNvPr id="13" name="Text 11"/>
          <p:cNvSpPr txBox="1"/>
          <p:nvPr/>
        </p:nvSpPr>
        <p:spPr>
          <a:xfrm>
            <a:off x="7132320" y="2194560"/>
            <a:ext cx="1389888" cy="731520"/>
          </a:xfrm>
          <a:prstGeom prst="rect">
            <a:avLst/>
          </a:prstGeom>
          <a:noFill/>
          <a:ln/>
        </p:spPr>
        <p:txBody>
          <a:bodyPr wrap="square" lIns="0" tIns="0" rIns="0" bIns="0" rtlCol="0" anchor="ctr"/>
          <a:lstStyle/>
          <a:p>
            <a:pPr marL="0" indent="0" algn="ctr">
              <a:buNone/>
            </a:pPr>
            <a:r>
              <a:rPr lang="en-US" sz="1200" b="1" dirty="0">
                <a:solidFill>
                  <a:srgbClr val="FBBF24"/>
                </a:solidFill>
              </a:rPr>
              <a:t>Cost efficiency</a:t>
            </a:r>
            <a:endParaRPr lang="en-US" sz="1200" dirty="0"/>
          </a:p>
        </p:txBody>
      </p:sp>
      <p:sp>
        <p:nvSpPr>
          <p:cNvPr id="14" name="Text 12"/>
          <p:cNvSpPr txBox="1"/>
          <p:nvPr/>
        </p:nvSpPr>
        <p:spPr>
          <a:xfrm>
            <a:off x="548640" y="3154680"/>
            <a:ext cx="7315200" cy="320040"/>
          </a:xfrm>
          <a:prstGeom prst="rect">
            <a:avLst/>
          </a:prstGeom>
          <a:noFill/>
          <a:ln/>
        </p:spPr>
        <p:txBody>
          <a:bodyPr wrap="square" lIns="0" tIns="0" rIns="0" bIns="0" rtlCol="0" anchor="t"/>
          <a:lstStyle/>
          <a:p>
            <a:pPr marL="0" indent="0">
              <a:buNone/>
            </a:pPr>
            <a:r>
              <a:rPr lang="en-US" sz="1600" i="1" dirty="0">
                <a:solidFill>
                  <a:srgbClr val="94A3B8"/>
                </a:solidFill>
              </a:rPr>
              <a:t>Cloud-native by design. Honest about the MVP.</a:t>
            </a:r>
            <a:endParaRPr lang="en-US" sz="1600" dirty="0"/>
          </a:p>
        </p:txBody>
      </p:sp>
      <p:sp>
        <p:nvSpPr>
          <p:cNvPr id="15" name="Text 13"/>
          <p:cNvSpPr txBox="1"/>
          <p:nvPr/>
        </p:nvSpPr>
        <p:spPr>
          <a:xfrm>
            <a:off x="548640" y="3749040"/>
            <a:ext cx="4572000" cy="457200"/>
          </a:xfrm>
          <a:prstGeom prst="rect">
            <a:avLst/>
          </a:prstGeom>
          <a:noFill/>
          <a:ln/>
        </p:spPr>
        <p:txBody>
          <a:bodyPr wrap="square" lIns="0" tIns="0" rIns="0" bIns="0" rtlCol="0" anchor="t"/>
          <a:lstStyle/>
          <a:p>
            <a:pPr marL="0" indent="0">
              <a:buNone/>
            </a:pPr>
            <a:r>
              <a:rPr lang="en-US" sz="2600" b="1" dirty="0">
                <a:solidFill>
                  <a:srgbClr val="22D3EE"/>
                </a:solidFill>
              </a:rPr>
              <a:t>Thank you · Q&amp;A</a:t>
            </a:r>
            <a:endParaRPr lang="en-US" sz="2600" dirty="0"/>
          </a:p>
        </p:txBody>
      </p:sp>
      <p:sp>
        <p:nvSpPr>
          <p:cNvPr id="16" name="Text 14"/>
          <p:cNvSpPr txBox="1"/>
          <p:nvPr/>
        </p:nvSpPr>
        <p:spPr>
          <a:xfrm>
            <a:off x="548640" y="4297680"/>
            <a:ext cx="7315200" cy="274320"/>
          </a:xfrm>
          <a:prstGeom prst="rect">
            <a:avLst/>
          </a:prstGeom>
          <a:noFill/>
          <a:ln/>
        </p:spPr>
        <p:txBody>
          <a:bodyPr wrap="square" lIns="0" tIns="0" rIns="0" bIns="0" rtlCol="0" anchor="t"/>
          <a:lstStyle/>
          <a:p>
            <a:pPr marL="0" indent="0">
              <a:buNone/>
            </a:pPr>
            <a:r>
              <a:rPr lang="en-US" sz="1300" dirty="0">
                <a:solidFill>
                  <a:srgbClr val="F1F5F9"/>
                </a:solidFill>
              </a:rPr>
              <a:t>Inusha Thathsara Gunasekara · Madhura Ravishan Abeywickrama</a:t>
            </a:r>
            <a:endParaRPr lang="en-US" sz="1300" dirty="0"/>
          </a:p>
        </p:txBody>
      </p:sp>
      <p:sp>
        <p:nvSpPr>
          <p:cNvPr id="17" name="Text 15"/>
          <p:cNvSpPr txBox="1"/>
          <p:nvPr/>
        </p:nvSpPr>
        <p:spPr>
          <a:xfrm>
            <a:off x="548640" y="4572000"/>
            <a:ext cx="7315200" cy="274320"/>
          </a:xfrm>
          <a:prstGeom prst="rect">
            <a:avLst/>
          </a:prstGeom>
          <a:noFill/>
          <a:ln/>
        </p:spPr>
        <p:txBody>
          <a:bodyPr wrap="square" lIns="0" tIns="0" rIns="0" bIns="0" rtlCol="0" anchor="t"/>
          <a:lstStyle/>
          <a:p>
            <a:pPr marL="0" indent="0">
              <a:buNone/>
            </a:pPr>
            <a:r>
              <a:rPr lang="en-US" sz="1200" dirty="0">
                <a:solidFill>
                  <a:srgbClr val="94A3B8"/>
                </a:solidFill>
              </a:rPr>
              <a:t>Team BackTrack · University of Moratuwa</a:t>
            </a:r>
            <a:endParaRPr lang="en-US" sz="1200" dirty="0"/>
          </a:p>
        </p:txBody>
      </p:sp>
      <p:sp>
        <p:nvSpPr>
          <p:cNvPr id="901" name="Live MVP Button">
            <a:hlinkClick r:id="rIdLink1" tooltip="Open live BackTrack MVP"/>
          </p:cNvPr>
          <p:cNvSpPr/>
          <p:nvPr/>
        </p:nvSpPr>
        <p:spPr>
          <a:xfrm>
            <a:off x="5394960" y="3749040"/>
            <a:ext cx="2743200" cy="457200"/>
          </a:xfrm>
          <a:prstGeom prst="roundRect">
            <a:avLst>
              <a:gd name="adj" fmla="val 50000"/>
            </a:avLst>
          </a:prstGeom>
          <a:solidFill>
            <a:srgbClr val="22D3EE"/>
          </a:solidFill>
          <a:ln w="19050">
            <a:solidFill>
              <a:srgbClr val="22D3EE"/>
            </a:solidFill>
          </a:ln>
        </p:spPr>
        <p:txBody>
          <a:bodyPr wrap="square" lIns="0" tIns="0" rIns="0" bIns="0" rtlCol="0" anchor="ctr"/>
          <a:lstStyle/>
          <a:p>
            <a:pPr algn="ctr"/>
            <a:r>
              <a:rPr lang="en-US" sz="1600" b="1" dirty="0">
                <a:solidFill>
                  <a:srgbClr val="0B1020"/>
                </a:solidFill>
              </a:rPr>
              <a:t>Try the live MVP ↗</a:t>
            </a:r>
          </a:p>
        </p:txBody>
      </p:sp>
      <p:sp>
        <p:nvSpPr>
          <p:cNvPr id="902" name="Live MVP URL"/>
          <p:cNvSpPr txBox="1"/>
          <p:nvPr/>
        </p:nvSpPr>
        <p:spPr>
          <a:xfrm>
            <a:off x="5394960" y="4297680"/>
            <a:ext cx="3474720" cy="228600"/>
          </a:xfrm>
          <a:prstGeom prst="rect">
            <a:avLst/>
          </a:prstGeom>
          <a:noFill/>
        </p:spPr>
        <p:txBody>
          <a:bodyPr wrap="square" lIns="0" tIns="0" rIns="0" bIns="0" rtlCol="0" anchor="t"/>
          <a:lstStyle/>
          <a:p>
            <a:pPr algn="l"/>
            <a:r>
              <a:rPr lang="en-US" sz="1000" u="sng" dirty="0">
                <a:solidFill>
                  <a:srgbClr val="22D3EE"/>
                </a:solidFill>
                <a:hlinkClick r:id="rIdLink1"/>
              </a:rPr>
              <a:t>backtrack-web-894866134623.us-central1.run.app</a:t>
            </a:r>
          </a:p>
        </p:txBody>
      </p:sp>
    </p:spTree>
  </p:cSld>
  <p:clrMapOvr>
    <a:masterClrMapping/>
  </p:clrMapOvr>
</p:sld>
</file>

<file path=ppt/theme/theme1.xml><?xml version="1.0" encoding="utf-8"?>
<a:theme xmlns:a="http://schemas.openxmlformats.org/drawingml/2006/main" name="BackTrack Cloud">
  <a:themeElements>
    <a:clrScheme name="BackTrack Cloud">
      <a:dk1>
        <a:srgbClr val="0B1020"/>
      </a:dk1>
      <a:lt1>
        <a:srgbClr val="FFFFFF"/>
      </a:lt1>
      <a:dk2>
        <a:srgbClr val="131A33"/>
      </a:dk2>
      <a:lt2>
        <a:srgbClr val="E5E7EB"/>
      </a:lt2>
      <a:accent1>
        <a:srgbClr val="22D3EE"/>
      </a:accent1>
      <a:accent2>
        <a:srgbClr val="818CF8"/>
      </a:accent2>
      <a:accent3>
        <a:srgbClr val="F472B6"/>
      </a:accent3>
      <a:accent4>
        <a:srgbClr val="34D399"/>
      </a:accent4>
      <a:accent5>
        <a:srgbClr val="FBBF24"/>
      </a:accent5>
      <a:accent6>
        <a:srgbClr val="94A3B8"/>
      </a:accent6>
      <a:hlink>
        <a:srgbClr val="22D3EE"/>
      </a:hlink>
      <a:folHlink>
        <a:srgbClr val="818CF8"/>
      </a:folHlink>
    </a:clrScheme>
    <a:fontScheme name="BackTrack Clou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4029</Words>
  <Application>Microsoft Office PowerPoint</Application>
  <PresentationFormat>On-screen Show (16:9)</PresentationFormat>
  <Paragraphs>360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BackTrack Cloud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BackTrack — Beauty of Cloud 2.0 Final Round</dc:title>
  <dc:subject>PptxGenJS Presentation</dc:subject>
  <dc:creator>Team BackTrack</dc:creator>
  <cp:lastModifiedBy>ABEYWICKRAMA A.M.R.</cp:lastModifiedBy>
  <cp:revision>3</cp:revision>
  <dcterms:created xsi:type="dcterms:W3CDTF">2026-10-09T03:14:02Z</dcterms:created>
  <dcterms:modified xsi:type="dcterms:W3CDTF">2026-10-09T03:27:54Z</dcterms:modified>
</cp:coreProperties>
</file>